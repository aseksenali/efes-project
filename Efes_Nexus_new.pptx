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7" r:id="rId15"/>
    <p:sldId id="259" r:id="rId6"/>
    <p:sldId id="266" r:id="rId14"/>
    <p:sldId id="257" r:id="rId4"/>
    <p:sldId id="261" r:id="rId5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microsoft.com/office/2007/relationships/media" Target="../media/media1.mp4"/><Relationship Id="rId6" Type="http://schemas.openxmlformats.org/officeDocument/2006/relationships/video" Target="../media/media1.mp4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20039"/>
            <a:ext cx="548640" cy="4424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80160" y="603504"/>
            <a:ext cx="0" cy="475488"/>
          </a:xfrm>
          <a:prstGeom prst="line">
            <a:avLst/>
          </a:prstGeom>
          <a:noFill/>
          <a:ln w="12700">
            <a:solidFill>
              <a:srgbClr val="33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426464" y="54864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продаж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19913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2075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БИЗНЕС-КЕЙС · АВТОМАТИЗАЦИЯ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66928" y="3456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управления промо-активностями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платформа, которая заменяет ручную работу в Excel и Outlook сквозными цифровыми процессами, авто-уведомлениями и AI-проверкой запросов партнёров.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5285232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5285232"/>
            <a:ext cx="1400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Промо-активности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1565" y="5285232"/>
            <a:ext cx="1814170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6157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54173" y="5285232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бизнес-процесса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Users/asetseksenali/Downloads/efes/assets/efes-badge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бизнес-кейс для руководителя продаж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КАК СЕЙЧАС — БЕЗ СИСТЕМЫ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промо-активности — сегодня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BPMN-диаграммы и ответственные роли — как процесс выглядит сегодня.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14323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14323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60627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60627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34947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TRADE-МАРКЕТИНГ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7203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Канал, партнёр, продукты,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квот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098216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409112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409112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555416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555416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829736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591992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кода PR-#####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проверка на дубли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993005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5303901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5303901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5450205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5450205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724525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5486781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Excel-файла промо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6887794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7198690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7198690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7344994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7344994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7619314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7381570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 в Panorama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8782583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9093479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9093479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9239783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9239783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9514103" y="2121408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9276359" y="2528316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Авто-уведомление партнёров письмом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882341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квота, период или продукт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77130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Excel-файла с изменениями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71920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промо-активности в Panorama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66709" y="3511296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918204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и уведомление партнёров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29736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«Запрос»: проданные литры по промо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24525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∑(литры × цена периода)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19314" y="4901184"/>
            <a:ext cx="10901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SYSTEMS COMMUNICATION SPECIALIST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308092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и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отчета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Sq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</a:t>
            </a:r>
            <a:endParaRPr lang="en-US" sz="1050" dirty="0"/>
          </a:p>
        </p:txBody>
      </p:sp>
      <p:sp>
        <p:nvSpPr>
          <p:cNvPr id="4" name="Title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 системы – N+1, N+KZT</a:t>
            </a:r>
            <a:endParaRPr lang="en-US" sz="2900" dirty="0"/>
          </a:p>
        </p:txBody>
      </p:sp>
      <p:sp>
        <p:nvSpPr>
          <p:cNvPr id="5" name="Card Before"/>
          <p:cNvSpPr/>
          <p:nvPr/>
        </p:nvSpPr>
        <p:spPr>
          <a:xfrm>
            <a:off x="566928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Card After"/>
          <p:cNvSpPr/>
          <p:nvPr/>
        </p:nvSpPr>
        <p:spPr>
          <a:xfrm>
            <a:off x="6376111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rrow Circle"/>
          <p:cNvSpPr/>
          <p:nvPr/>
        </p:nvSpPr>
        <p:spPr>
          <a:xfrm>
            <a:off x="5839816" y="3474720"/>
            <a:ext cx="512064" cy="512064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rrow"/>
          <p:cNvSpPr/>
          <p:nvPr/>
        </p:nvSpPr>
        <p:spPr>
          <a:xfrm>
            <a:off x="5839816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Lab BG"/>
          <p:cNvSpPr/>
          <p:nvPr/>
        </p:nvSpPr>
        <p:spPr>
          <a:xfrm>
            <a:off x="877824" y="1865376"/>
            <a:ext cx="1083564" cy="329184"/>
          </a:xfrm>
          <a:prstGeom prst="roundRect">
            <a:avLst>
              <a:gd name="adj" fmla="val 46000"/>
            </a:avLst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ab"/>
          <p:cNvSpPr/>
          <p:nvPr/>
        </p:nvSpPr>
        <p:spPr>
          <a:xfrm>
            <a:off x="877824" y="1865376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было:</a:t>
            </a:r>
            <a:endParaRPr lang="en-US" sz="1250" dirty="0"/>
          </a:p>
        </p:txBody>
      </p:sp>
      <p:sp>
        <p:nvSpPr>
          <p:cNvPr id="11" name="Item"/>
          <p:cNvSpPr/>
          <p:nvPr/>
        </p:nvSpPr>
        <p:spPr>
          <a:xfrm>
            <a:off x="877824" y="246888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Разрозненные Excel-файлы и коммуникация через почту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(Отсутствие единого источника данных и ведение коммуникации в письмах → Специалист трейд маркетинга – SSC специалист – CRM специалист - SSC специалист – Партнеры)</a:t>
            </a:r>
          </a:p>
        </p:txBody>
      </p:sp>
      <p:sp>
        <p:nvSpPr>
          <p:cNvPr id="12" name="Div"/>
          <p:cNvSpPr/>
          <p:nvPr/>
        </p:nvSpPr>
        <p:spPr>
          <a:xfrm>
            <a:off x="877824" y="3276524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tem"/>
          <p:cNvSpPr/>
          <p:nvPr/>
        </p:nvSpPr>
        <p:spPr>
          <a:xfrm>
            <a:off x="877824" y="3438601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Отчеты Promo Status создаются вручную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(Существенные временные затраты сотрудника)</a:t>
            </a:r>
          </a:p>
        </p:txBody>
      </p:sp>
      <p:sp>
        <p:nvSpPr>
          <p:cNvPr id="14" name="Div"/>
          <p:cNvSpPr/>
          <p:nvPr/>
        </p:nvSpPr>
        <p:spPr>
          <a:xfrm>
            <a:off x="877824" y="396826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tem"/>
          <p:cNvSpPr/>
          <p:nvPr/>
        </p:nvSpPr>
        <p:spPr>
          <a:xfrm>
            <a:off x="877824" y="4130345"/>
            <a:ext cx="462686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кодов, расчет компенсаций и верификация большого объема запросов в неавтоматизированном процессе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(Риск дублей, переплат и искажений в отчётах)</a:t>
            </a:r>
          </a:p>
        </p:txBody>
      </p:sp>
      <p:sp>
        <p:nvSpPr>
          <p:cNvPr id="16" name="Div"/>
          <p:cNvSpPr/>
          <p:nvPr/>
        </p:nvSpPr>
        <p:spPr>
          <a:xfrm>
            <a:off x="877824" y="483374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tem"/>
          <p:cNvSpPr/>
          <p:nvPr/>
        </p:nvSpPr>
        <p:spPr>
          <a:xfrm>
            <a:off x="877824" y="4995824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человеческого фактора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(300+ промо в месяц)</a:t>
            </a:r>
          </a:p>
        </p:txBody>
      </p:sp>
      <p:sp>
        <p:nvSpPr>
          <p:cNvPr id="18" name="Lab BG"/>
          <p:cNvSpPr/>
          <p:nvPr/>
        </p:nvSpPr>
        <p:spPr>
          <a:xfrm>
            <a:off x="6687007" y="1865376"/>
            <a:ext cx="1161288" cy="329184"/>
          </a:xfrm>
          <a:prstGeom prst="roundRect">
            <a:avLst>
              <a:gd name="adj" fmla="val 46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ab"/>
          <p:cNvSpPr/>
          <p:nvPr/>
        </p:nvSpPr>
        <p:spPr>
          <a:xfrm>
            <a:off x="6687007" y="1865376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будет:</a:t>
            </a:r>
            <a:endParaRPr lang="en-US" sz="1250" dirty="0"/>
          </a:p>
        </p:txBody>
      </p:sp>
      <p:sp>
        <p:nvSpPr>
          <p:cNvPr id="20" name="Item"/>
          <p:cNvSpPr/>
          <p:nvPr/>
        </p:nvSpPr>
        <p:spPr>
          <a:xfrm>
            <a:off x="6687007" y="2468880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система управления промо-процессами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(Единый реестр и вся коммуникация в одном пространстве → полная прозрачность, мгновенная синхронизация и отсутствие потерь информации)</a:t>
            </a:r>
          </a:p>
        </p:txBody>
      </p:sp>
      <p:sp>
        <p:nvSpPr>
          <p:cNvPr id="21" name="Div"/>
          <p:cNvSpPr/>
          <p:nvPr/>
        </p:nvSpPr>
        <p:spPr>
          <a:xfrm>
            <a:off x="6687007" y="3107131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tem"/>
          <p:cNvSpPr/>
          <p:nvPr/>
        </p:nvSpPr>
        <p:spPr>
          <a:xfrm>
            <a:off x="6687007" y="3238805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Автоматизированная отчётность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(Формирование и отправка отчетов за секунды → оперативная аналитика и быстрые решения)</a:t>
            </a:r>
          </a:p>
        </p:txBody>
      </p:sp>
      <p:sp>
        <p:nvSpPr>
          <p:cNvPr id="23" name="Div"/>
          <p:cNvSpPr/>
          <p:nvPr/>
        </p:nvSpPr>
        <p:spPr>
          <a:xfrm>
            <a:off x="6687007" y="3877056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tem"/>
          <p:cNvSpPr/>
          <p:nvPr/>
        </p:nvSpPr>
        <p:spPr>
          <a:xfrm>
            <a:off x="6687007" y="400873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Умные алгоритмы расчётов и кодирования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(Система сама присваивает код, проверяя при этом дубли, наличие продукта на складе дистрибьютора и осуществляет расчет компенсации, сверяя с запросами партнеров)</a:t>
            </a:r>
          </a:p>
        </p:txBody>
      </p:sp>
      <p:sp>
        <p:nvSpPr>
          <p:cNvPr id="25" name="Div"/>
          <p:cNvSpPr/>
          <p:nvPr/>
        </p:nvSpPr>
        <p:spPr>
          <a:xfrm>
            <a:off x="6687007" y="4785970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tem"/>
          <p:cNvSpPr/>
          <p:nvPr/>
        </p:nvSpPr>
        <p:spPr>
          <a:xfrm>
            <a:off x="6687007" y="4917643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Минимизация человеческого фактора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(Стандартизированный и прозрачный процесс → предсказуемый результат и снижение рисков)</a:t>
            </a:r>
          </a:p>
        </p:txBody>
      </p:sp>
      <p:sp>
        <p:nvSpPr>
          <p:cNvPr id="27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Badge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29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0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37" name="Rectangle 36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СИСТЕМА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Промо-дашборд</a:t>
            </a:r>
          </a:p>
        </p:txBody>
      </p:sp>
      <p:pic>
        <p:nvPicPr>
          <p:cNvPr id="40" name="Picture 39" descr="qu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554480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32688" y="1481328"/>
            <a:ext cx="10600639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13203A"/>
                </a:solidFill>
                <a:latin typeface="Calibri"/>
              </a:rPr>
              <a:t>«Единое окно для всего жизненного цикла промо-активности — от заявки партнёра до расчёта компенсации.»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05729" y="2157984"/>
            <a:ext cx="6780236" cy="4059935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video_small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815457" y="2267712"/>
            <a:ext cx="6560780" cy="34930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815457" y="5833872"/>
            <a:ext cx="656078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56616F"/>
                </a:solidFill>
                <a:latin typeface="Calibri"/>
              </a:rPr>
              <a:t>Живая запись работы платформы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57" name="Rectangle 56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РЕЗУЛЬТАТ В ЦИФРАХ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Главный эффект — возвращённое время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1426464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Объём промо вырос почти в 5 раз при той же команде. Платформа возвращает специалистам рабочее время, забирая рутину на себя.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2121408"/>
            <a:ext cx="6400800" cy="3785616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5216" y="2121408"/>
            <a:ext cx="6364224" cy="45720"/>
          </a:xfrm>
          <a:prstGeom prst="rect">
            <a:avLst/>
          </a:prstGeom>
          <a:solidFill>
            <a:srgbClr val="15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24128" y="2578608"/>
            <a:ext cx="658368" cy="658368"/>
          </a:xfrm>
          <a:prstGeom prst="roundRect">
            <a:avLst>
              <a:gd name="adj" fmla="val 27777"/>
            </a:avLst>
          </a:prstGeom>
          <a:solidFill>
            <a:srgbClr val="E7F5EC"/>
          </a:solidFill>
          <a:ln w="12700">
            <a:solidFill>
              <a:srgbClr val="BB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clock_dk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2734056"/>
            <a:ext cx="347472" cy="34747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24128" y="3383279"/>
            <a:ext cx="5486400" cy="10972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6600" b="1" i="0">
                <a:solidFill>
                  <a:srgbClr val="15924F"/>
                </a:solidFill>
                <a:latin typeface="Calibri"/>
              </a:rPr>
              <a:t>158 ч/мес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6" y="4517136"/>
            <a:ext cx="548640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0" i="0">
                <a:solidFill>
                  <a:srgbClr val="56616F"/>
                </a:solidFill>
                <a:latin typeface="Calibri"/>
              </a:rPr>
              <a:t>возвращённого рабочего времени · Год 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42416" y="5010912"/>
            <a:ext cx="5449824" cy="12801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42416" y="523036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6" y="5230368"/>
            <a:ext cx="210312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100" b="1" i="0">
                <a:solidFill>
                  <a:srgbClr val="15924F"/>
                </a:solidFill>
                <a:latin typeface="Calibri"/>
              </a:rPr>
              <a:t>28 % рутины — у системы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32320" y="2121408"/>
            <a:ext cx="4492447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132320" y="2139696"/>
            <a:ext cx="45720" cy="813816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88352" y="2221991"/>
            <a:ext cx="4035247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ПРОМО-АКТИВНОСТИ / ГОД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88352" y="2395727"/>
            <a:ext cx="237744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04C8D"/>
                </a:solidFill>
                <a:latin typeface="Calibri"/>
              </a:rPr>
              <a:t>×4,6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88352" y="2697479"/>
            <a:ext cx="4035247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6E7885"/>
                </a:solidFill>
                <a:latin typeface="Calibri"/>
              </a:rPr>
              <a:t>2 187 → 10 112  </a:t>
            </a:r>
            <a:r>
              <a:rPr sz="1100" b="1" i="0">
                <a:solidFill>
                  <a:srgbClr val="15924F"/>
                </a:solidFill>
                <a:latin typeface="Calibri"/>
              </a:rPr>
              <a:t>+362 %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132320" y="3099816"/>
            <a:ext cx="4492447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132320" y="3118104"/>
            <a:ext cx="45720" cy="813816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88352" y="3200400"/>
            <a:ext cx="4035247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ПАРТНЁРЫ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88352" y="3374136"/>
            <a:ext cx="237744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04C8D"/>
                </a:solidFill>
                <a:latin typeface="Calibri"/>
              </a:rPr>
              <a:t>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88352" y="3675888"/>
            <a:ext cx="4035247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6E7885"/>
                </a:solidFill>
                <a:latin typeface="Calibri"/>
              </a:rPr>
              <a:t>31 → 33 · за 6 мес  </a:t>
            </a:r>
            <a:r>
              <a:rPr sz="1100" b="1" i="0">
                <a:solidFill>
                  <a:srgbClr val="15924F"/>
                </a:solidFill>
                <a:latin typeface="Calibri"/>
              </a:rPr>
              <a:t>+6,5 %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132320" y="4078224"/>
            <a:ext cx="4492447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32320" y="4096512"/>
            <a:ext cx="45720" cy="813816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88352" y="4178808"/>
            <a:ext cx="4035247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ПРОДУКТЫ · 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88352" y="4352544"/>
            <a:ext cx="237744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04C8D"/>
                </a:solidFill>
                <a:latin typeface="Calibri"/>
              </a:rPr>
              <a:t>105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88352" y="4654296"/>
            <a:ext cx="4035247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6E7885"/>
                </a:solidFill>
                <a:latin typeface="Calibri"/>
              </a:rPr>
              <a:t>78 → 105 · за 6 мес  </a:t>
            </a:r>
            <a:r>
              <a:rPr sz="1100" b="1" i="0">
                <a:solidFill>
                  <a:srgbClr val="15924F"/>
                </a:solidFill>
                <a:latin typeface="Calibri"/>
              </a:rPr>
              <a:t>+35 %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132320" y="5056632"/>
            <a:ext cx="4492447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132320" y="5074920"/>
            <a:ext cx="45720" cy="813816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88352" y="5157216"/>
            <a:ext cx="4035247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850" b="1" i="0" spc="80">
                <a:solidFill>
                  <a:srgbClr val="56616F"/>
                </a:solidFill>
                <a:latin typeface="Calibri"/>
              </a:rPr>
              <a:t>СУММА ПРОМО / ГОД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88352" y="5330952"/>
            <a:ext cx="237744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004C8D"/>
                </a:solidFill>
                <a:latin typeface="Calibri"/>
              </a:rPr>
              <a:t>2,41 млрд 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88352" y="5632704"/>
            <a:ext cx="4035247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6E7885"/>
                </a:solidFill>
                <a:latin typeface="Calibri"/>
              </a:rPr>
              <a:t>1,00 → 2,41 · 2023–2025  </a:t>
            </a:r>
            <a:r>
              <a:rPr sz="1100" b="1" i="0">
                <a:solidFill>
                  <a:srgbClr val="15924F"/>
                </a:solidFill>
                <a:latin typeface="Calibri"/>
              </a:rPr>
              <a:t>+140 %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Badge" descr="x"/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27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28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29" name="Rectangle 2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5CA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9CC6E8"/>
                </a:solidFill>
                <a:latin typeface="Calibri"/>
              </a:rPr>
              <a:t>РАЗВИТИЕ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EEF2F7"/>
                </a:solidFill>
                <a:latin typeface="Calibri"/>
              </a:rPr>
              <a:t>Возможности дальнейшего развития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426464"/>
            <a:ext cx="1088136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9BF"/>
                </a:solidFill>
                <a:latin typeface="Calibri"/>
              </a:rPr>
              <a:t>Платформа уже в работе — следующие шаги расширяют её возможности: от AI-поиска по истории акций до проверки накладных 1С и новых типов расчётов.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44" y="2614452"/>
            <a:ext cx="275783" cy="27578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2960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AI Search &amp; Knowledge 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Поиск и ответы на вопросы по текущим и историческим промо-акциям.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Пример: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«Какие акции были на Ульбу в июле 2024, 2025, 2026?»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95395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51427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2C2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n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8712" y="2614452"/>
            <a:ext cx="275783" cy="27578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51427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1C Invoice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1427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Автоматическая проверка выгрузок и накладных из 1С.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96563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24579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Эффект: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−30 % времени трейд- и sales controlling-специалистов; проверка 1С каждой точки вручную — ∞ часов.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3863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79895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03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cal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7180" y="2614452"/>
            <a:ext cx="275783" cy="27578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79895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Масштабирование расчётов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9895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Перенос расчётов на другие типы компенсаций — например, расчёт Kega Boom.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25031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3047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База готова: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единая логика квот, цен и периодов уже в системе.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331" y="2212848"/>
            <a:ext cx="2572435" cy="3310128"/>
          </a:xfrm>
          <a:prstGeom prst="roundRect">
            <a:avLst>
              <a:gd name="adj" fmla="val 3199"/>
            </a:avLst>
          </a:prstGeom>
          <a:solidFill>
            <a:srgbClr val="16223B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308363" y="2487168"/>
            <a:ext cx="530352" cy="530352"/>
          </a:xfrm>
          <a:prstGeom prst="roundRect">
            <a:avLst>
              <a:gd name="adj" fmla="val 27000"/>
            </a:avLst>
          </a:prstGeom>
          <a:solidFill>
            <a:srgbClr val="14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calend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5647" y="2614452"/>
            <a:ext cx="275783" cy="27578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308363" y="3145536"/>
            <a:ext cx="206037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EEF2F7"/>
                </a:solidFill>
                <a:latin typeface="Calibri"/>
              </a:rPr>
              <a:t>Исторический календарь промо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08363" y="3840480"/>
            <a:ext cx="2060371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9AA9BF"/>
                </a:solidFill>
                <a:latin typeface="Calibri"/>
              </a:rPr>
              <a:t>Календарь всех текущих и исторических промо-акций.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53499" y="4608576"/>
            <a:ext cx="2170099" cy="804672"/>
          </a:xfrm>
          <a:prstGeom prst="roundRect">
            <a:avLst>
              <a:gd name="adj" fmla="val 7954"/>
            </a:avLst>
          </a:prstGeom>
          <a:solidFill>
            <a:srgbClr val="0E1726"/>
          </a:solidFill>
          <a:ln w="12700">
            <a:solidFill>
              <a:srgbClr val="283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81515" y="4700016"/>
            <a:ext cx="19140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1">
                <a:solidFill>
                  <a:srgbClr val="5CA3DB"/>
                </a:solidFill>
                <a:latin typeface="Calibri"/>
              </a:rPr>
              <a:t>Как работает: </a:t>
            </a:r>
            <a:r>
              <a:rPr sz="950" b="0" i="1">
                <a:solidFill>
                  <a:srgbClr val="9AA9BF"/>
                </a:solidFill>
                <a:latin typeface="Calibri"/>
              </a:rPr>
              <a:t>клик по дате показывает активности, действовавшие в этот период.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5687568"/>
            <a:ext cx="11057839" cy="530352"/>
          </a:xfrm>
          <a:prstGeom prst="roundRect">
            <a:avLst>
              <a:gd name="adj" fmla="val 15517"/>
            </a:avLst>
          </a:prstGeom>
          <a:solidFill>
            <a:srgbClr val="0C3F77"/>
          </a:solidFill>
          <a:ln w="12700">
            <a:solidFill>
              <a:srgbClr val="2E7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bol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" y="5833872"/>
            <a:ext cx="237744" cy="23774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261872" y="5687568"/>
            <a:ext cx="10051999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Новые механики промо-акций легко интегрируются в платформу — партнёры мгновенно получают уведомления о запуске.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ЧТО АВТОМАТИЗИРУЕТ СИСТЕМА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промо-активности — с Nexus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BPMN-диаграммы. </a:t>
            </a: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выделено то, что выполняет система; </a:t>
            </a: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действия и решения человека.</a:t>
            </a:r>
            <a:endParaRPr lang="en-US" sz="1200" dirty="0"/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b="1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новый шаг, которого сегодня нет.</a:t>
            </a:r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TRADE-МАРКЕТИНГ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Канал, партнёр, продукты,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квот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952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50821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1717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1717" y="2121408"/>
            <a:ext cx="50292" cy="731520"/>
          </a:xfrm>
          <a:prstGeom prst="rect">
            <a:avLst/>
          </a:prstGeom>
          <a:solidFill>
            <a:srgbClr val="C33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8021" y="2157984"/>
            <a:ext cx="228600" cy="228600"/>
          </a:xfrm>
          <a:prstGeom prst="ellipse">
            <a:avLst/>
          </a:prstGeom>
          <a:solidFill>
            <a:srgbClr val="C33A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8021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00629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63875" y="2432304"/>
            <a:ext cx="1391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наличия продукта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складе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дистрибьютора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644597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шаг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04561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650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5650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0281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0281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9541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3938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кода PR-#####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проверка на дубли</a:t>
            </a:r>
            <a:endParaRPr lang="en-US" sz="8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86" y="2761488"/>
            <a:ext cx="109728" cy="10972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8569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94040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25129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25129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39760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39760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9020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43417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Excel-файла промо</a:t>
            </a:r>
            <a:endParaRPr lang="en-US" sz="8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76" y="2761488"/>
            <a:ext cx="109728" cy="10972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58048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7835189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146085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8146085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8292389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292389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8584997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8965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 в Panorama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8338109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466125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9729978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10040874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10040874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10187178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10187178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10479786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0223754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Авто-уведомление партнёров письмом</a:t>
            </a:r>
            <a:endParaRPr lang="en-US" sz="85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754" y="2761488"/>
            <a:ext cx="109728" cy="10972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0370058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900629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квота, период или продукт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2653741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2781757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9541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Excel-файла с изменениями</a:t>
            </a:r>
            <a:endParaRPr lang="en-US" sz="850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86" y="4151376"/>
            <a:ext cx="109728" cy="109728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4685690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9020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промо-активности в Panorama</a:t>
            </a:r>
            <a:endParaRPr lang="en-US" sz="850" dirty="0"/>
          </a:p>
        </p:txBody>
      </p:sp>
      <p:sp>
        <p:nvSpPr>
          <p:cNvPr id="89" name="Shape 82"/>
          <p:cNvSpPr/>
          <p:nvPr/>
        </p:nvSpPr>
        <p:spPr>
          <a:xfrm>
            <a:off x="6443320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3"/>
          <p:cNvSpPr/>
          <p:nvPr/>
        </p:nvSpPr>
        <p:spPr>
          <a:xfrm>
            <a:off x="6571336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84997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и уведомление партнёров</a:t>
            </a:r>
            <a:endParaRPr lang="en-US" sz="850" dirty="0"/>
          </a:p>
        </p:txBody>
      </p:sp>
      <p:pic>
        <p:nvPicPr>
          <p:cNvPr id="9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965" y="4151376"/>
            <a:ext cx="109728" cy="109728"/>
          </a:xfrm>
          <a:prstGeom prst="rect">
            <a:avLst/>
          </a:prstGeom>
        </p:spPr>
      </p:pic>
      <p:sp>
        <p:nvSpPr>
          <p:cNvPr id="99" name="Text 91"/>
          <p:cNvSpPr/>
          <p:nvPr/>
        </p:nvSpPr>
        <p:spPr>
          <a:xfrm>
            <a:off x="8475269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48024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«Запрос»: проданные литры по промо</a:t>
            </a:r>
            <a:endParaRPr lang="en-US" sz="850" dirty="0"/>
          </a:p>
        </p:txBody>
      </p:sp>
      <p:sp>
        <p:nvSpPr>
          <p:cNvPr id="109" name="Shape 101"/>
          <p:cNvSpPr/>
          <p:nvPr/>
        </p:nvSpPr>
        <p:spPr>
          <a:xfrm>
            <a:off x="3601136" y="5559552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2"/>
          <p:cNvSpPr/>
          <p:nvPr/>
        </p:nvSpPr>
        <p:spPr>
          <a:xfrm>
            <a:off x="3729152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42813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∑(литры × цена периода)</a:t>
            </a:r>
            <a:endParaRPr lang="en-US" sz="850" dirty="0"/>
          </a:p>
        </p:txBody>
      </p:sp>
      <p:pic>
        <p:nvPicPr>
          <p:cNvPr id="118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781" y="5541264"/>
            <a:ext cx="109728" cy="109728"/>
          </a:xfrm>
          <a:prstGeom prst="rect">
            <a:avLst/>
          </a:prstGeom>
        </p:spPr>
      </p:pic>
      <p:sp>
        <p:nvSpPr>
          <p:cNvPr id="119" name="Text 110"/>
          <p:cNvSpPr/>
          <p:nvPr/>
        </p:nvSpPr>
        <p:spPr>
          <a:xfrm>
            <a:off x="5633085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37602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212080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и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отчета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pic>
        <p:nvPicPr>
          <p:cNvPr id="127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570" y="5541264"/>
            <a:ext cx="109728" cy="109728"/>
          </a:xfrm>
          <a:prstGeom prst="rect">
            <a:avLst/>
          </a:prstGeom>
        </p:spPr>
      </p:pic>
      <p:sp>
        <p:nvSpPr>
          <p:cNvPr id="128" name="Text 118"/>
          <p:cNvSpPr/>
          <p:nvPr/>
        </p:nvSpPr>
        <p:spPr>
          <a:xfrm>
            <a:off x="7527874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66928" y="5952744"/>
            <a:ext cx="201168" cy="146304"/>
          </a:xfrm>
          <a:prstGeom prst="rect">
            <a:avLst/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841248" y="5907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Автоматизировано системой</a:t>
            </a:r>
            <a:endParaRPr lang="en-US" sz="950" dirty="0"/>
          </a:p>
        </p:txBody>
      </p:sp>
      <p:sp>
        <p:nvSpPr>
          <p:cNvPr id="131" name="Shape 121"/>
          <p:cNvSpPr/>
          <p:nvPr/>
        </p:nvSpPr>
        <p:spPr>
          <a:xfrm>
            <a:off x="3218688" y="5952744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2"/>
          <p:cNvSpPr/>
          <p:nvPr/>
        </p:nvSpPr>
        <p:spPr>
          <a:xfrm>
            <a:off x="3493008" y="5907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/ решение человека</a:t>
            </a:r>
            <a:endParaRPr lang="en-US" sz="950" dirty="0"/>
          </a:p>
        </p:txBody>
      </p:sp>
      <p:sp>
        <p:nvSpPr>
          <p:cNvPr id="133" name="Shape 123"/>
          <p:cNvSpPr/>
          <p:nvPr/>
        </p:nvSpPr>
        <p:spPr>
          <a:xfrm>
            <a:off x="6949440" y="5760720"/>
            <a:ext cx="4675327" cy="548640"/>
          </a:xfrm>
          <a:prstGeom prst="roundRect">
            <a:avLst>
              <a:gd name="adj" fmla="val 19048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24"/>
          <p:cNvSpPr/>
          <p:nvPr/>
        </p:nvSpPr>
        <p:spPr>
          <a:xfrm>
            <a:off x="7086600" y="5760720"/>
            <a:ext cx="44741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4C8D"/>
                </a:solidFill>
                <a:latin typeface="Calibri" pitchFamily="34" charset="0"/>
                <a:ea typeface="Consolas" pitchFamily="34" charset="-122"/>
                <a:cs typeface="Consolas" pitchFamily="34" charset="-120"/>
              </a:rPr>
              <a:t>Не просто автоматизация:</a:t>
            </a:r>
            <a:r>
              <a:rPr lang="en-US" sz="950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добавляются новые шаги — проверка остатков на складе партнёра и предрасчёты промо, чтобы партнёры присылали корректные запросы.</a:t>
            </a:r>
            <a:endParaRPr lang="en-US" sz="9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440680" y="5952744"/>
            <a:ext cx="201168" cy="146304"/>
          </a:xfrm>
          <a:prstGeom prst="rect">
            <a:avLst/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5715000" y="59070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шаг процесса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8620"/>
            <a:ext cx="219456" cy="176967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  <p:sp>
        <p:nvSpPr>
          <p:cNvPr id="139" name="Rectangle 138"/>
          <p:cNvSpPr/>
          <p:nvPr/>
        </p:nvSpPr>
        <p:spPr>
          <a:xfrm>
            <a:off x="566928" y="589788"/>
            <a:ext cx="155448" cy="29260"/>
          </a:xfrm>
          <a:prstGeom prst="rect">
            <a:avLst/>
          </a:prstGeom>
          <a:solidFill>
            <a:srgbClr val="004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1" i="0" spc="200">
                <a:solidFill>
                  <a:srgbClr val="1166A8"/>
                </a:solidFill>
                <a:latin typeface="Calibri"/>
              </a:rPr>
              <a:t>ТЕКУЩИЙ ИНСТРУМЕНТ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900" b="1" i="0">
                <a:solidFill>
                  <a:srgbClr val="0C1726"/>
                </a:solidFill>
                <a:latin typeface="Calibri"/>
              </a:rPr>
              <a:t>Текущая система KZPromotion — и её ограничения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1426464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6616F"/>
                </a:solidFill>
                <a:latin typeface="Calibri"/>
              </a:rPr>
              <a:t>Сегодня уведомления партнёрам по акциям N+1 рассылает KZPromotion. Система закрывает лишь малую часть процесса и требует постоянного ручного участия.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66928" y="2121408"/>
            <a:ext cx="6583680" cy="241813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kzprom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304288"/>
            <a:ext cx="6144768" cy="1814626"/>
          </a:xfrm>
          <a:prstGeom prst="rect">
            <a:avLst/>
          </a:prstGeom>
          <a:ln w="9525">
            <a:solidFill>
              <a:srgbClr val="E2E7EE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786384" y="4155490"/>
            <a:ext cx="614476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56616F"/>
                </a:solidFill>
                <a:latin typeface="Calibri"/>
              </a:rPr>
              <a:t>KZPromotion — рассылка уведомлений партнёрам об акциях N+1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66928" y="4704130"/>
            <a:ext cx="6583680" cy="1202893"/>
          </a:xfrm>
          <a:prstGeom prst="roundRect">
            <a:avLst>
              <a:gd name="adj" fmla="val 7601"/>
            </a:avLst>
          </a:prstGeom>
          <a:solidFill>
            <a:srgbClr val="FBE9E7"/>
          </a:solidFill>
          <a:ln w="12700">
            <a:solidFill>
              <a:srgbClr val="F0C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41247" y="4813858"/>
            <a:ext cx="6035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 spc="100">
                <a:solidFill>
                  <a:srgbClr val="C33A30"/>
                </a:solidFill>
                <a:latin typeface="Calibri"/>
              </a:rPr>
              <a:t>СБОИ В ЭКСПЛУАТАЦИИ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59536" y="5188762"/>
            <a:ext cx="64008" cy="64008"/>
          </a:xfrm>
          <a:prstGeom prst="rect">
            <a:avLst/>
          </a:prstGeom>
          <a:solidFill>
            <a:srgbClr val="C3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42416" y="5106466"/>
            <a:ext cx="58155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C1726"/>
                </a:solidFill>
                <a:latin typeface="Calibri"/>
              </a:rPr>
              <a:t>Microsoft изменил внутренние политики — письма перестали отправляться, уведомления пришлось рассылать вручную.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9536" y="5645962"/>
            <a:ext cx="64008" cy="64008"/>
          </a:xfrm>
          <a:prstGeom prst="rect">
            <a:avLst/>
          </a:prstGeom>
          <a:solidFill>
            <a:srgbClr val="C3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42416" y="5563666"/>
            <a:ext cx="58155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0C1726"/>
                </a:solidFill>
                <a:latin typeface="Calibri"/>
              </a:rPr>
              <a:t>Мелкие сбои возникают регулярно.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315200" y="2121408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315200" y="2139696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552944" y="2231136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Только N+1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552944" y="2542032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Остальные типы промо-активностей не поддерживаются.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315200" y="3429000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315200" y="3447288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552944" y="3538728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Ручной выбор акций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552944" y="3849624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Специалист Sales Systems отбирает промо-активности для рассылки вручную.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315200" y="4736592"/>
            <a:ext cx="4309567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>
            <a:outerShdw sx="100000" sy="100000" kx="0" ky="0" algn="bl" rotWithShape="0" blurRad="88900" dist="25400" dir="8100000">
              <a:srgbClr val="0C1726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315200" y="4754879"/>
            <a:ext cx="45720" cy="1133856"/>
          </a:xfrm>
          <a:prstGeom prst="rect">
            <a:avLst/>
          </a:prstGeom>
          <a:solidFill>
            <a:srgbClr val="BD7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552944" y="4846320"/>
            <a:ext cx="3852367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0C1726"/>
                </a:solidFill>
                <a:latin typeface="Calibri"/>
              </a:rPr>
              <a:t>Автоматически — только квота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552944" y="5157216"/>
            <a:ext cx="3852367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6616F"/>
                </a:solidFill>
                <a:latin typeface="Calibri"/>
              </a:rPr>
              <a:t>Уведомления о смене периода или продукта приходится отправлять партнёрам вручную.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950</Words>
  <Application>Microsoft Office PowerPoint</Application>
  <PresentationFormat>Широкоэкранный</PresentationFormat>
  <Paragraphs>202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Efes Nexus — бизнес-кейс</dc:title>
  <dc:subject>PptxGenJS Presentation</dc:subject>
  <dc:creator>Efes Kazakhstan</dc:creator>
  <cp:lastModifiedBy>Aset Seksenali</cp:lastModifiedBy>
  <cp:revision>5</cp:revision>
  <dcterms:created xsi:type="dcterms:W3CDTF">2026-05-31T08:54:41Z</dcterms:created>
  <dcterms:modified xsi:type="dcterms:W3CDTF">2026-06-12T13:52:26Z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6fda2e-cb39-40eb-9c23-082a57943f2a_Enabled">
    <vt:lpwstr>true</vt:lpwstr>
  </property>
  <property fmtid="{D5CDD505-2E9C-101B-9397-08002B2CF9AE}" pid="3" name="MSIP_Label_e86fda2e-cb39-40eb-9c23-082a57943f2a_SetDate">
    <vt:lpwstr>2026-06-03T05:47:32Z</vt:lpwstr>
  </property>
  <property fmtid="{D5CDD505-2E9C-101B-9397-08002B2CF9AE}" pid="4" name="MSIP_Label_e86fda2e-cb39-40eb-9c23-082a57943f2a_Method">
    <vt:lpwstr>Privileged</vt:lpwstr>
  </property>
  <property fmtid="{D5CDD505-2E9C-101B-9397-08002B2CF9AE}" pid="5" name="MSIP_Label_e86fda2e-cb39-40eb-9c23-082a57943f2a_Name">
    <vt:lpwstr>Публичные данные</vt:lpwstr>
  </property>
  <property fmtid="{D5CDD505-2E9C-101B-9397-08002B2CF9AE}" pid="6" name="MSIP_Label_e86fda2e-cb39-40eb-9c23-082a57943f2a_SiteId">
    <vt:lpwstr>e763b98e-4b7c-41f7-9105-0ab753568526</vt:lpwstr>
  </property>
  <property fmtid="{D5CDD505-2E9C-101B-9397-08002B2CF9AE}" pid="7" name="MSIP_Label_e86fda2e-cb39-40eb-9c23-082a57943f2a_ActionId">
    <vt:lpwstr>6609c51b-9195-442a-b398-3174045bb277</vt:lpwstr>
  </property>
  <property fmtid="{D5CDD505-2E9C-101B-9397-08002B2CF9AE}" pid="8" name="MSIP_Label_e86fda2e-cb39-40eb-9c23-082a57943f2a_ContentBits">
    <vt:lpwstr>0</vt:lpwstr>
  </property>
  <property fmtid="{D5CDD505-2E9C-101B-9397-08002B2CF9AE}" pid="9" name="MSIP_Label_e86fda2e-cb39-40eb-9c23-082a57943f2a_Tag">
    <vt:lpwstr>10, 0, 1, 1</vt:lpwstr>
  </property>
</Properties>
</file>