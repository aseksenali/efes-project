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548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650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setseksenali/Downloads/efes/assets/efes-bad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566928"/>
            <a:ext cx="548640" cy="5486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280160" y="603504"/>
            <a:ext cx="0" cy="475488"/>
          </a:xfrm>
          <a:prstGeom prst="line">
            <a:avLst/>
          </a:prstGeom>
          <a:noFill/>
          <a:ln w="12700">
            <a:solidFill>
              <a:srgbClr val="3344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1426464" y="548640"/>
            <a:ext cx="5486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b="1" kern="0" spc="100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EFES KAZAKHSTAN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738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Отдел продаж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566928" y="2199132"/>
            <a:ext cx="155448" cy="29261"/>
          </a:xfrm>
          <a:prstGeom prst="rect">
            <a:avLst/>
          </a:prstGeom>
          <a:solidFill>
            <a:srgbClr val="5CA3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95528" y="20756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9C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БИЗНЕС-КЕЙС · АВТОМАТИЗАЦИЯ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48640" y="2395728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Efes Nexus</a:t>
            </a:r>
            <a:endParaRPr lang="en-US" sz="6000" dirty="0"/>
          </a:p>
        </p:txBody>
      </p:sp>
      <p:sp>
        <p:nvSpPr>
          <p:cNvPr id="8" name="Text 5"/>
          <p:cNvSpPr/>
          <p:nvPr/>
        </p:nvSpPr>
        <p:spPr>
          <a:xfrm>
            <a:off x="566928" y="3456432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9C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Менеджер промо-активностей</a:t>
            </a:r>
            <a:endParaRPr lang="en-US" sz="2700" dirty="0"/>
          </a:p>
        </p:txBody>
      </p:sp>
      <p:sp>
        <p:nvSpPr>
          <p:cNvPr id="9" name="Text 6"/>
          <p:cNvSpPr/>
          <p:nvPr/>
        </p:nvSpPr>
        <p:spPr>
          <a:xfrm>
            <a:off x="566928" y="4224528"/>
            <a:ext cx="7498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9A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Единая платформа, которая заменяет ручную работу в Excel и Outlook сквозными цифровыми процессами, авто-уведомлениями и AI-проверкой запросов партнёров.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566928" y="5285232"/>
            <a:ext cx="1730045" cy="384048"/>
          </a:xfrm>
          <a:prstGeom prst="roundRect">
            <a:avLst>
              <a:gd name="adj" fmla="val 50000"/>
            </a:avLst>
          </a:prstGeom>
          <a:solidFill>
            <a:srgbClr val="13203A"/>
          </a:solidFill>
          <a:ln w="12700">
            <a:solidFill>
              <a:srgbClr val="2A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731520" y="5449824"/>
            <a:ext cx="64008" cy="64008"/>
          </a:xfrm>
          <a:prstGeom prst="ellipse">
            <a:avLst/>
          </a:prstGeom>
          <a:solidFill>
            <a:srgbClr val="5CA3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859536" y="5285232"/>
            <a:ext cx="140086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Промо-активности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461565" y="5285232"/>
            <a:ext cx="1814170" cy="384048"/>
          </a:xfrm>
          <a:prstGeom prst="roundRect">
            <a:avLst>
              <a:gd name="adj" fmla="val 50000"/>
            </a:avLst>
          </a:prstGeom>
          <a:solidFill>
            <a:srgbClr val="13203A"/>
          </a:solidFill>
          <a:ln w="12700">
            <a:solidFill>
              <a:srgbClr val="2A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2626157" y="5449824"/>
            <a:ext cx="64008" cy="64008"/>
          </a:xfrm>
          <a:prstGeom prst="ellipse">
            <a:avLst/>
          </a:prstGeom>
          <a:solidFill>
            <a:srgbClr val="5CA3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2754173" y="5285232"/>
            <a:ext cx="148498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бизнес-процесса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66928" y="6364224"/>
            <a:ext cx="11057839" cy="0"/>
          </a:xfrm>
          <a:prstGeom prst="line">
            <a:avLst/>
          </a:prstGeom>
          <a:noFill/>
          <a:ln w="12700">
            <a:solidFill>
              <a:srgbClr val="2836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1" descr="/Users/asetseksenali/Downloads/efes/assets/efes-badge.png"/>
          <p:cNvPicPr>
            <a:picLocks noChangeAspect="1"/>
          </p:cNvPicPr>
          <p:nvPr/>
        </p:nvPicPr>
        <p:blipFill>
          <a:blip r:embed="rId4">
            <a:alphaModFix amt="65000"/>
          </a:blip>
          <a:stretch>
            <a:fillRect/>
          </a:stretch>
        </p:blipFill>
        <p:spPr>
          <a:xfrm>
            <a:off x="566928" y="6437376"/>
            <a:ext cx="219456" cy="219456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859536" y="640080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38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Efes Kazakhstan</a:t>
            </a:r>
            <a:endParaRPr lang="en-US" sz="850" dirty="0"/>
          </a:p>
        </p:txBody>
      </p:sp>
      <p:sp>
        <p:nvSpPr>
          <p:cNvPr id="19" name="Text 15"/>
          <p:cNvSpPr/>
          <p:nvPr/>
        </p:nvSpPr>
        <p:spPr>
          <a:xfrm>
            <a:off x="6858000" y="6400800"/>
            <a:ext cx="476676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38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Efes Nexus · бизнес-кейс для руководителя продаж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89788"/>
            <a:ext cx="155448" cy="29261"/>
          </a:xfrm>
          <a:prstGeom prst="rect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95528" y="46634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116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ОХВАТ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786384"/>
            <a:ext cx="11057839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охватывает система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66928" y="1426464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продукт закрывает полный жизненный цикл промо-активностей — от создания и активации до закрытия месяца с AI-проверкой запросов.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6928" y="2286000"/>
            <a:ext cx="534604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77824" y="2596896"/>
            <a:ext cx="566928" cy="566928"/>
          </a:xfrm>
          <a:prstGeom prst="roundRect">
            <a:avLst>
              <a:gd name="adj" fmla="val 27000"/>
            </a:avLst>
          </a:prstGeom>
          <a:solidFill>
            <a:srgbClr val="E3EEF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887" y="2732959"/>
            <a:ext cx="294803" cy="29480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91056" y="2615184"/>
            <a:ext cx="2968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1600" b="1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Компенсация в литрах</a:t>
            </a:r>
          </a:p>
        </p:txBody>
      </p:sp>
      <p:sp>
        <p:nvSpPr>
          <p:cNvPr id="10" name="Shape 7"/>
          <p:cNvSpPr/>
          <p:nvPr/>
        </p:nvSpPr>
        <p:spPr>
          <a:xfrm>
            <a:off x="4669384" y="267004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E3EEF8"/>
          </a:solidFill>
          <a:ln w="12700">
            <a:solidFill>
              <a:srgbClr val="9CC6E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4669384" y="26700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4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+ 1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896112" y="3364992"/>
            <a:ext cx="46876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 каждые N литров — 1 литр в подарок.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896112" y="3913632"/>
            <a:ext cx="4687672" cy="0"/>
          </a:xfrm>
          <a:prstGeom prst="line">
            <a:avLst/>
          </a:prstGeom>
          <a:noFill/>
          <a:ln w="12700">
            <a:solidFill>
              <a:srgbClr val="EEF1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4041648"/>
            <a:ext cx="164592" cy="16459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133856" y="3986784"/>
            <a:ext cx="443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6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On-trade + Off-trade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78728" y="2286000"/>
            <a:ext cx="534604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6589624" y="2596896"/>
            <a:ext cx="566928" cy="566928"/>
          </a:xfrm>
          <a:prstGeom prst="roundRect">
            <a:avLst>
              <a:gd name="adj" fmla="val 27000"/>
            </a:avLst>
          </a:prstGeom>
          <a:solidFill>
            <a:srgbClr val="E3EEF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5686" y="2732959"/>
            <a:ext cx="294803" cy="294803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302856" y="2615184"/>
            <a:ext cx="2968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Денежная компенсация</a:t>
            </a:r>
            <a:endParaRPr lang="en-US" sz="1600" dirty="0"/>
          </a:p>
        </p:txBody>
      </p:sp>
      <p:sp>
        <p:nvSpPr>
          <p:cNvPr id="20" name="Shape 15"/>
          <p:cNvSpPr/>
          <p:nvPr/>
        </p:nvSpPr>
        <p:spPr>
          <a:xfrm>
            <a:off x="10381183" y="267004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E3EEF8"/>
          </a:solidFill>
          <a:ln w="12700">
            <a:solidFill>
              <a:srgbClr val="9CC6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6"/>
          <p:cNvSpPr/>
          <p:nvPr/>
        </p:nvSpPr>
        <p:spPr>
          <a:xfrm>
            <a:off x="10381183" y="26700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4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+ KZT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6607912" y="3364992"/>
            <a:ext cx="46876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 err="1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Компенсация</a:t>
            </a:r>
            <a:r>
              <a:rPr lang="en-US" sz="125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25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виде денег</a:t>
            </a:r>
            <a:r>
              <a:rPr lang="en-US" sz="125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23" name="Shape 18"/>
          <p:cNvSpPr/>
          <p:nvPr/>
        </p:nvSpPr>
        <p:spPr>
          <a:xfrm>
            <a:off x="6607912" y="3913632"/>
            <a:ext cx="4687672" cy="0"/>
          </a:xfrm>
          <a:prstGeom prst="line">
            <a:avLst/>
          </a:prstGeom>
          <a:noFill/>
          <a:ln w="12700">
            <a:solidFill>
              <a:srgbClr val="EEF1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7912" y="4041648"/>
            <a:ext cx="164592" cy="16459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845656" y="3986784"/>
            <a:ext cx="443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6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Только Off-trade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566928" y="4846320"/>
            <a:ext cx="11057839" cy="1078992"/>
          </a:xfrm>
          <a:prstGeom prst="roundRect">
            <a:avLst>
              <a:gd name="adj" fmla="val 7627"/>
            </a:avLst>
          </a:prstGeom>
          <a:solidFill>
            <a:srgbClr val="F1F6FB"/>
          </a:solidFill>
          <a:ln w="12700">
            <a:solidFill>
              <a:srgbClr val="E3EEF8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1"/>
          <p:cNvSpPr/>
          <p:nvPr/>
        </p:nvSpPr>
        <p:spPr>
          <a:xfrm>
            <a:off x="896112" y="4992624"/>
            <a:ext cx="10399471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5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Полный жизненный цикл — с AI-проверкой запросов партнёров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896112" y="5413248"/>
            <a:ext cx="201168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E3E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3"/>
          <p:cNvSpPr/>
          <p:nvPr/>
        </p:nvSpPr>
        <p:spPr>
          <a:xfrm>
            <a:off x="896112" y="541324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Создание</a:t>
            </a:r>
            <a:endParaRPr lang="en-US" sz="1150" dirty="0"/>
          </a:p>
        </p:txBody>
      </p:sp>
      <p:sp>
        <p:nvSpPr>
          <p:cNvPr id="30" name="Text 24"/>
          <p:cNvSpPr/>
          <p:nvPr/>
        </p:nvSpPr>
        <p:spPr>
          <a:xfrm>
            <a:off x="2907792" y="5413248"/>
            <a:ext cx="78425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CA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31" name="Shape 25"/>
          <p:cNvSpPr/>
          <p:nvPr/>
        </p:nvSpPr>
        <p:spPr>
          <a:xfrm>
            <a:off x="3692042" y="5413248"/>
            <a:ext cx="201168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E3E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6"/>
          <p:cNvSpPr/>
          <p:nvPr/>
        </p:nvSpPr>
        <p:spPr>
          <a:xfrm>
            <a:off x="3692042" y="541324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Активация</a:t>
            </a:r>
            <a:endParaRPr lang="en-US" sz="1150" dirty="0"/>
          </a:p>
        </p:txBody>
      </p:sp>
      <p:sp>
        <p:nvSpPr>
          <p:cNvPr id="33" name="Text 27"/>
          <p:cNvSpPr/>
          <p:nvPr/>
        </p:nvSpPr>
        <p:spPr>
          <a:xfrm>
            <a:off x="5703722" y="5413248"/>
            <a:ext cx="78425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CA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34" name="Shape 28"/>
          <p:cNvSpPr/>
          <p:nvPr/>
        </p:nvSpPr>
        <p:spPr>
          <a:xfrm>
            <a:off x="6487973" y="5413248"/>
            <a:ext cx="201168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E3E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29"/>
          <p:cNvSpPr/>
          <p:nvPr/>
        </p:nvSpPr>
        <p:spPr>
          <a:xfrm>
            <a:off x="6487973" y="541324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Изменение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8499653" y="5413248"/>
            <a:ext cx="78425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CA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37" name="Shape 31"/>
          <p:cNvSpPr/>
          <p:nvPr/>
        </p:nvSpPr>
        <p:spPr>
          <a:xfrm>
            <a:off x="9283903" y="5413248"/>
            <a:ext cx="2011680" cy="384048"/>
          </a:xfrm>
          <a:prstGeom prst="roundRect">
            <a:avLst>
              <a:gd name="adj" fmla="val 19048"/>
            </a:avLst>
          </a:prstGeom>
          <a:solidFill>
            <a:srgbClr val="004C8D"/>
          </a:solidFill>
          <a:ln w="12700">
            <a:solidFill>
              <a:srgbClr val="004C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2"/>
          <p:cNvSpPr/>
          <p:nvPr/>
        </p:nvSpPr>
        <p:spPr>
          <a:xfrm>
            <a:off x="9283903" y="541324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Закрытие месяца</a:t>
            </a:r>
            <a:endParaRPr lang="en-US" sz="1150" dirty="0"/>
          </a:p>
        </p:txBody>
      </p:sp>
      <p:sp>
        <p:nvSpPr>
          <p:cNvPr id="39" name="Shape 33"/>
          <p:cNvSpPr/>
          <p:nvPr/>
        </p:nvSpPr>
        <p:spPr>
          <a:xfrm>
            <a:off x="566928" y="6364224"/>
            <a:ext cx="11057839" cy="0"/>
          </a:xfrm>
          <a:prstGeom prst="line">
            <a:avLst/>
          </a:prstGeom>
          <a:noFill/>
          <a:ln w="12700">
            <a:solidFill>
              <a:srgbClr val="E2E7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0" name="Image 4" descr="/Users/asetseksenali/Downloads/efes/assets/efes-bad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928" y="6437376"/>
            <a:ext cx="219456" cy="219456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859536" y="640080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Efes Kazakhstan</a:t>
            </a:r>
            <a:endParaRPr lang="en-US" sz="850" dirty="0"/>
          </a:p>
        </p:txBody>
      </p:sp>
      <p:sp>
        <p:nvSpPr>
          <p:cNvPr id="42" name="Text 35"/>
          <p:cNvSpPr/>
          <p:nvPr/>
        </p:nvSpPr>
        <p:spPr>
          <a:xfrm>
            <a:off x="6858000" y="6400800"/>
            <a:ext cx="476676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B9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Efes Nexus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89788"/>
            <a:ext cx="155448" cy="29261"/>
          </a:xfrm>
          <a:prstGeom prst="rect">
            <a:avLst/>
          </a:prstGeom>
          <a:solidFill>
            <a:srgbClr val="5CA3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95528" y="46634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9C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786384"/>
            <a:ext cx="11057839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Сегодня всё делается вручную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1737360"/>
            <a:ext cx="5346040" cy="1993392"/>
          </a:xfrm>
          <a:prstGeom prst="roundRect">
            <a:avLst>
              <a:gd name="adj" fmla="val 4128"/>
            </a:avLst>
          </a:prstGeom>
          <a:solidFill>
            <a:srgbClr val="16223B"/>
          </a:solidFill>
          <a:ln w="12700">
            <a:solidFill>
              <a:srgbClr val="2836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32688" y="2103120"/>
            <a:ext cx="603504" cy="603504"/>
          </a:xfrm>
          <a:prstGeom prst="roundRect">
            <a:avLst>
              <a:gd name="adj" fmla="val 27000"/>
            </a:avLst>
          </a:prstGeom>
          <a:solidFill>
            <a:srgbClr val="2C1A1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7529" y="2247961"/>
            <a:ext cx="313822" cy="31382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32688" y="2816352"/>
            <a:ext cx="4614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Десятки несвязанных файлов Excel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932688" y="3255264"/>
            <a:ext cx="46145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A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единого источника данных — версии конфликтуют.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278728" y="1737360"/>
            <a:ext cx="5346040" cy="1993392"/>
          </a:xfrm>
          <a:prstGeom prst="roundRect">
            <a:avLst>
              <a:gd name="adj" fmla="val 4128"/>
            </a:avLst>
          </a:prstGeom>
          <a:solidFill>
            <a:srgbClr val="16223B"/>
          </a:solidFill>
          <a:ln w="12700">
            <a:solidFill>
              <a:srgbClr val="2836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6644488" y="2103120"/>
            <a:ext cx="603504" cy="603504"/>
          </a:xfrm>
          <a:prstGeom prst="roundRect">
            <a:avLst>
              <a:gd name="adj" fmla="val 27000"/>
            </a:avLst>
          </a:prstGeom>
          <a:solidFill>
            <a:srgbClr val="2C231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9329" y="2247961"/>
            <a:ext cx="313822" cy="31382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644488" y="2816352"/>
            <a:ext cx="4614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Коммуникация в Outlook и мессенджерах</a:t>
            </a:r>
            <a:endParaRPr lang="en-US" sz="1650" dirty="0"/>
          </a:p>
        </p:txBody>
      </p:sp>
      <p:sp>
        <p:nvSpPr>
          <p:cNvPr id="14" name="Text 10"/>
          <p:cNvSpPr/>
          <p:nvPr/>
        </p:nvSpPr>
        <p:spPr>
          <a:xfrm>
            <a:off x="6644488" y="3255264"/>
            <a:ext cx="46145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A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Письма теряются, согласования задерживаются.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66928" y="4059936"/>
            <a:ext cx="5346040" cy="1993392"/>
          </a:xfrm>
          <a:prstGeom prst="roundRect">
            <a:avLst>
              <a:gd name="adj" fmla="val 4128"/>
            </a:avLst>
          </a:prstGeom>
          <a:solidFill>
            <a:srgbClr val="16223B"/>
          </a:solidFill>
          <a:ln w="12700">
            <a:solidFill>
              <a:srgbClr val="2836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932688" y="4425696"/>
            <a:ext cx="603504" cy="603504"/>
          </a:xfrm>
          <a:prstGeom prst="roundRect">
            <a:avLst>
              <a:gd name="adj" fmla="val 27000"/>
            </a:avLst>
          </a:prstGeom>
          <a:solidFill>
            <a:srgbClr val="14304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7529" y="4570537"/>
            <a:ext cx="313822" cy="31382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32688" y="5138928"/>
            <a:ext cx="4614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Ручное кодирование и расчёты</a:t>
            </a:r>
            <a:endParaRPr lang="en-US" sz="1650" dirty="0"/>
          </a:p>
        </p:txBody>
      </p:sp>
      <p:sp>
        <p:nvSpPr>
          <p:cNvPr id="19" name="Text 14"/>
          <p:cNvSpPr/>
          <p:nvPr/>
        </p:nvSpPr>
        <p:spPr>
          <a:xfrm>
            <a:off x="932688" y="5577840"/>
            <a:ext cx="46145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A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Риск дублей, переплат и искажений в отчётах.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278728" y="4059936"/>
            <a:ext cx="5346040" cy="1993392"/>
          </a:xfrm>
          <a:prstGeom prst="roundRect">
            <a:avLst>
              <a:gd name="adj" fmla="val 4128"/>
            </a:avLst>
          </a:prstGeom>
          <a:solidFill>
            <a:srgbClr val="16223B"/>
          </a:solidFill>
          <a:ln w="12700">
            <a:solidFill>
              <a:srgbClr val="2836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6644488" y="4425696"/>
            <a:ext cx="603504" cy="603504"/>
          </a:xfrm>
          <a:prstGeom prst="roundRect">
            <a:avLst>
              <a:gd name="adj" fmla="val 27000"/>
            </a:avLst>
          </a:prstGeom>
          <a:solidFill>
            <a:srgbClr val="2C1A1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89329" y="4570537"/>
            <a:ext cx="313822" cy="31382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644488" y="5138928"/>
            <a:ext cx="4614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Зависимость от человеческого фактора</a:t>
            </a:r>
            <a:endParaRPr lang="en-US" sz="1650" dirty="0"/>
          </a:p>
        </p:txBody>
      </p:sp>
      <p:sp>
        <p:nvSpPr>
          <p:cNvPr id="24" name="Text 18"/>
          <p:cNvSpPr/>
          <p:nvPr/>
        </p:nvSpPr>
        <p:spPr>
          <a:xfrm>
            <a:off x="6644488" y="5577840"/>
            <a:ext cx="46145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A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300+ промо в месяц — одна ошибка идёт каскадом.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566928" y="6364224"/>
            <a:ext cx="11057839" cy="0"/>
          </a:xfrm>
          <a:prstGeom prst="line">
            <a:avLst/>
          </a:prstGeom>
          <a:noFill/>
          <a:ln w="12700">
            <a:solidFill>
              <a:srgbClr val="2836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4" descr="/Users/asetseksenali/Downloads/efes/assets/efes-badge.png"/>
          <p:cNvPicPr>
            <a:picLocks noChangeAspect="1"/>
          </p:cNvPicPr>
          <p:nvPr/>
        </p:nvPicPr>
        <p:blipFill>
          <a:blip r:embed="rId8">
            <a:alphaModFix amt="65000"/>
          </a:blip>
          <a:stretch>
            <a:fillRect/>
          </a:stretch>
        </p:blipFill>
        <p:spPr>
          <a:xfrm>
            <a:off x="566928" y="6437376"/>
            <a:ext cx="219456" cy="21945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859536" y="640080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38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Efes Kazakhstan</a:t>
            </a:r>
            <a:endParaRPr lang="en-US" sz="850" dirty="0"/>
          </a:p>
        </p:txBody>
      </p:sp>
      <p:sp>
        <p:nvSpPr>
          <p:cNvPr id="28" name="Text 21"/>
          <p:cNvSpPr/>
          <p:nvPr/>
        </p:nvSpPr>
        <p:spPr>
          <a:xfrm>
            <a:off x="6858000" y="6400800"/>
            <a:ext cx="476676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38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Efes Nexus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53212"/>
            <a:ext cx="155448" cy="29261"/>
          </a:xfrm>
          <a:prstGeom prst="rect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95528" y="4297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116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МАСШТАБ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749808"/>
            <a:ext cx="11057839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Объём растёт быстрее, чем успевают руки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66928" y="1389888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 три года число промо-активностей выросло почти в 5 раз, а годовой бюджет промо — в 2,4 раза. При почти неизменном числе партнёров объём растёт быстрее, чем справляются ручные процессы.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6928" y="2331720"/>
            <a:ext cx="5486400" cy="3584448"/>
          </a:xfrm>
          <a:prstGeom prst="roundRect">
            <a:avLst>
              <a:gd name="adj" fmla="val 2296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77824" y="2587752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Промо-активности по годам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77824" y="289864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Количество акций и сумма затрат по годам</a:t>
            </a:r>
            <a:endParaRPr lang="en-US" sz="1000" dirty="0"/>
          </a:p>
        </p:txBody>
      </p:sp>
      <p:sp>
        <p:nvSpPr>
          <p:cNvPr id="70" name="bar70"/>
          <p:cNvSpPr/>
          <p:nvPr/>
        </p:nvSpPr>
        <p:spPr>
          <a:xfrm>
            <a:off x="1330000" y="4906390"/>
            <a:ext cx="420000" cy="442850"/>
          </a:xfrm>
          <a:prstGeom prst="rect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" name="bar71"/>
          <p:cNvSpPr/>
          <p:nvPr/>
        </p:nvSpPr>
        <p:spPr>
          <a:xfrm>
            <a:off x="2880000" y="4884502"/>
            <a:ext cx="420000" cy="464738"/>
          </a:xfrm>
          <a:prstGeom prst="rect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bar72"/>
          <p:cNvSpPr/>
          <p:nvPr/>
        </p:nvSpPr>
        <p:spPr>
          <a:xfrm>
            <a:off x="4430000" y="3200400"/>
            <a:ext cx="420000" cy="2148840"/>
          </a:xfrm>
          <a:prstGeom prst="rect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" name="bar73"/>
          <p:cNvSpPr/>
          <p:nvPr/>
        </p:nvSpPr>
        <p:spPr>
          <a:xfrm>
            <a:off x="1800000" y="4489704"/>
            <a:ext cx="420000" cy="859536"/>
          </a:xfrm>
          <a:prstGeom prst="rect">
            <a:avLst/>
          </a:prstGeom>
          <a:solidFill>
            <a:srgbClr val="1592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4" name="bar74"/>
          <p:cNvSpPr/>
          <p:nvPr/>
        </p:nvSpPr>
        <p:spPr>
          <a:xfrm>
            <a:off x="3350000" y="4128699"/>
            <a:ext cx="420000" cy="1220541"/>
          </a:xfrm>
          <a:prstGeom prst="rect">
            <a:avLst/>
          </a:prstGeom>
          <a:solidFill>
            <a:srgbClr val="1592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" name="bar75"/>
          <p:cNvSpPr/>
          <p:nvPr/>
        </p:nvSpPr>
        <p:spPr>
          <a:xfrm>
            <a:off x="4900000" y="3277758"/>
            <a:ext cx="420000" cy="2071482"/>
          </a:xfrm>
          <a:prstGeom prst="rect">
            <a:avLst/>
          </a:prstGeom>
          <a:solidFill>
            <a:srgbClr val="1592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6" name="t76"/>
          <p:cNvSpPr/>
          <p:nvPr/>
        </p:nvSpPr>
        <p:spPr>
          <a:xfrm>
            <a:off x="1160000" y="4626390"/>
            <a:ext cx="76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4C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2 084</a:t>
            </a:r>
          </a:p>
        </p:txBody>
      </p:sp>
      <p:sp>
        <p:nvSpPr>
          <p:cNvPr id="77" name="t77"/>
          <p:cNvSpPr/>
          <p:nvPr/>
        </p:nvSpPr>
        <p:spPr>
          <a:xfrm>
            <a:off x="2710000" y="4604502"/>
            <a:ext cx="76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4C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2 187</a:t>
            </a:r>
          </a:p>
        </p:txBody>
      </p:sp>
      <p:sp>
        <p:nvSpPr>
          <p:cNvPr id="78" name="t78"/>
          <p:cNvSpPr/>
          <p:nvPr/>
        </p:nvSpPr>
        <p:spPr>
          <a:xfrm>
            <a:off x="4260000" y="2920400"/>
            <a:ext cx="76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4C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10 112</a:t>
            </a:r>
          </a:p>
        </p:txBody>
      </p:sp>
      <p:sp>
        <p:nvSpPr>
          <p:cNvPr id="79" name="t79"/>
          <p:cNvSpPr/>
          <p:nvPr/>
        </p:nvSpPr>
        <p:spPr>
          <a:xfrm>
            <a:off x="1700000" y="4229704"/>
            <a:ext cx="6200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592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1,00</a:t>
            </a:r>
          </a:p>
        </p:txBody>
      </p:sp>
      <p:sp>
        <p:nvSpPr>
          <p:cNvPr id="80" name="t80"/>
          <p:cNvSpPr/>
          <p:nvPr/>
        </p:nvSpPr>
        <p:spPr>
          <a:xfrm>
            <a:off x="3250000" y="3868699"/>
            <a:ext cx="6200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592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1,42</a:t>
            </a:r>
          </a:p>
        </p:txBody>
      </p:sp>
      <p:sp>
        <p:nvSpPr>
          <p:cNvPr id="81" name="t81"/>
          <p:cNvSpPr/>
          <p:nvPr/>
        </p:nvSpPr>
        <p:spPr>
          <a:xfrm>
            <a:off x="4800000" y="3017758"/>
            <a:ext cx="6200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592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2,41</a:t>
            </a:r>
          </a:p>
        </p:txBody>
      </p:sp>
      <p:sp>
        <p:nvSpPr>
          <p:cNvPr id="82" name="t82"/>
          <p:cNvSpPr/>
          <p:nvPr/>
        </p:nvSpPr>
        <p:spPr>
          <a:xfrm>
            <a:off x="1325000" y="5404104"/>
            <a:ext cx="90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</a:p>
        </p:txBody>
      </p:sp>
      <p:sp>
        <p:nvSpPr>
          <p:cNvPr id="83" name="t83"/>
          <p:cNvSpPr/>
          <p:nvPr/>
        </p:nvSpPr>
        <p:spPr>
          <a:xfrm>
            <a:off x="2875000" y="5404104"/>
            <a:ext cx="90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</a:p>
        </p:txBody>
      </p:sp>
      <p:sp>
        <p:nvSpPr>
          <p:cNvPr id="84" name="t84"/>
          <p:cNvSpPr/>
          <p:nvPr/>
        </p:nvSpPr>
        <p:spPr>
          <a:xfrm>
            <a:off x="4425000" y="5404104"/>
            <a:ext cx="90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4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</a:p>
        </p:txBody>
      </p:sp>
      <p:sp>
        <p:nvSpPr>
          <p:cNvPr id="85" name="sw85"/>
          <p:cNvSpPr/>
          <p:nvPr/>
        </p:nvSpPr>
        <p:spPr>
          <a:xfrm>
            <a:off x="877824" y="3245000"/>
            <a:ext cx="190000" cy="150000"/>
          </a:xfrm>
          <a:prstGeom prst="roundRect">
            <a:avLst>
              <a:gd name="adj" fmla="val 30000"/>
            </a:avLst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6" name="t86"/>
          <p:cNvSpPr/>
          <p:nvPr/>
        </p:nvSpPr>
        <p:spPr>
          <a:xfrm>
            <a:off x="1130000" y="3200000"/>
            <a:ext cx="15000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Кол-во акций (шт)</a:t>
            </a:r>
          </a:p>
        </p:txBody>
      </p:sp>
      <p:sp>
        <p:nvSpPr>
          <p:cNvPr id="87" name="sw87"/>
          <p:cNvSpPr/>
          <p:nvPr/>
        </p:nvSpPr>
        <p:spPr>
          <a:xfrm>
            <a:off x="2740000" y="3245000"/>
            <a:ext cx="190000" cy="150000"/>
          </a:xfrm>
          <a:prstGeom prst="roundRect">
            <a:avLst>
              <a:gd name="adj" fmla="val 30000"/>
            </a:avLst>
          </a:prstGeom>
          <a:solidFill>
            <a:srgbClr val="1592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8" name="t88"/>
          <p:cNvSpPr/>
          <p:nvPr/>
        </p:nvSpPr>
        <p:spPr>
          <a:xfrm>
            <a:off x="2990000" y="3200000"/>
            <a:ext cx="14000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Сумма (млрд ₸)</a:t>
            </a:r>
          </a:p>
        </p:txBody>
      </p:sp>
      <p:sp>
        <p:nvSpPr>
          <p:cNvPr id="21" name="Shape 19"/>
          <p:cNvSpPr/>
          <p:nvPr/>
        </p:nvSpPr>
        <p:spPr>
          <a:xfrm>
            <a:off x="6364224" y="2331720"/>
            <a:ext cx="5260543" cy="1011936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620256" y="2563368"/>
            <a:ext cx="3797503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ПАРТНЁРЫ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0253167" y="2563368"/>
            <a:ext cx="11338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4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за 6 мес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620256" y="2819400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B94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31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735824" y="2819400"/>
            <a:ext cx="457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CA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238744" y="2782824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4C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33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10545775" y="2837688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E7F5EC"/>
          </a:solidFill>
          <a:ln w="12700">
            <a:solidFill>
              <a:srgbClr val="BBE3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0545775" y="2837688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59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+6,5 %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364224" y="3617976"/>
            <a:ext cx="5260543" cy="1011936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620256" y="3849624"/>
            <a:ext cx="3797503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ПРОДУКТЫ · SKU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10253167" y="3849624"/>
            <a:ext cx="11338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4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за 6 мес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620256" y="4105656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B94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78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7735824" y="4105656"/>
            <a:ext cx="457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CA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238744" y="40690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4C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105</a:t>
            </a:r>
            <a:endParaRPr lang="en-US" sz="2000" dirty="0"/>
          </a:p>
        </p:txBody>
      </p:sp>
      <p:sp>
        <p:nvSpPr>
          <p:cNvPr id="35" name="Shape 33"/>
          <p:cNvSpPr/>
          <p:nvPr/>
        </p:nvSpPr>
        <p:spPr>
          <a:xfrm>
            <a:off x="10545775" y="4123944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E7F5EC"/>
          </a:solidFill>
          <a:ln w="12700">
            <a:solidFill>
              <a:srgbClr val="BBE3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10545775" y="4123944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59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+35 %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364224" y="4904232"/>
            <a:ext cx="5260543" cy="1011936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620256" y="5135880"/>
            <a:ext cx="3797503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ТОРГОВЫЕ ТОЧКИ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10253167" y="5135880"/>
            <a:ext cx="11338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4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2025 → 2026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620256" y="5391912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B94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3 857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7735824" y="5391912"/>
            <a:ext cx="457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CA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8238744" y="5355336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4C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5 410</a:t>
            </a:r>
            <a:endParaRPr lang="en-US" sz="2000" dirty="0"/>
          </a:p>
        </p:txBody>
      </p:sp>
      <p:sp>
        <p:nvSpPr>
          <p:cNvPr id="43" name="Shape 41"/>
          <p:cNvSpPr/>
          <p:nvPr/>
        </p:nvSpPr>
        <p:spPr>
          <a:xfrm>
            <a:off x="10545775" y="5410200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E7F5EC"/>
          </a:solidFill>
          <a:ln w="12700">
            <a:solidFill>
              <a:srgbClr val="BBE3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10545775" y="5410200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59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+40 %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566928" y="6364224"/>
            <a:ext cx="11057839" cy="0"/>
          </a:xfrm>
          <a:prstGeom prst="line">
            <a:avLst/>
          </a:prstGeom>
          <a:noFill/>
          <a:ln w="12700">
            <a:solidFill>
              <a:srgbClr val="E2E7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4" name="Image 0" descr="/Users/asetseksenali/Downloads/efes/assets/efes-bad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437376"/>
            <a:ext cx="219456" cy="219456"/>
          </a:xfrm>
          <a:prstGeom prst="rect">
            <a:avLst/>
          </a:prstGeom>
        </p:spPr>
      </p:pic>
      <p:sp>
        <p:nvSpPr>
          <p:cNvPr id="55" name="Text 52"/>
          <p:cNvSpPr/>
          <p:nvPr/>
        </p:nvSpPr>
        <p:spPr>
          <a:xfrm>
            <a:off x="859536" y="640080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Efes Kazakhstan</a:t>
            </a:r>
            <a:endParaRPr lang="en-US" sz="850" dirty="0"/>
          </a:p>
        </p:txBody>
      </p:sp>
      <p:sp>
        <p:nvSpPr>
          <p:cNvPr id="56" name="Text 53"/>
          <p:cNvSpPr/>
          <p:nvPr/>
        </p:nvSpPr>
        <p:spPr>
          <a:xfrm>
            <a:off x="6858000" y="6400800"/>
            <a:ext cx="476676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B9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Efes Nexus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89788"/>
            <a:ext cx="155448" cy="29261"/>
          </a:xfrm>
          <a:prstGeom prst="rect">
            <a:avLst/>
          </a:prstGeom>
          <a:solidFill>
            <a:srgbClr val="5CA3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95528" y="46634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9C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786384"/>
            <a:ext cx="11057839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Единая платформа вместо Excel и почты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66928" y="1426464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C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Веб-система превращает разрозненные таблицы и цепочки писем в структурированные процессы с автоматизацией и проверкой.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6928" y="2212848"/>
            <a:ext cx="2531288" cy="2743200"/>
          </a:xfrm>
          <a:prstGeom prst="roundRect">
            <a:avLst>
              <a:gd name="adj" fmla="val 3251"/>
            </a:avLst>
          </a:prstGeom>
          <a:solidFill>
            <a:srgbClr val="0E5093"/>
          </a:solidFill>
          <a:ln w="12700">
            <a:solidFill>
              <a:srgbClr val="2E72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41248" y="2523744"/>
            <a:ext cx="585216" cy="585216"/>
          </a:xfrm>
          <a:prstGeom prst="roundRect">
            <a:avLst>
              <a:gd name="adj" fmla="val 27000"/>
            </a:avLst>
          </a:prstGeom>
          <a:solidFill>
            <a:srgbClr val="1E5C9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1700" y="2664196"/>
            <a:ext cx="304312" cy="3043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41248" y="3291840"/>
            <a:ext cx="1982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Единый реестр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841248" y="3694176"/>
            <a:ext cx="198264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CFE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промо-активности и компенсации — в одном источнике данных. Никаких конфликтов версий.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409112" y="2212848"/>
            <a:ext cx="2531288" cy="2743200"/>
          </a:xfrm>
          <a:prstGeom prst="roundRect">
            <a:avLst>
              <a:gd name="adj" fmla="val 3251"/>
            </a:avLst>
          </a:prstGeom>
          <a:solidFill>
            <a:srgbClr val="0E5093"/>
          </a:solidFill>
          <a:ln w="12700">
            <a:solidFill>
              <a:srgbClr val="2E72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3683432" y="2523744"/>
            <a:ext cx="585216" cy="585216"/>
          </a:xfrm>
          <a:prstGeom prst="roundRect">
            <a:avLst>
              <a:gd name="adj" fmla="val 27000"/>
            </a:avLst>
          </a:prstGeom>
          <a:solidFill>
            <a:srgbClr val="1E5C9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23884" y="2664196"/>
            <a:ext cx="304312" cy="30431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683432" y="3291840"/>
            <a:ext cx="1982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Сквозные процессы</a:t>
            </a:r>
            <a:endParaRPr lang="en-US" sz="1550" dirty="0"/>
          </a:p>
        </p:txBody>
      </p:sp>
      <p:sp>
        <p:nvSpPr>
          <p:cNvPr id="15" name="Text 11"/>
          <p:cNvSpPr/>
          <p:nvPr/>
        </p:nvSpPr>
        <p:spPr>
          <a:xfrm>
            <a:off x="3683432" y="3694176"/>
            <a:ext cx="198264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CFE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бизнес-процесса оцифрованы целиком: создание, изменение, закрытие.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251296" y="2212848"/>
            <a:ext cx="2531288" cy="2743200"/>
          </a:xfrm>
          <a:prstGeom prst="roundRect">
            <a:avLst>
              <a:gd name="adj" fmla="val 3251"/>
            </a:avLst>
          </a:prstGeom>
          <a:solidFill>
            <a:srgbClr val="0E5093"/>
          </a:solidFill>
          <a:ln w="12700">
            <a:solidFill>
              <a:srgbClr val="2E72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6525616" y="2523744"/>
            <a:ext cx="585216" cy="585216"/>
          </a:xfrm>
          <a:prstGeom prst="roundRect">
            <a:avLst>
              <a:gd name="adj" fmla="val 27000"/>
            </a:avLst>
          </a:prstGeom>
          <a:solidFill>
            <a:srgbClr val="1E5C9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6067" y="2664196"/>
            <a:ext cx="304312" cy="30431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525616" y="3291840"/>
            <a:ext cx="1982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AI-верификация</a:t>
            </a:r>
            <a:endParaRPr lang="en-US" sz="1550" dirty="0"/>
          </a:p>
        </p:txBody>
      </p:sp>
      <p:sp>
        <p:nvSpPr>
          <p:cNvPr id="20" name="Text 15"/>
          <p:cNvSpPr/>
          <p:nvPr/>
        </p:nvSpPr>
        <p:spPr>
          <a:xfrm>
            <a:off x="6525616" y="3694176"/>
            <a:ext cx="198264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CFE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Автоматическая сверка запросов партнёров с данными Panorama — мгновенно и без человека.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9093479" y="2212848"/>
            <a:ext cx="2531288" cy="2743200"/>
          </a:xfrm>
          <a:prstGeom prst="roundRect">
            <a:avLst>
              <a:gd name="adj" fmla="val 3251"/>
            </a:avLst>
          </a:prstGeom>
          <a:solidFill>
            <a:srgbClr val="0E5093"/>
          </a:solidFill>
          <a:ln w="12700">
            <a:solidFill>
              <a:srgbClr val="2E72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7"/>
          <p:cNvSpPr/>
          <p:nvPr/>
        </p:nvSpPr>
        <p:spPr>
          <a:xfrm>
            <a:off x="9367799" y="2523744"/>
            <a:ext cx="585216" cy="585216"/>
          </a:xfrm>
          <a:prstGeom prst="roundRect">
            <a:avLst>
              <a:gd name="adj" fmla="val 27000"/>
            </a:avLst>
          </a:prstGeom>
          <a:solidFill>
            <a:srgbClr val="1E5C9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08251" y="2664196"/>
            <a:ext cx="304312" cy="30431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367799" y="3291840"/>
            <a:ext cx="1982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Авто-уведомления</a:t>
            </a:r>
            <a:endParaRPr lang="en-US" sz="1550" dirty="0"/>
          </a:p>
        </p:txBody>
      </p:sp>
      <p:sp>
        <p:nvSpPr>
          <p:cNvPr id="25" name="Text 19"/>
          <p:cNvSpPr/>
          <p:nvPr/>
        </p:nvSpPr>
        <p:spPr>
          <a:xfrm>
            <a:off x="9367799" y="3694176"/>
            <a:ext cx="198264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CFE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Письма партнёрам и напоминания по срокам формируются и отправляются системой.</a:t>
            </a:r>
            <a:endParaRPr lang="en-US" sz="1150" dirty="0"/>
          </a:p>
        </p:txBody>
      </p:sp>
      <p:sp>
        <p:nvSpPr>
          <p:cNvPr id="26" name="Shape 20"/>
          <p:cNvSpPr/>
          <p:nvPr/>
        </p:nvSpPr>
        <p:spPr>
          <a:xfrm>
            <a:off x="566928" y="5138928"/>
            <a:ext cx="11057839" cy="713232"/>
          </a:xfrm>
          <a:prstGeom prst="roundRect">
            <a:avLst>
              <a:gd name="adj" fmla="val 12821"/>
            </a:avLst>
          </a:prstGeom>
          <a:solidFill>
            <a:srgbClr val="0C3F77"/>
          </a:solidFill>
          <a:ln w="12700">
            <a:solidFill>
              <a:srgbClr val="2E72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7824" y="5358384"/>
            <a:ext cx="274320" cy="27432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316736" y="5138928"/>
            <a:ext cx="10051999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 — прозрачность, полный аудит-трейл и устранение человеческого фактора в рутинных операциях.</a:t>
            </a:r>
            <a:endParaRPr lang="en-US" sz="1350" dirty="0"/>
          </a:p>
        </p:txBody>
      </p:sp>
      <p:sp>
        <p:nvSpPr>
          <p:cNvPr id="29" name="Shape 22"/>
          <p:cNvSpPr/>
          <p:nvPr/>
        </p:nvSpPr>
        <p:spPr>
          <a:xfrm>
            <a:off x="566928" y="6364224"/>
            <a:ext cx="11057839" cy="0"/>
          </a:xfrm>
          <a:prstGeom prst="line">
            <a:avLst/>
          </a:prstGeom>
          <a:noFill/>
          <a:ln w="12700">
            <a:solidFill>
              <a:srgbClr val="2836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0" name="Image 5" descr="/Users/asetseksenali/Downloads/efes/assets/efes-badge.png"/>
          <p:cNvPicPr>
            <a:picLocks noChangeAspect="1"/>
          </p:cNvPicPr>
          <p:nvPr/>
        </p:nvPicPr>
        <p:blipFill>
          <a:blip r:embed="rId9">
            <a:alphaModFix amt="65000"/>
          </a:blip>
          <a:stretch>
            <a:fillRect/>
          </a:stretch>
        </p:blipFill>
        <p:spPr>
          <a:xfrm>
            <a:off x="566928" y="6437376"/>
            <a:ext cx="219456" cy="219456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859536" y="640080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38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Efes Kazakhstan</a:t>
            </a:r>
            <a:endParaRPr lang="en-US" sz="850" dirty="0"/>
          </a:p>
        </p:txBody>
      </p:sp>
      <p:sp>
        <p:nvSpPr>
          <p:cNvPr id="32" name="Text 24"/>
          <p:cNvSpPr/>
          <p:nvPr/>
        </p:nvSpPr>
        <p:spPr>
          <a:xfrm>
            <a:off x="6858000" y="6400800"/>
            <a:ext cx="476676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38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Efes Nexus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89788"/>
            <a:ext cx="155448" cy="29261"/>
          </a:xfrm>
          <a:prstGeom prst="rect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95528" y="46634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116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 ПРОЦЕССОВ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786384"/>
            <a:ext cx="11057839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бизнес-процесса — в одной системе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66928" y="1426464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процесс описан в нотации BPMN. Следующий слайд показывает, какие шаги берёт на себя система.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6928" y="2240280"/>
            <a:ext cx="3442106" cy="2542032"/>
          </a:xfrm>
          <a:prstGeom prst="roundRect">
            <a:avLst>
              <a:gd name="adj" fmla="val 3237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59536" y="2496312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4C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2783738" y="2532888"/>
            <a:ext cx="932688" cy="274320"/>
          </a:xfrm>
          <a:prstGeom prst="roundRect">
            <a:avLst>
              <a:gd name="adj" fmla="val 50000"/>
            </a:avLst>
          </a:prstGeom>
          <a:solidFill>
            <a:srgbClr val="E3EEF8"/>
          </a:solidFill>
          <a:ln w="12700">
            <a:solidFill>
              <a:srgbClr val="9CC6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783738" y="2532888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4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Промо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59536" y="2990088"/>
            <a:ext cx="285689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Создание промо-активности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859536" y="3611880"/>
            <a:ext cx="285689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Запрос от Trade-маркетинга или On-trade → присвоение кода → запись в Panorama → уведомление партнёров.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74794" y="2240280"/>
            <a:ext cx="3442106" cy="2542032"/>
          </a:xfrm>
          <a:prstGeom prst="roundRect">
            <a:avLst>
              <a:gd name="adj" fmla="val 3237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667402" y="2496312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4C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591605" y="2532888"/>
            <a:ext cx="932688" cy="274320"/>
          </a:xfrm>
          <a:prstGeom prst="roundRect">
            <a:avLst>
              <a:gd name="adj" fmla="val 50000"/>
            </a:avLst>
          </a:prstGeom>
          <a:solidFill>
            <a:srgbClr val="E3EEF8"/>
          </a:solidFill>
          <a:ln w="12700">
            <a:solidFill>
              <a:srgbClr val="9CC6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591605" y="2532888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4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Промо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667402" y="2990088"/>
            <a:ext cx="285689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Изменение промо-активности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4667402" y="3611880"/>
            <a:ext cx="285689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Смена квоты, периода, добавление продукта или точки → правка в Panorama → синхронизация и уведомление.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182661" y="2240280"/>
            <a:ext cx="3442106" cy="2542032"/>
          </a:xfrm>
          <a:prstGeom prst="roundRect">
            <a:avLst>
              <a:gd name="adj" fmla="val 3237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475269" y="2496312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4C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10399471" y="2532888"/>
            <a:ext cx="932688" cy="274320"/>
          </a:xfrm>
          <a:prstGeom prst="roundRect">
            <a:avLst>
              <a:gd name="adj" fmla="val 50000"/>
            </a:avLst>
          </a:prstGeom>
          <a:solidFill>
            <a:srgbClr val="E3EEF8"/>
          </a:solidFill>
          <a:ln w="12700">
            <a:solidFill>
              <a:srgbClr val="9CC6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0399471" y="2532888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4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Закрытие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475269" y="2990088"/>
            <a:ext cx="285689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Закрытие месяца и расчёт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8475269" y="3611880"/>
            <a:ext cx="285689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Партнёр присылает «Запрос» → расчёт ∑(литры × цена периода) → AI-проверка → передача в Контроллинг.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66928" y="5102352"/>
            <a:ext cx="11057839" cy="749808"/>
          </a:xfrm>
          <a:prstGeom prst="roundRect">
            <a:avLst>
              <a:gd name="adj" fmla="val 10976"/>
            </a:avLst>
          </a:prstGeom>
          <a:solidFill>
            <a:srgbClr val="F1F6FB"/>
          </a:solidFill>
          <a:ln w="12700">
            <a:solidFill>
              <a:srgbClr val="E3EEF8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896112" y="5285232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E3E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96112" y="528523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Создание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639312" y="5285232"/>
            <a:ext cx="1084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CA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724248" y="5285232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E3E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724248" y="528523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Активно &amp; изменения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467448" y="5285232"/>
            <a:ext cx="1084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CA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552383" y="5285232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004C8D"/>
          </a:solidFill>
          <a:ln w="12700">
            <a:solidFill>
              <a:srgbClr val="004C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552383" y="528523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Закрытие месяца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66928" y="6364224"/>
            <a:ext cx="11057839" cy="0"/>
          </a:xfrm>
          <a:prstGeom prst="line">
            <a:avLst/>
          </a:prstGeom>
          <a:noFill/>
          <a:ln w="12700">
            <a:solidFill>
              <a:srgbClr val="E2E7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4" name="Image 0" descr="/Users/asetseksenali/Downloads/efes/assets/efes-bad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437376"/>
            <a:ext cx="219456" cy="219456"/>
          </a:xfrm>
          <a:prstGeom prst="rect">
            <a:avLst/>
          </a:prstGeom>
        </p:spPr>
      </p:pic>
      <p:sp>
        <p:nvSpPr>
          <p:cNvPr id="35" name="Text 32"/>
          <p:cNvSpPr/>
          <p:nvPr/>
        </p:nvSpPr>
        <p:spPr>
          <a:xfrm>
            <a:off x="859536" y="640080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Efes Kazakhstan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6858000" y="6400800"/>
            <a:ext cx="476676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B9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Efes Nexus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34924"/>
            <a:ext cx="155448" cy="29261"/>
          </a:xfrm>
          <a:prstGeom prst="rect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95528" y="411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116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BPMN · ПРОЦЕССЫ 01–03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11057839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Жизненный цикл промо-активности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66928" y="1316736"/>
            <a:ext cx="10789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Шаги BPMN-диаграммы. </a:t>
            </a:r>
            <a:r>
              <a:rPr lang="en-US" sz="1200" b="1" dirty="0">
                <a:solidFill>
                  <a:srgbClr val="004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Синим</a:t>
            </a:r>
            <a:r>
              <a:rPr lang="en-US" sz="120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выделено то, что выполняет система; </a:t>
            </a:r>
            <a:r>
              <a:rPr lang="en-US" sz="1200" b="1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серым</a:t>
            </a:r>
            <a:r>
              <a:rPr lang="en-US" sz="120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действия и решения человека.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66928" y="1737360"/>
            <a:ext cx="384048" cy="237744"/>
          </a:xfrm>
          <a:prstGeom prst="roundRect">
            <a:avLst>
              <a:gd name="adj" fmla="val 19231"/>
            </a:avLst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66928" y="1737360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60704" y="17190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Создание промо-активности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" y="2029968"/>
            <a:ext cx="1583893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66928" y="2121408"/>
            <a:ext cx="50292" cy="731520"/>
          </a:xfrm>
          <a:prstGeom prst="rect">
            <a:avLst/>
          </a:prstGeom>
          <a:solidFill>
            <a:srgbClr val="C2CA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13232" y="2157984"/>
            <a:ext cx="228600" cy="228600"/>
          </a:xfrm>
          <a:prstGeom prst="ellipse">
            <a:avLst/>
          </a:prstGeom>
          <a:solidFill>
            <a:srgbClr val="E5E9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13232" y="215798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661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005840" y="2157984"/>
            <a:ext cx="103525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TRADE-МАРКЕТИНГ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749808" y="2395728"/>
            <a:ext cx="125470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Канал, партнёр, продукты, квоты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758952" y="2779776"/>
            <a:ext cx="77724" cy="77724"/>
          </a:xfrm>
          <a:prstGeom prst="ellipse">
            <a:avLst/>
          </a:prstGeom>
          <a:solidFill>
            <a:srgbClr val="8B94A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86968" y="272491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B9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человек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150821" y="2029968"/>
            <a:ext cx="310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9C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461717" y="2029968"/>
            <a:ext cx="1583893" cy="914400"/>
          </a:xfrm>
          <a:prstGeom prst="roundRect">
            <a:avLst>
              <a:gd name="adj" fmla="val 7000"/>
            </a:avLst>
          </a:prstGeom>
          <a:solidFill>
            <a:srgbClr val="E3EEF8"/>
          </a:solidFill>
          <a:ln w="12700">
            <a:solidFill>
              <a:srgbClr val="9CC6E8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461717" y="2121408"/>
            <a:ext cx="50292" cy="731520"/>
          </a:xfrm>
          <a:prstGeom prst="rect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608021" y="2157984"/>
            <a:ext cx="228600" cy="228600"/>
          </a:xfrm>
          <a:prstGeom prst="ellipse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608021" y="215798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900629" y="2157984"/>
            <a:ext cx="103525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" dirty="0">
                <a:solidFill>
                  <a:srgbClr val="116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644597" y="2395728"/>
            <a:ext cx="125470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наличия продукта на складе</a:t>
            </a:r>
            <a:endParaRPr lang="en-US" sz="850" dirty="0"/>
          </a:p>
        </p:txBody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4597" y="2761488"/>
            <a:ext cx="109728" cy="109728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2790901" y="272491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4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4045610" y="2029968"/>
            <a:ext cx="310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CA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4356506" y="2029968"/>
            <a:ext cx="1583893" cy="914400"/>
          </a:xfrm>
          <a:prstGeom prst="roundRect">
            <a:avLst>
              <a:gd name="adj" fmla="val 7000"/>
            </a:avLst>
          </a:prstGeom>
          <a:solidFill>
            <a:srgbClr val="E3EEF8"/>
          </a:solidFill>
          <a:ln w="12700">
            <a:solidFill>
              <a:srgbClr val="9CC6E8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4356506" y="2121408"/>
            <a:ext cx="50292" cy="731520"/>
          </a:xfrm>
          <a:prstGeom prst="rect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4502810" y="2157984"/>
            <a:ext cx="228600" cy="228600"/>
          </a:xfrm>
          <a:prstGeom prst="ellipse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4502810" y="215798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4795418" y="2157984"/>
            <a:ext cx="103525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b="1" kern="0" spc="30" dirty="0">
                <a:solidFill>
                  <a:srgbClr val="116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4539386" y="2395728"/>
            <a:ext cx="125470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Присвоение кода PR-##### </a:t>
            </a:r>
            <a:r>
              <a:rPr lang="ru-RU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проверка на дубли</a:t>
            </a:r>
            <a:endParaRPr lang="en-US" sz="850" dirty="0"/>
          </a:p>
        </p:txBody>
      </p:sp>
      <p:pic>
        <p:nvPicPr>
          <p:cNvPr id="3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9386" y="2761488"/>
            <a:ext cx="109728" cy="109728"/>
          </a:xfrm>
          <a:prstGeom prst="rect">
            <a:avLst/>
          </a:prstGeom>
        </p:spPr>
      </p:pic>
      <p:sp>
        <p:nvSpPr>
          <p:cNvPr id="34" name="Text 30"/>
          <p:cNvSpPr/>
          <p:nvPr/>
        </p:nvSpPr>
        <p:spPr>
          <a:xfrm>
            <a:off x="4685690" y="272491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4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</a:t>
            </a:r>
            <a:endParaRPr lang="en-US" sz="850" dirty="0"/>
          </a:p>
        </p:txBody>
      </p:sp>
      <p:sp>
        <p:nvSpPr>
          <p:cNvPr id="35" name="Text 31"/>
          <p:cNvSpPr/>
          <p:nvPr/>
        </p:nvSpPr>
        <p:spPr>
          <a:xfrm>
            <a:off x="5940400" y="2029968"/>
            <a:ext cx="310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CA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36" name="Shape 32"/>
          <p:cNvSpPr/>
          <p:nvPr/>
        </p:nvSpPr>
        <p:spPr>
          <a:xfrm>
            <a:off x="6251296" y="2029968"/>
            <a:ext cx="1583893" cy="914400"/>
          </a:xfrm>
          <a:prstGeom prst="roundRect">
            <a:avLst>
              <a:gd name="adj" fmla="val 7000"/>
            </a:avLst>
          </a:prstGeom>
          <a:solidFill>
            <a:srgbClr val="E3EEF8"/>
          </a:solidFill>
          <a:ln w="12700">
            <a:solidFill>
              <a:srgbClr val="9CC6E8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3"/>
          <p:cNvSpPr/>
          <p:nvPr/>
        </p:nvSpPr>
        <p:spPr>
          <a:xfrm>
            <a:off x="6251296" y="2121408"/>
            <a:ext cx="50292" cy="731520"/>
          </a:xfrm>
          <a:prstGeom prst="rect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4"/>
          <p:cNvSpPr/>
          <p:nvPr/>
        </p:nvSpPr>
        <p:spPr>
          <a:xfrm>
            <a:off x="6397600" y="2157984"/>
            <a:ext cx="228600" cy="228600"/>
          </a:xfrm>
          <a:prstGeom prst="ellipse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5"/>
          <p:cNvSpPr/>
          <p:nvPr/>
        </p:nvSpPr>
        <p:spPr>
          <a:xfrm>
            <a:off x="6397600" y="215798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50" dirty="0"/>
          </a:p>
        </p:txBody>
      </p:sp>
      <p:sp>
        <p:nvSpPr>
          <p:cNvPr id="40" name="Text 36"/>
          <p:cNvSpPr/>
          <p:nvPr/>
        </p:nvSpPr>
        <p:spPr>
          <a:xfrm>
            <a:off x="6690208" y="2157984"/>
            <a:ext cx="103525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b="1" kern="0" spc="30" dirty="0">
                <a:solidFill>
                  <a:srgbClr val="116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</a:t>
            </a:r>
            <a:endParaRPr lang="en-US" sz="850" dirty="0"/>
          </a:p>
        </p:txBody>
      </p:sp>
      <p:sp>
        <p:nvSpPr>
          <p:cNvPr id="41" name="Text 37"/>
          <p:cNvSpPr/>
          <p:nvPr/>
        </p:nvSpPr>
        <p:spPr>
          <a:xfrm>
            <a:off x="6434176" y="2395728"/>
            <a:ext cx="125470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Составление Excel-файла промо</a:t>
            </a:r>
            <a:endParaRPr lang="en-US" sz="850" dirty="0"/>
          </a:p>
        </p:txBody>
      </p:sp>
      <p:pic>
        <p:nvPicPr>
          <p:cNvPr id="4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4176" y="2761488"/>
            <a:ext cx="109728" cy="109728"/>
          </a:xfrm>
          <a:prstGeom prst="rect">
            <a:avLst/>
          </a:prstGeom>
        </p:spPr>
      </p:pic>
      <p:sp>
        <p:nvSpPr>
          <p:cNvPr id="43" name="Text 38"/>
          <p:cNvSpPr/>
          <p:nvPr/>
        </p:nvSpPr>
        <p:spPr>
          <a:xfrm>
            <a:off x="6580480" y="272491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4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</a:t>
            </a:r>
            <a:endParaRPr lang="en-US" sz="850" dirty="0"/>
          </a:p>
        </p:txBody>
      </p:sp>
      <p:sp>
        <p:nvSpPr>
          <p:cNvPr id="44" name="Text 39"/>
          <p:cNvSpPr/>
          <p:nvPr/>
        </p:nvSpPr>
        <p:spPr>
          <a:xfrm>
            <a:off x="7835189" y="2029968"/>
            <a:ext cx="310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CA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45" name="Shape 40"/>
          <p:cNvSpPr/>
          <p:nvPr/>
        </p:nvSpPr>
        <p:spPr>
          <a:xfrm>
            <a:off x="8146085" y="2029968"/>
            <a:ext cx="1583893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6" name="Shape 41"/>
          <p:cNvSpPr/>
          <p:nvPr/>
        </p:nvSpPr>
        <p:spPr>
          <a:xfrm>
            <a:off x="8146085" y="2121408"/>
            <a:ext cx="50292" cy="731520"/>
          </a:xfrm>
          <a:prstGeom prst="rect">
            <a:avLst/>
          </a:prstGeom>
          <a:solidFill>
            <a:srgbClr val="C2CA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42"/>
          <p:cNvSpPr/>
          <p:nvPr/>
        </p:nvSpPr>
        <p:spPr>
          <a:xfrm>
            <a:off x="8292389" y="2157984"/>
            <a:ext cx="228600" cy="228600"/>
          </a:xfrm>
          <a:prstGeom prst="ellipse">
            <a:avLst/>
          </a:prstGeom>
          <a:solidFill>
            <a:srgbClr val="E5E9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3"/>
          <p:cNvSpPr/>
          <p:nvPr/>
        </p:nvSpPr>
        <p:spPr>
          <a:xfrm>
            <a:off x="8292389" y="215798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661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950" dirty="0"/>
          </a:p>
        </p:txBody>
      </p:sp>
      <p:sp>
        <p:nvSpPr>
          <p:cNvPr id="49" name="Text 44"/>
          <p:cNvSpPr/>
          <p:nvPr/>
        </p:nvSpPr>
        <p:spPr>
          <a:xfrm>
            <a:off x="8584997" y="2157984"/>
            <a:ext cx="103525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CRM-СПЕЦИАЛИСТ</a:t>
            </a:r>
            <a:endParaRPr lang="en-US" sz="850" dirty="0"/>
          </a:p>
        </p:txBody>
      </p:sp>
      <p:sp>
        <p:nvSpPr>
          <p:cNvPr id="50" name="Text 45"/>
          <p:cNvSpPr/>
          <p:nvPr/>
        </p:nvSpPr>
        <p:spPr>
          <a:xfrm>
            <a:off x="8328965" y="2395728"/>
            <a:ext cx="125470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Создание промо-активности в Panorama</a:t>
            </a:r>
            <a:endParaRPr lang="en-US" sz="850" dirty="0"/>
          </a:p>
        </p:txBody>
      </p:sp>
      <p:sp>
        <p:nvSpPr>
          <p:cNvPr id="51" name="Shape 46"/>
          <p:cNvSpPr/>
          <p:nvPr/>
        </p:nvSpPr>
        <p:spPr>
          <a:xfrm>
            <a:off x="8338109" y="2779776"/>
            <a:ext cx="77724" cy="77724"/>
          </a:xfrm>
          <a:prstGeom prst="ellipse">
            <a:avLst/>
          </a:prstGeom>
          <a:solidFill>
            <a:srgbClr val="8B94A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47"/>
          <p:cNvSpPr/>
          <p:nvPr/>
        </p:nvSpPr>
        <p:spPr>
          <a:xfrm>
            <a:off x="8466125" y="272491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B9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человек</a:t>
            </a:r>
            <a:endParaRPr lang="en-US" sz="850" dirty="0"/>
          </a:p>
        </p:txBody>
      </p:sp>
      <p:sp>
        <p:nvSpPr>
          <p:cNvPr id="53" name="Text 48"/>
          <p:cNvSpPr/>
          <p:nvPr/>
        </p:nvSpPr>
        <p:spPr>
          <a:xfrm>
            <a:off x="9729978" y="2029968"/>
            <a:ext cx="310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9C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54" name="Shape 49"/>
          <p:cNvSpPr/>
          <p:nvPr/>
        </p:nvSpPr>
        <p:spPr>
          <a:xfrm>
            <a:off x="10040874" y="2029968"/>
            <a:ext cx="1583893" cy="914400"/>
          </a:xfrm>
          <a:prstGeom prst="roundRect">
            <a:avLst>
              <a:gd name="adj" fmla="val 7000"/>
            </a:avLst>
          </a:prstGeom>
          <a:solidFill>
            <a:srgbClr val="E3EEF8"/>
          </a:solidFill>
          <a:ln w="12700">
            <a:solidFill>
              <a:srgbClr val="9CC6E8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5" name="Shape 50"/>
          <p:cNvSpPr/>
          <p:nvPr/>
        </p:nvSpPr>
        <p:spPr>
          <a:xfrm>
            <a:off x="10040874" y="2121408"/>
            <a:ext cx="50292" cy="731520"/>
          </a:xfrm>
          <a:prstGeom prst="rect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Shape 51"/>
          <p:cNvSpPr/>
          <p:nvPr/>
        </p:nvSpPr>
        <p:spPr>
          <a:xfrm>
            <a:off x="10187178" y="2157984"/>
            <a:ext cx="228600" cy="228600"/>
          </a:xfrm>
          <a:prstGeom prst="ellipse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2"/>
          <p:cNvSpPr/>
          <p:nvPr/>
        </p:nvSpPr>
        <p:spPr>
          <a:xfrm>
            <a:off x="10187178" y="215798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950" dirty="0"/>
          </a:p>
        </p:txBody>
      </p:sp>
      <p:sp>
        <p:nvSpPr>
          <p:cNvPr id="58" name="Text 53"/>
          <p:cNvSpPr/>
          <p:nvPr/>
        </p:nvSpPr>
        <p:spPr>
          <a:xfrm>
            <a:off x="10479786" y="2157984"/>
            <a:ext cx="103525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b="1" kern="0" spc="30" dirty="0">
                <a:solidFill>
                  <a:srgbClr val="116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</a:t>
            </a:r>
            <a:endParaRPr lang="en-US" sz="850" dirty="0"/>
          </a:p>
        </p:txBody>
      </p:sp>
      <p:sp>
        <p:nvSpPr>
          <p:cNvPr id="59" name="Text 54"/>
          <p:cNvSpPr/>
          <p:nvPr/>
        </p:nvSpPr>
        <p:spPr>
          <a:xfrm>
            <a:off x="10223754" y="2395728"/>
            <a:ext cx="125470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Авто-уведомление партнёров письмом</a:t>
            </a:r>
            <a:endParaRPr lang="en-US" sz="850" dirty="0"/>
          </a:p>
        </p:txBody>
      </p:sp>
      <p:pic>
        <p:nvPicPr>
          <p:cNvPr id="60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3754" y="2761488"/>
            <a:ext cx="109728" cy="109728"/>
          </a:xfrm>
          <a:prstGeom prst="rect">
            <a:avLst/>
          </a:prstGeom>
        </p:spPr>
      </p:pic>
      <p:sp>
        <p:nvSpPr>
          <p:cNvPr id="61" name="Text 55"/>
          <p:cNvSpPr/>
          <p:nvPr/>
        </p:nvSpPr>
        <p:spPr>
          <a:xfrm>
            <a:off x="10370058" y="272491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4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</a:t>
            </a:r>
            <a:endParaRPr lang="en-US" sz="850" dirty="0"/>
          </a:p>
        </p:txBody>
      </p:sp>
      <p:sp>
        <p:nvSpPr>
          <p:cNvPr id="62" name="Shape 56"/>
          <p:cNvSpPr/>
          <p:nvPr/>
        </p:nvSpPr>
        <p:spPr>
          <a:xfrm>
            <a:off x="566928" y="3127248"/>
            <a:ext cx="384048" cy="237744"/>
          </a:xfrm>
          <a:prstGeom prst="roundRect">
            <a:avLst>
              <a:gd name="adj" fmla="val 19231"/>
            </a:avLst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Text 57"/>
          <p:cNvSpPr/>
          <p:nvPr/>
        </p:nvSpPr>
        <p:spPr>
          <a:xfrm>
            <a:off x="566928" y="3127248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100" dirty="0"/>
          </a:p>
        </p:txBody>
      </p:sp>
      <p:sp>
        <p:nvSpPr>
          <p:cNvPr id="64" name="Text 58"/>
          <p:cNvSpPr/>
          <p:nvPr/>
        </p:nvSpPr>
        <p:spPr>
          <a:xfrm>
            <a:off x="1060704" y="3108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Изменение промо-активности</a:t>
            </a:r>
            <a:endParaRPr lang="en-US" sz="1200" dirty="0"/>
          </a:p>
        </p:txBody>
      </p:sp>
      <p:sp>
        <p:nvSpPr>
          <p:cNvPr id="65" name="Shape 59"/>
          <p:cNvSpPr/>
          <p:nvPr/>
        </p:nvSpPr>
        <p:spPr>
          <a:xfrm>
            <a:off x="2461717" y="3419856"/>
            <a:ext cx="1583893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6" name="Shape 60"/>
          <p:cNvSpPr/>
          <p:nvPr/>
        </p:nvSpPr>
        <p:spPr>
          <a:xfrm>
            <a:off x="2461717" y="3511296"/>
            <a:ext cx="50292" cy="731520"/>
          </a:xfrm>
          <a:prstGeom prst="rect">
            <a:avLst/>
          </a:prstGeom>
          <a:solidFill>
            <a:srgbClr val="C2CA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Shape 61"/>
          <p:cNvSpPr/>
          <p:nvPr/>
        </p:nvSpPr>
        <p:spPr>
          <a:xfrm>
            <a:off x="2608021" y="3547872"/>
            <a:ext cx="228600" cy="228600"/>
          </a:xfrm>
          <a:prstGeom prst="ellipse">
            <a:avLst/>
          </a:prstGeom>
          <a:solidFill>
            <a:srgbClr val="E5E9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Text 62"/>
          <p:cNvSpPr/>
          <p:nvPr/>
        </p:nvSpPr>
        <p:spPr>
          <a:xfrm>
            <a:off x="2608021" y="354787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661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50" dirty="0"/>
          </a:p>
        </p:txBody>
      </p:sp>
      <p:sp>
        <p:nvSpPr>
          <p:cNvPr id="69" name="Text 63"/>
          <p:cNvSpPr/>
          <p:nvPr/>
        </p:nvSpPr>
        <p:spPr>
          <a:xfrm>
            <a:off x="2900629" y="3547872"/>
            <a:ext cx="103525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 / ON-TRADE</a:t>
            </a:r>
            <a:endParaRPr lang="en-US" sz="850" dirty="0"/>
          </a:p>
        </p:txBody>
      </p:sp>
      <p:sp>
        <p:nvSpPr>
          <p:cNvPr id="70" name="Text 64"/>
          <p:cNvSpPr/>
          <p:nvPr/>
        </p:nvSpPr>
        <p:spPr>
          <a:xfrm>
            <a:off x="2644597" y="3785616"/>
            <a:ext cx="125470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Запрос: квота, период или продукт</a:t>
            </a:r>
            <a:endParaRPr lang="en-US" sz="850" dirty="0"/>
          </a:p>
        </p:txBody>
      </p:sp>
      <p:sp>
        <p:nvSpPr>
          <p:cNvPr id="71" name="Shape 65"/>
          <p:cNvSpPr/>
          <p:nvPr/>
        </p:nvSpPr>
        <p:spPr>
          <a:xfrm>
            <a:off x="2653741" y="4169664"/>
            <a:ext cx="77724" cy="77724"/>
          </a:xfrm>
          <a:prstGeom prst="ellipse">
            <a:avLst/>
          </a:prstGeom>
          <a:solidFill>
            <a:srgbClr val="8B94A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Text 66"/>
          <p:cNvSpPr/>
          <p:nvPr/>
        </p:nvSpPr>
        <p:spPr>
          <a:xfrm>
            <a:off x="2781757" y="411480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B9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человек</a:t>
            </a:r>
            <a:endParaRPr lang="en-US" sz="850" dirty="0"/>
          </a:p>
        </p:txBody>
      </p:sp>
      <p:sp>
        <p:nvSpPr>
          <p:cNvPr id="73" name="Text 67"/>
          <p:cNvSpPr/>
          <p:nvPr/>
        </p:nvSpPr>
        <p:spPr>
          <a:xfrm>
            <a:off x="4045610" y="3419856"/>
            <a:ext cx="310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9C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74" name="Shape 68"/>
          <p:cNvSpPr/>
          <p:nvPr/>
        </p:nvSpPr>
        <p:spPr>
          <a:xfrm>
            <a:off x="4356506" y="3419856"/>
            <a:ext cx="1583893" cy="914400"/>
          </a:xfrm>
          <a:prstGeom prst="roundRect">
            <a:avLst>
              <a:gd name="adj" fmla="val 7000"/>
            </a:avLst>
          </a:prstGeom>
          <a:solidFill>
            <a:srgbClr val="E3EEF8"/>
          </a:solidFill>
          <a:ln w="12700">
            <a:solidFill>
              <a:srgbClr val="9CC6E8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5" name="Shape 69"/>
          <p:cNvSpPr/>
          <p:nvPr/>
        </p:nvSpPr>
        <p:spPr>
          <a:xfrm>
            <a:off x="4356506" y="3511296"/>
            <a:ext cx="50292" cy="731520"/>
          </a:xfrm>
          <a:prstGeom prst="rect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6" name="Shape 70"/>
          <p:cNvSpPr/>
          <p:nvPr/>
        </p:nvSpPr>
        <p:spPr>
          <a:xfrm>
            <a:off x="4502810" y="3547872"/>
            <a:ext cx="228600" cy="228600"/>
          </a:xfrm>
          <a:prstGeom prst="ellipse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" name="Text 71"/>
          <p:cNvSpPr/>
          <p:nvPr/>
        </p:nvSpPr>
        <p:spPr>
          <a:xfrm>
            <a:off x="4502810" y="354787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50" dirty="0"/>
          </a:p>
        </p:txBody>
      </p:sp>
      <p:sp>
        <p:nvSpPr>
          <p:cNvPr id="78" name="Text 72"/>
          <p:cNvSpPr/>
          <p:nvPr/>
        </p:nvSpPr>
        <p:spPr>
          <a:xfrm>
            <a:off x="4795418" y="3547872"/>
            <a:ext cx="103525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b="1" kern="0" spc="30" dirty="0">
                <a:solidFill>
                  <a:srgbClr val="116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</a:t>
            </a:r>
            <a:endParaRPr lang="en-US" sz="850" dirty="0"/>
          </a:p>
        </p:txBody>
      </p:sp>
      <p:sp>
        <p:nvSpPr>
          <p:cNvPr id="79" name="Text 73"/>
          <p:cNvSpPr/>
          <p:nvPr/>
        </p:nvSpPr>
        <p:spPr>
          <a:xfrm>
            <a:off x="4539386" y="3785616"/>
            <a:ext cx="125470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Обновление Excel-файла с изменениями</a:t>
            </a:r>
            <a:endParaRPr lang="en-US" sz="850" dirty="0"/>
          </a:p>
        </p:txBody>
      </p:sp>
      <p:pic>
        <p:nvPicPr>
          <p:cNvPr id="80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9386" y="4151376"/>
            <a:ext cx="109728" cy="109728"/>
          </a:xfrm>
          <a:prstGeom prst="rect">
            <a:avLst/>
          </a:prstGeom>
        </p:spPr>
      </p:pic>
      <p:sp>
        <p:nvSpPr>
          <p:cNvPr id="81" name="Text 74"/>
          <p:cNvSpPr/>
          <p:nvPr/>
        </p:nvSpPr>
        <p:spPr>
          <a:xfrm>
            <a:off x="4685690" y="411480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4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</a:t>
            </a:r>
            <a:endParaRPr lang="en-US" sz="850" dirty="0"/>
          </a:p>
        </p:txBody>
      </p:sp>
      <p:sp>
        <p:nvSpPr>
          <p:cNvPr id="82" name="Text 75"/>
          <p:cNvSpPr/>
          <p:nvPr/>
        </p:nvSpPr>
        <p:spPr>
          <a:xfrm>
            <a:off x="5940400" y="3419856"/>
            <a:ext cx="310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CA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83" name="Shape 76"/>
          <p:cNvSpPr/>
          <p:nvPr/>
        </p:nvSpPr>
        <p:spPr>
          <a:xfrm>
            <a:off x="6251296" y="3419856"/>
            <a:ext cx="1583893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4" name="Shape 77"/>
          <p:cNvSpPr/>
          <p:nvPr/>
        </p:nvSpPr>
        <p:spPr>
          <a:xfrm>
            <a:off x="6251296" y="3511296"/>
            <a:ext cx="50292" cy="731520"/>
          </a:xfrm>
          <a:prstGeom prst="rect">
            <a:avLst/>
          </a:prstGeom>
          <a:solidFill>
            <a:srgbClr val="C2CA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5" name="Shape 78"/>
          <p:cNvSpPr/>
          <p:nvPr/>
        </p:nvSpPr>
        <p:spPr>
          <a:xfrm>
            <a:off x="6397600" y="3547872"/>
            <a:ext cx="228600" cy="228600"/>
          </a:xfrm>
          <a:prstGeom prst="ellipse">
            <a:avLst/>
          </a:prstGeom>
          <a:solidFill>
            <a:srgbClr val="E5E9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6" name="Text 79"/>
          <p:cNvSpPr/>
          <p:nvPr/>
        </p:nvSpPr>
        <p:spPr>
          <a:xfrm>
            <a:off x="6397600" y="354787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661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50" dirty="0"/>
          </a:p>
        </p:txBody>
      </p:sp>
      <p:sp>
        <p:nvSpPr>
          <p:cNvPr id="87" name="Text 80"/>
          <p:cNvSpPr/>
          <p:nvPr/>
        </p:nvSpPr>
        <p:spPr>
          <a:xfrm>
            <a:off x="6690208" y="3547872"/>
            <a:ext cx="103525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CRM-СПЕЦИАЛИСТ</a:t>
            </a:r>
            <a:endParaRPr lang="en-US" sz="850" dirty="0"/>
          </a:p>
        </p:txBody>
      </p:sp>
      <p:sp>
        <p:nvSpPr>
          <p:cNvPr id="88" name="Text 81"/>
          <p:cNvSpPr/>
          <p:nvPr/>
        </p:nvSpPr>
        <p:spPr>
          <a:xfrm>
            <a:off x="6434176" y="3785616"/>
            <a:ext cx="125470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Правка промо-активности в Panorama</a:t>
            </a:r>
            <a:endParaRPr lang="en-US" sz="850" dirty="0"/>
          </a:p>
        </p:txBody>
      </p:sp>
      <p:sp>
        <p:nvSpPr>
          <p:cNvPr id="89" name="Shape 82"/>
          <p:cNvSpPr/>
          <p:nvPr/>
        </p:nvSpPr>
        <p:spPr>
          <a:xfrm>
            <a:off x="6443320" y="4169664"/>
            <a:ext cx="77724" cy="77724"/>
          </a:xfrm>
          <a:prstGeom prst="ellipse">
            <a:avLst/>
          </a:prstGeom>
          <a:solidFill>
            <a:srgbClr val="8B94A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0" name="Text 83"/>
          <p:cNvSpPr/>
          <p:nvPr/>
        </p:nvSpPr>
        <p:spPr>
          <a:xfrm>
            <a:off x="6571336" y="411480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B9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человек</a:t>
            </a:r>
            <a:endParaRPr lang="en-US" sz="850" dirty="0"/>
          </a:p>
        </p:txBody>
      </p:sp>
      <p:sp>
        <p:nvSpPr>
          <p:cNvPr id="91" name="Text 84"/>
          <p:cNvSpPr/>
          <p:nvPr/>
        </p:nvSpPr>
        <p:spPr>
          <a:xfrm>
            <a:off x="7835189" y="3419856"/>
            <a:ext cx="310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9C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92" name="Shape 85"/>
          <p:cNvSpPr/>
          <p:nvPr/>
        </p:nvSpPr>
        <p:spPr>
          <a:xfrm>
            <a:off x="8146085" y="3419856"/>
            <a:ext cx="1583893" cy="914400"/>
          </a:xfrm>
          <a:prstGeom prst="roundRect">
            <a:avLst>
              <a:gd name="adj" fmla="val 7000"/>
            </a:avLst>
          </a:prstGeom>
          <a:solidFill>
            <a:srgbClr val="E3EEF8"/>
          </a:solidFill>
          <a:ln w="12700">
            <a:solidFill>
              <a:srgbClr val="9CC6E8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3" name="Shape 86"/>
          <p:cNvSpPr/>
          <p:nvPr/>
        </p:nvSpPr>
        <p:spPr>
          <a:xfrm>
            <a:off x="8146085" y="3511296"/>
            <a:ext cx="50292" cy="731520"/>
          </a:xfrm>
          <a:prstGeom prst="rect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4" name="Shape 87"/>
          <p:cNvSpPr/>
          <p:nvPr/>
        </p:nvSpPr>
        <p:spPr>
          <a:xfrm>
            <a:off x="8292389" y="3547872"/>
            <a:ext cx="228600" cy="228600"/>
          </a:xfrm>
          <a:prstGeom prst="ellipse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5" name="Text 88"/>
          <p:cNvSpPr/>
          <p:nvPr/>
        </p:nvSpPr>
        <p:spPr>
          <a:xfrm>
            <a:off x="8292389" y="354787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50" dirty="0"/>
          </a:p>
        </p:txBody>
      </p:sp>
      <p:sp>
        <p:nvSpPr>
          <p:cNvPr id="96" name="Text 89"/>
          <p:cNvSpPr/>
          <p:nvPr/>
        </p:nvSpPr>
        <p:spPr>
          <a:xfrm>
            <a:off x="8584997" y="3547872"/>
            <a:ext cx="103525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b="1" kern="0" spc="30" dirty="0">
                <a:solidFill>
                  <a:srgbClr val="116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</a:t>
            </a:r>
            <a:endParaRPr lang="en-US" sz="850" dirty="0"/>
          </a:p>
        </p:txBody>
      </p:sp>
      <p:sp>
        <p:nvSpPr>
          <p:cNvPr id="97" name="Text 90"/>
          <p:cNvSpPr/>
          <p:nvPr/>
        </p:nvSpPr>
        <p:spPr>
          <a:xfrm>
            <a:off x="8328965" y="3785616"/>
            <a:ext cx="125470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Синхронизация и уведомление партнёров</a:t>
            </a:r>
            <a:endParaRPr lang="en-US" sz="850" dirty="0"/>
          </a:p>
        </p:txBody>
      </p:sp>
      <p:pic>
        <p:nvPicPr>
          <p:cNvPr id="98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8965" y="4151376"/>
            <a:ext cx="109728" cy="109728"/>
          </a:xfrm>
          <a:prstGeom prst="rect">
            <a:avLst/>
          </a:prstGeom>
        </p:spPr>
      </p:pic>
      <p:sp>
        <p:nvSpPr>
          <p:cNvPr id="99" name="Text 91"/>
          <p:cNvSpPr/>
          <p:nvPr/>
        </p:nvSpPr>
        <p:spPr>
          <a:xfrm>
            <a:off x="8475269" y="411480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4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</a:t>
            </a:r>
            <a:endParaRPr lang="en-US" sz="850" dirty="0"/>
          </a:p>
        </p:txBody>
      </p:sp>
      <p:sp>
        <p:nvSpPr>
          <p:cNvPr id="100" name="Shape 92"/>
          <p:cNvSpPr/>
          <p:nvPr/>
        </p:nvSpPr>
        <p:spPr>
          <a:xfrm>
            <a:off x="566928" y="4517136"/>
            <a:ext cx="384048" cy="237744"/>
          </a:xfrm>
          <a:prstGeom prst="roundRect">
            <a:avLst>
              <a:gd name="adj" fmla="val 19231"/>
            </a:avLst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1" name="Text 93"/>
          <p:cNvSpPr/>
          <p:nvPr/>
        </p:nvSpPr>
        <p:spPr>
          <a:xfrm>
            <a:off x="566928" y="4517136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100" dirty="0"/>
          </a:p>
        </p:txBody>
      </p:sp>
      <p:sp>
        <p:nvSpPr>
          <p:cNvPr id="102" name="Text 94"/>
          <p:cNvSpPr/>
          <p:nvPr/>
        </p:nvSpPr>
        <p:spPr>
          <a:xfrm>
            <a:off x="1060704" y="44988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Закрытие месяца и расчёт</a:t>
            </a:r>
            <a:endParaRPr lang="en-US" sz="1200" dirty="0"/>
          </a:p>
        </p:txBody>
      </p:sp>
      <p:sp>
        <p:nvSpPr>
          <p:cNvPr id="103" name="Shape 95"/>
          <p:cNvSpPr/>
          <p:nvPr/>
        </p:nvSpPr>
        <p:spPr>
          <a:xfrm>
            <a:off x="3409112" y="4809744"/>
            <a:ext cx="1583893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4" name="Shape 96"/>
          <p:cNvSpPr/>
          <p:nvPr/>
        </p:nvSpPr>
        <p:spPr>
          <a:xfrm>
            <a:off x="3409112" y="4901184"/>
            <a:ext cx="50292" cy="731520"/>
          </a:xfrm>
          <a:prstGeom prst="rect">
            <a:avLst/>
          </a:prstGeom>
          <a:solidFill>
            <a:srgbClr val="C2CA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5" name="Shape 97"/>
          <p:cNvSpPr/>
          <p:nvPr/>
        </p:nvSpPr>
        <p:spPr>
          <a:xfrm>
            <a:off x="3555416" y="4937760"/>
            <a:ext cx="228600" cy="228600"/>
          </a:xfrm>
          <a:prstGeom prst="ellipse">
            <a:avLst/>
          </a:prstGeom>
          <a:solidFill>
            <a:srgbClr val="E5E9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6" name="Text 98"/>
          <p:cNvSpPr/>
          <p:nvPr/>
        </p:nvSpPr>
        <p:spPr>
          <a:xfrm>
            <a:off x="3555416" y="49377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661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50" dirty="0"/>
          </a:p>
        </p:txBody>
      </p:sp>
      <p:sp>
        <p:nvSpPr>
          <p:cNvPr id="107" name="Text 99"/>
          <p:cNvSpPr/>
          <p:nvPr/>
        </p:nvSpPr>
        <p:spPr>
          <a:xfrm>
            <a:off x="3848024" y="4937760"/>
            <a:ext cx="103525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ПАРТНЁР</a:t>
            </a:r>
            <a:endParaRPr lang="en-US" sz="850" dirty="0"/>
          </a:p>
        </p:txBody>
      </p:sp>
      <p:sp>
        <p:nvSpPr>
          <p:cNvPr id="108" name="Text 100"/>
          <p:cNvSpPr/>
          <p:nvPr/>
        </p:nvSpPr>
        <p:spPr>
          <a:xfrm>
            <a:off x="3591992" y="5175504"/>
            <a:ext cx="125470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«Запрос»: проданные литры по промо</a:t>
            </a:r>
            <a:endParaRPr lang="en-US" sz="850" dirty="0"/>
          </a:p>
        </p:txBody>
      </p:sp>
      <p:sp>
        <p:nvSpPr>
          <p:cNvPr id="109" name="Shape 101"/>
          <p:cNvSpPr/>
          <p:nvPr/>
        </p:nvSpPr>
        <p:spPr>
          <a:xfrm>
            <a:off x="3601136" y="5559552"/>
            <a:ext cx="77724" cy="77724"/>
          </a:xfrm>
          <a:prstGeom prst="ellipse">
            <a:avLst/>
          </a:prstGeom>
          <a:solidFill>
            <a:srgbClr val="8B94A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0" name="Text 102"/>
          <p:cNvSpPr/>
          <p:nvPr/>
        </p:nvSpPr>
        <p:spPr>
          <a:xfrm>
            <a:off x="3729152" y="550468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B9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человек</a:t>
            </a:r>
            <a:endParaRPr lang="en-US" sz="850" dirty="0"/>
          </a:p>
        </p:txBody>
      </p:sp>
      <p:sp>
        <p:nvSpPr>
          <p:cNvPr id="111" name="Text 103"/>
          <p:cNvSpPr/>
          <p:nvPr/>
        </p:nvSpPr>
        <p:spPr>
          <a:xfrm>
            <a:off x="4993005" y="4809744"/>
            <a:ext cx="310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9C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12" name="Shape 104"/>
          <p:cNvSpPr/>
          <p:nvPr/>
        </p:nvSpPr>
        <p:spPr>
          <a:xfrm>
            <a:off x="5303901" y="4809744"/>
            <a:ext cx="1583893" cy="914400"/>
          </a:xfrm>
          <a:prstGeom prst="roundRect">
            <a:avLst>
              <a:gd name="adj" fmla="val 7000"/>
            </a:avLst>
          </a:prstGeom>
          <a:solidFill>
            <a:srgbClr val="E3EEF8"/>
          </a:solidFill>
          <a:ln w="12700">
            <a:solidFill>
              <a:srgbClr val="9CC6E8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3" name="Shape 105"/>
          <p:cNvSpPr/>
          <p:nvPr/>
        </p:nvSpPr>
        <p:spPr>
          <a:xfrm>
            <a:off x="5303901" y="4901184"/>
            <a:ext cx="50292" cy="731520"/>
          </a:xfrm>
          <a:prstGeom prst="rect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4" name="Shape 106"/>
          <p:cNvSpPr/>
          <p:nvPr/>
        </p:nvSpPr>
        <p:spPr>
          <a:xfrm>
            <a:off x="5450205" y="4937760"/>
            <a:ext cx="228600" cy="228600"/>
          </a:xfrm>
          <a:prstGeom prst="ellipse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5" name="Text 107"/>
          <p:cNvSpPr/>
          <p:nvPr/>
        </p:nvSpPr>
        <p:spPr>
          <a:xfrm>
            <a:off x="5450205" y="49377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50" dirty="0"/>
          </a:p>
        </p:txBody>
      </p:sp>
      <p:sp>
        <p:nvSpPr>
          <p:cNvPr id="116" name="Text 108"/>
          <p:cNvSpPr/>
          <p:nvPr/>
        </p:nvSpPr>
        <p:spPr>
          <a:xfrm>
            <a:off x="5742813" y="4937760"/>
            <a:ext cx="103525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b="1" kern="0" spc="30" dirty="0">
                <a:solidFill>
                  <a:srgbClr val="116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</a:t>
            </a:r>
            <a:endParaRPr lang="en-US" sz="850" dirty="0"/>
          </a:p>
        </p:txBody>
      </p:sp>
      <p:sp>
        <p:nvSpPr>
          <p:cNvPr id="117" name="Text 109"/>
          <p:cNvSpPr/>
          <p:nvPr/>
        </p:nvSpPr>
        <p:spPr>
          <a:xfrm>
            <a:off x="5486781" y="5175504"/>
            <a:ext cx="125470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Расчёт ∑(литры × цена периода)</a:t>
            </a:r>
            <a:endParaRPr lang="en-US" sz="850" dirty="0"/>
          </a:p>
        </p:txBody>
      </p:sp>
      <p:pic>
        <p:nvPicPr>
          <p:cNvPr id="118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781" y="5541264"/>
            <a:ext cx="109728" cy="109728"/>
          </a:xfrm>
          <a:prstGeom prst="rect">
            <a:avLst/>
          </a:prstGeom>
        </p:spPr>
      </p:pic>
      <p:sp>
        <p:nvSpPr>
          <p:cNvPr id="119" name="Text 110"/>
          <p:cNvSpPr/>
          <p:nvPr/>
        </p:nvSpPr>
        <p:spPr>
          <a:xfrm>
            <a:off x="5633085" y="550468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4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</a:t>
            </a:r>
            <a:endParaRPr lang="en-US" sz="850" dirty="0"/>
          </a:p>
        </p:txBody>
      </p:sp>
      <p:sp>
        <p:nvSpPr>
          <p:cNvPr id="120" name="Text 111"/>
          <p:cNvSpPr/>
          <p:nvPr/>
        </p:nvSpPr>
        <p:spPr>
          <a:xfrm>
            <a:off x="6887794" y="4809744"/>
            <a:ext cx="310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CA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21" name="Shape 112"/>
          <p:cNvSpPr/>
          <p:nvPr/>
        </p:nvSpPr>
        <p:spPr>
          <a:xfrm>
            <a:off x="7198690" y="4809744"/>
            <a:ext cx="1583893" cy="914400"/>
          </a:xfrm>
          <a:prstGeom prst="roundRect">
            <a:avLst>
              <a:gd name="adj" fmla="val 7000"/>
            </a:avLst>
          </a:prstGeom>
          <a:solidFill>
            <a:srgbClr val="E3EEF8"/>
          </a:solidFill>
          <a:ln w="12700">
            <a:solidFill>
              <a:srgbClr val="9CC6E8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2" name="Shape 113"/>
          <p:cNvSpPr/>
          <p:nvPr/>
        </p:nvSpPr>
        <p:spPr>
          <a:xfrm>
            <a:off x="7198690" y="4901184"/>
            <a:ext cx="50292" cy="731520"/>
          </a:xfrm>
          <a:prstGeom prst="rect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3" name="Shape 114"/>
          <p:cNvSpPr/>
          <p:nvPr/>
        </p:nvSpPr>
        <p:spPr>
          <a:xfrm>
            <a:off x="7344994" y="4937760"/>
            <a:ext cx="228600" cy="228600"/>
          </a:xfrm>
          <a:prstGeom prst="ellipse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4" name="Text 115"/>
          <p:cNvSpPr/>
          <p:nvPr/>
        </p:nvSpPr>
        <p:spPr>
          <a:xfrm>
            <a:off x="7344994" y="49377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50" dirty="0"/>
          </a:p>
        </p:txBody>
      </p:sp>
      <p:sp>
        <p:nvSpPr>
          <p:cNvPr id="125" name="Text 116"/>
          <p:cNvSpPr/>
          <p:nvPr/>
        </p:nvSpPr>
        <p:spPr>
          <a:xfrm>
            <a:off x="7637602" y="4937760"/>
            <a:ext cx="103525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b="1" kern="0" spc="30" dirty="0">
                <a:solidFill>
                  <a:srgbClr val="116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</a:t>
            </a:r>
            <a:endParaRPr lang="en-US" sz="850" dirty="0"/>
          </a:p>
        </p:txBody>
      </p:sp>
      <p:sp>
        <p:nvSpPr>
          <p:cNvPr id="126" name="Text 117"/>
          <p:cNvSpPr/>
          <p:nvPr/>
        </p:nvSpPr>
        <p:spPr>
          <a:xfrm>
            <a:off x="7381570" y="5175504"/>
            <a:ext cx="125470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Верификация «Запроса» и сводный файл</a:t>
            </a:r>
            <a:endParaRPr lang="en-US" sz="850" dirty="0"/>
          </a:p>
        </p:txBody>
      </p:sp>
      <p:pic>
        <p:nvPicPr>
          <p:cNvPr id="127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1570" y="5541264"/>
            <a:ext cx="109728" cy="109728"/>
          </a:xfrm>
          <a:prstGeom prst="rect">
            <a:avLst/>
          </a:prstGeom>
        </p:spPr>
      </p:pic>
      <p:sp>
        <p:nvSpPr>
          <p:cNvPr id="128" name="Text 118"/>
          <p:cNvSpPr/>
          <p:nvPr/>
        </p:nvSpPr>
        <p:spPr>
          <a:xfrm>
            <a:off x="7527874" y="550468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4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</a:t>
            </a:r>
            <a:endParaRPr lang="en-US" sz="850" dirty="0"/>
          </a:p>
        </p:txBody>
      </p:sp>
      <p:sp>
        <p:nvSpPr>
          <p:cNvPr id="129" name="Shape 119"/>
          <p:cNvSpPr/>
          <p:nvPr/>
        </p:nvSpPr>
        <p:spPr>
          <a:xfrm>
            <a:off x="566928" y="5952744"/>
            <a:ext cx="201168" cy="146304"/>
          </a:xfrm>
          <a:prstGeom prst="rect">
            <a:avLst/>
          </a:prstGeom>
          <a:solidFill>
            <a:srgbClr val="E3EEF8"/>
          </a:solidFill>
          <a:ln w="12700">
            <a:solidFill>
              <a:srgbClr val="9CC6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0" name="Text 120"/>
          <p:cNvSpPr/>
          <p:nvPr/>
        </p:nvSpPr>
        <p:spPr>
          <a:xfrm>
            <a:off x="841248" y="5907024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Автоматизировано системой</a:t>
            </a:r>
            <a:endParaRPr lang="en-US" sz="950" dirty="0"/>
          </a:p>
        </p:txBody>
      </p:sp>
      <p:sp>
        <p:nvSpPr>
          <p:cNvPr id="131" name="Shape 121"/>
          <p:cNvSpPr/>
          <p:nvPr/>
        </p:nvSpPr>
        <p:spPr>
          <a:xfrm>
            <a:off x="3218688" y="5952744"/>
            <a:ext cx="201168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2" name="Text 122"/>
          <p:cNvSpPr/>
          <p:nvPr/>
        </p:nvSpPr>
        <p:spPr>
          <a:xfrm>
            <a:off x="3493008" y="590702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Действие / решение человека</a:t>
            </a:r>
            <a:endParaRPr lang="en-US" sz="950" dirty="0"/>
          </a:p>
        </p:txBody>
      </p:sp>
      <p:sp>
        <p:nvSpPr>
          <p:cNvPr id="133" name="Shape 123"/>
          <p:cNvSpPr/>
          <p:nvPr/>
        </p:nvSpPr>
        <p:spPr>
          <a:xfrm>
            <a:off x="6949440" y="5843016"/>
            <a:ext cx="4675327" cy="384048"/>
          </a:xfrm>
          <a:prstGeom prst="roundRect">
            <a:avLst>
              <a:gd name="adj" fmla="val 19048"/>
            </a:avLst>
          </a:prstGeom>
          <a:solidFill>
            <a:srgbClr val="E3EEF8"/>
          </a:solidFill>
          <a:ln w="12700">
            <a:solidFill>
              <a:srgbClr val="9CC6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4" name="Text 124"/>
          <p:cNvSpPr/>
          <p:nvPr/>
        </p:nvSpPr>
        <p:spPr>
          <a:xfrm>
            <a:off x="7086600" y="5843016"/>
            <a:ext cx="44741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4C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из 13</a:t>
            </a:r>
            <a:r>
              <a:rPr lang="en-US" sz="950" dirty="0">
                <a:solidFill>
                  <a:srgbClr val="005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шагов выполняет система — людям остаются ввод промо и его создание в Panorama</a:t>
            </a:r>
            <a:endParaRPr lang="en-US" sz="950" dirty="0"/>
          </a:p>
        </p:txBody>
      </p:sp>
      <p:sp>
        <p:nvSpPr>
          <p:cNvPr id="135" name="Shape 125"/>
          <p:cNvSpPr/>
          <p:nvPr/>
        </p:nvSpPr>
        <p:spPr>
          <a:xfrm>
            <a:off x="566928" y="6364224"/>
            <a:ext cx="11057839" cy="0"/>
          </a:xfrm>
          <a:prstGeom prst="line">
            <a:avLst/>
          </a:prstGeom>
          <a:noFill/>
          <a:ln w="12700">
            <a:solidFill>
              <a:srgbClr val="E2E7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6" name="Image 8" descr="/Users/asetseksenali/Downloads/efes/assets/efes-bad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6437376"/>
            <a:ext cx="219456" cy="219456"/>
          </a:xfrm>
          <a:prstGeom prst="rect">
            <a:avLst/>
          </a:prstGeom>
        </p:spPr>
      </p:pic>
      <p:sp>
        <p:nvSpPr>
          <p:cNvPr id="137" name="Text 126"/>
          <p:cNvSpPr/>
          <p:nvPr/>
        </p:nvSpPr>
        <p:spPr>
          <a:xfrm>
            <a:off x="859536" y="640080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Efes Kazakhstan</a:t>
            </a:r>
            <a:endParaRPr lang="en-US" sz="850" dirty="0"/>
          </a:p>
        </p:txBody>
      </p:sp>
      <p:sp>
        <p:nvSpPr>
          <p:cNvPr id="138" name="Text 127"/>
          <p:cNvSpPr/>
          <p:nvPr/>
        </p:nvSpPr>
        <p:spPr>
          <a:xfrm>
            <a:off x="6858000" y="6400800"/>
            <a:ext cx="476676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B9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Efes Nexus · BPMN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53212"/>
            <a:ext cx="155448" cy="29261"/>
          </a:xfrm>
          <a:prstGeom prst="rect">
            <a:avLst/>
          </a:prstGeom>
          <a:solidFill>
            <a:srgbClr val="5CA3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95528" y="4297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9C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ПЕРСПЕКТИВА · 3 ГОДА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749808"/>
            <a:ext cx="11057839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Чем больше объём — тем выше автоматизация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66928" y="13716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A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Автоматизированные шаги — уведомления, расчёты, Excel, AI-проверка, синхронизация — выполняются почти без затрат времени на каждую новую промо. Ручные шаги фиксированы. Поэтому с ростом объёма доля автоматизации растёт к структурному потолку 8 из 13 шагов (≈ 62 %).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6928" y="2249424"/>
            <a:ext cx="3466490" cy="2212848"/>
          </a:xfrm>
          <a:prstGeom prst="roundRect">
            <a:avLst>
              <a:gd name="adj" fmla="val 3719"/>
            </a:avLst>
          </a:prstGeom>
          <a:gradFill rotWithShape="1">
            <a:gsLst>
              <a:gs pos="0">
                <a:srgbClr val="1C2E4D"/>
              </a:gs>
              <a:gs pos="100000">
                <a:srgbClr val="111B2F"/>
              </a:gs>
            </a:gsLst>
            <a:lin ang="5400000" scaled="0"/>
          </a:gradFill>
          <a:ln w="12700">
            <a:solidFill>
              <a:srgbClr val="2B3B57"/>
            </a:solidFill>
            <a:prstDash val="solid"/>
          </a:ln>
          <a:effectLst>
            <a:outerShdw blurRad="76200" dist="38100" dir="5400000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41248" y="2523744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14304F"/>
          </a:solidFill>
          <a:ln w="12700">
            <a:solidFill>
              <a:srgbClr val="1E497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41248" y="252374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C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Год 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478938" y="2468880"/>
            <a:ext cx="1280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9C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35 %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478938" y="2852928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38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автоматизации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841248" y="3163824"/>
            <a:ext cx="291785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FB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245 ч/мес   </a:t>
            </a:r>
            <a:r>
              <a:rPr lang="en-US" sz="1200" dirty="0">
                <a:solidFill>
                  <a:srgbClr val="9A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1,75 ставки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841248" y="3621024"/>
            <a:ext cx="2917850" cy="0"/>
          </a:xfrm>
          <a:prstGeom prst="line">
            <a:avLst/>
          </a:prstGeom>
          <a:noFill/>
          <a:ln w="12700">
            <a:solidFill>
              <a:srgbClr val="2836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41248" y="3712464"/>
            <a:ext cx="291785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9A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Запуск платформы. Единый источник данных вместо разрозненных Excel-файлов.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62602" y="2249424"/>
            <a:ext cx="3466490" cy="2212848"/>
          </a:xfrm>
          <a:prstGeom prst="roundRect">
            <a:avLst>
              <a:gd name="adj" fmla="val 3719"/>
            </a:avLst>
          </a:prstGeom>
          <a:gradFill rotWithShape="1">
            <a:gsLst>
              <a:gs pos="0">
                <a:srgbClr val="1C2E4D"/>
              </a:gs>
              <a:gs pos="100000">
                <a:srgbClr val="111B2F"/>
              </a:gs>
            </a:gsLst>
            <a:lin ang="5400000" scaled="0"/>
          </a:gradFill>
          <a:ln w="12700">
            <a:solidFill>
              <a:srgbClr val="2B3B57"/>
            </a:solidFill>
            <a:prstDash val="solid"/>
          </a:ln>
          <a:effectLst>
            <a:outerShdw blurRad="76200" dist="38100" dir="5400000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636922" y="2523744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14304F"/>
          </a:solidFill>
          <a:ln w="12700">
            <a:solidFill>
              <a:srgbClr val="1E497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636922" y="252374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C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Год 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274613" y="2468880"/>
            <a:ext cx="1280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9C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40 %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274613" y="2852928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38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автоматизации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636922" y="3163824"/>
            <a:ext cx="291785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FB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280 ч/мес   </a:t>
            </a:r>
            <a:r>
              <a:rPr lang="en-US" sz="1200" dirty="0">
                <a:solidFill>
                  <a:srgbClr val="9A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2,0 ставки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4636922" y="3621024"/>
            <a:ext cx="2917850" cy="0"/>
          </a:xfrm>
          <a:prstGeom prst="line">
            <a:avLst/>
          </a:prstGeom>
          <a:noFill/>
          <a:ln w="12700">
            <a:solidFill>
              <a:srgbClr val="2836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636922" y="3712464"/>
            <a:ext cx="291785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9A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Объём промо растёт — система берёт на себя бóльшую долю рутины.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158277" y="2249424"/>
            <a:ext cx="3466490" cy="2212848"/>
          </a:xfrm>
          <a:prstGeom prst="roundRect">
            <a:avLst>
              <a:gd name="adj" fmla="val 3719"/>
            </a:avLst>
          </a:prstGeom>
          <a:gradFill rotWithShape="1">
            <a:gsLst>
              <a:gs pos="0">
                <a:srgbClr val="20355A"/>
              </a:gs>
              <a:gs pos="100000">
                <a:srgbClr val="121E34"/>
              </a:gs>
            </a:gsLst>
            <a:lin ang="5400000" scaled="0"/>
          </a:gradFill>
          <a:ln w="19050">
            <a:solidFill>
              <a:srgbClr val="5CA3DB"/>
            </a:solidFill>
            <a:prstDash val="solid"/>
          </a:ln>
          <a:effectLst>
            <a:outerShdw blurRad="101600" dir="5400000" rotWithShape="0">
              <a:srgbClr val="5CA3DB">
                <a:alpha val="3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8432597" y="2523744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14304F"/>
          </a:solidFill>
          <a:ln w="12700">
            <a:solidFill>
              <a:srgbClr val="1E497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432597" y="252374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C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Год 3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0070287" y="2468880"/>
            <a:ext cx="1280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9C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45 %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0070287" y="2852928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38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автоматизации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8432597" y="3163824"/>
            <a:ext cx="291785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FB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315 ч/мес   </a:t>
            </a:r>
            <a:r>
              <a:rPr lang="en-US" sz="1200" dirty="0">
                <a:solidFill>
                  <a:srgbClr val="9A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2,25 ставки</a:t>
            </a:r>
            <a:endParaRPr lang="en-US" sz="1900" dirty="0"/>
          </a:p>
        </p:txBody>
      </p:sp>
      <p:sp>
        <p:nvSpPr>
          <p:cNvPr id="28" name="Shape 26"/>
          <p:cNvSpPr/>
          <p:nvPr/>
        </p:nvSpPr>
        <p:spPr>
          <a:xfrm>
            <a:off x="8432597" y="3621024"/>
            <a:ext cx="2917850" cy="0"/>
          </a:xfrm>
          <a:prstGeom prst="line">
            <a:avLst/>
          </a:prstGeom>
          <a:noFill/>
          <a:ln w="12700">
            <a:solidFill>
              <a:srgbClr val="2836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432597" y="3712464"/>
            <a:ext cx="291785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9A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Автоматизация приближается к потолку 8/13 шагов. Команда — на стратегии бренда.</a:t>
            </a:r>
            <a:endParaRPr lang="en-US" sz="1100" dirty="0"/>
          </a:p>
        </p:txBody>
      </p:sp>
      <p:sp>
        <p:nvSpPr>
          <p:cNvPr id="60" name="Meter Track 60"/>
          <p:cNvSpPr/>
          <p:nvPr/>
        </p:nvSpPr>
        <p:spPr>
          <a:xfrm>
            <a:off x="841248" y="3080000"/>
            <a:ext cx="2917850" cy="54864"/>
          </a:xfrm>
          <a:prstGeom prst="roundRect">
            <a:avLst>
              <a:gd name="adj" fmla="val 50000"/>
            </a:avLst>
          </a:prstGeom>
          <a:solidFill>
            <a:srgbClr val="23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Meter Fill 61"/>
          <p:cNvSpPr/>
          <p:nvPr/>
        </p:nvSpPr>
        <p:spPr>
          <a:xfrm>
            <a:off x="841248" y="3080000"/>
            <a:ext cx="1021248" cy="5486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D83C4"/>
              </a:gs>
              <a:gs pos="100000">
                <a:srgbClr val="5CA3DB"/>
              </a:gs>
            </a:gsLst>
            <a:lin ang="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Meter Track 62"/>
          <p:cNvSpPr/>
          <p:nvPr/>
        </p:nvSpPr>
        <p:spPr>
          <a:xfrm>
            <a:off x="4636922" y="3080000"/>
            <a:ext cx="2917850" cy="54864"/>
          </a:xfrm>
          <a:prstGeom prst="roundRect">
            <a:avLst>
              <a:gd name="adj" fmla="val 50000"/>
            </a:avLst>
          </a:prstGeom>
          <a:solidFill>
            <a:srgbClr val="23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Meter Fill 63"/>
          <p:cNvSpPr/>
          <p:nvPr/>
        </p:nvSpPr>
        <p:spPr>
          <a:xfrm>
            <a:off x="4636922" y="3080000"/>
            <a:ext cx="1167140" cy="5486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D83C4"/>
              </a:gs>
              <a:gs pos="100000">
                <a:srgbClr val="5CA3DB"/>
              </a:gs>
            </a:gsLst>
            <a:lin ang="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Meter Track 64"/>
          <p:cNvSpPr/>
          <p:nvPr/>
        </p:nvSpPr>
        <p:spPr>
          <a:xfrm>
            <a:off x="8432597" y="3080000"/>
            <a:ext cx="2917850" cy="54864"/>
          </a:xfrm>
          <a:prstGeom prst="roundRect">
            <a:avLst>
              <a:gd name="adj" fmla="val 50000"/>
            </a:avLst>
          </a:prstGeom>
          <a:solidFill>
            <a:srgbClr val="23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Meter Fill 65"/>
          <p:cNvSpPr/>
          <p:nvPr/>
        </p:nvSpPr>
        <p:spPr>
          <a:xfrm>
            <a:off x="8432597" y="3080000"/>
            <a:ext cx="1313033" cy="5486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D83C4"/>
              </a:gs>
              <a:gs pos="100000">
                <a:srgbClr val="5CA3DB"/>
              </a:gs>
            </a:gsLst>
            <a:lin ang="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566928" y="4736592"/>
            <a:ext cx="3200400" cy="1481328"/>
          </a:xfrm>
          <a:prstGeom prst="roundRect">
            <a:avLst>
              <a:gd name="adj" fmla="val 6173"/>
            </a:avLst>
          </a:prstGeom>
          <a:gradFill rotWithShape="1">
            <a:gsLst>
              <a:gs pos="0">
                <a:srgbClr val="143A28"/>
              </a:gs>
              <a:gs pos="100000">
                <a:srgbClr val="0A1D14"/>
              </a:gs>
            </a:gsLst>
            <a:lin ang="5400000" scaled="0"/>
          </a:gradFill>
          <a:ln w="12700">
            <a:solidFill>
              <a:srgbClr val="2F7A50"/>
            </a:solidFill>
            <a:prstDash val="solid"/>
          </a:ln>
          <a:effectLst>
            <a:outerShdw blurRad="101600" dir="5400000" rotWithShape="0">
              <a:srgbClr val="2FB46E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804672" y="491947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A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Накопленный эффект за 3 года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66928" y="5193792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2FB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10 000 ч</a:t>
            </a:r>
            <a:endParaRPr lang="en-US" sz="3800" dirty="0"/>
          </a:p>
        </p:txBody>
      </p:sp>
      <p:sp>
        <p:nvSpPr>
          <p:cNvPr id="33" name="Text 31"/>
          <p:cNvSpPr/>
          <p:nvPr/>
        </p:nvSpPr>
        <p:spPr>
          <a:xfrm>
            <a:off x="749808" y="577900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738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6 человеко-лет рабочего времени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078224" y="4736592"/>
            <a:ext cx="7546543" cy="1481328"/>
          </a:xfrm>
          <a:prstGeom prst="roundRect">
            <a:avLst>
              <a:gd name="adj" fmla="val 6173"/>
            </a:avLst>
          </a:prstGeom>
          <a:gradFill rotWithShape="1">
            <a:gsLst>
              <a:gs pos="0">
                <a:srgbClr val="1C2E4D"/>
              </a:gs>
              <a:gs pos="100000">
                <a:srgbClr val="111B2F"/>
              </a:gs>
            </a:gsLst>
            <a:lin ang="5400000" scaled="0"/>
          </a:gradFill>
          <a:ln w="12700">
            <a:solidFill>
              <a:srgbClr val="2B3B57"/>
            </a:solidFill>
            <a:prstDash val="solid"/>
          </a:ln>
          <a:effectLst>
            <a:outerShdw blurRad="76200" dist="38100" dir="5400000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4626864" y="4901184"/>
            <a:ext cx="6723583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50" dirty="0">
              <a:solidFill>
                <a:schemeClr val="bg1"/>
              </a:solidFill>
            </a:endParaRPr>
          </a:p>
        </p:txBody>
      </p:sp>
      <p:pic>
        <p:nvPicPr>
          <p:cNvPr id="3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0832" y="5093208"/>
            <a:ext cx="146304" cy="146304"/>
          </a:xfrm>
          <a:prstGeom prst="rect">
            <a:avLst/>
          </a:prstGeom>
        </p:spPr>
      </p:pic>
      <p:sp>
        <p:nvSpPr>
          <p:cNvPr id="38" name="Text 34"/>
          <p:cNvSpPr/>
          <p:nvPr/>
        </p:nvSpPr>
        <p:spPr>
          <a:xfrm>
            <a:off x="4626864" y="5029200"/>
            <a:ext cx="6723583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Команда сфокусирована на стратегии и развитии бренда вместо ручной рутины</a:t>
            </a:r>
            <a:endParaRPr lang="en-US" sz="1150" dirty="0"/>
          </a:p>
        </p:txBody>
      </p:sp>
      <p:pic>
        <p:nvPicPr>
          <p:cNvPr id="3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0832" y="5404104"/>
            <a:ext cx="146304" cy="146304"/>
          </a:xfrm>
          <a:prstGeom prst="rect">
            <a:avLst/>
          </a:prstGeom>
        </p:spPr>
      </p:pic>
      <p:sp>
        <p:nvSpPr>
          <p:cNvPr id="40" name="Text 35"/>
          <p:cNvSpPr/>
          <p:nvPr/>
        </p:nvSpPr>
        <p:spPr>
          <a:xfrm>
            <a:off x="4626864" y="5340096"/>
            <a:ext cx="6723583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Технологичный бренд — сильный PR и аргумент для привлечения инвестиций</a:t>
            </a:r>
            <a:endParaRPr lang="en-US" sz="1150" dirty="0"/>
          </a:p>
        </p:txBody>
      </p:sp>
      <p:pic>
        <p:nvPicPr>
          <p:cNvPr id="4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0832" y="5715000"/>
            <a:ext cx="146304" cy="146304"/>
          </a:xfrm>
          <a:prstGeom prst="rect">
            <a:avLst/>
          </a:prstGeom>
        </p:spPr>
      </p:pic>
      <p:sp>
        <p:nvSpPr>
          <p:cNvPr id="42" name="Text 36"/>
          <p:cNvSpPr/>
          <p:nvPr/>
        </p:nvSpPr>
        <p:spPr>
          <a:xfrm>
            <a:off x="4626864" y="5650992"/>
            <a:ext cx="6723583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Отрыв от конкурентов по скорости, точности и масштабу процессов</a:t>
            </a:r>
            <a:endParaRPr lang="en-US" sz="1150" dirty="0"/>
          </a:p>
        </p:txBody>
      </p:sp>
      <p:sp>
        <p:nvSpPr>
          <p:cNvPr id="43" name="Shape 37"/>
          <p:cNvSpPr/>
          <p:nvPr/>
        </p:nvSpPr>
        <p:spPr>
          <a:xfrm>
            <a:off x="566928" y="6364224"/>
            <a:ext cx="11057839" cy="0"/>
          </a:xfrm>
          <a:prstGeom prst="line">
            <a:avLst/>
          </a:prstGeom>
          <a:noFill/>
          <a:ln w="12700">
            <a:solidFill>
              <a:srgbClr val="2836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4" name="Image 4" descr="/Users/asetseksenali/Downloads/efes/assets/efes-badge.png"/>
          <p:cNvPicPr>
            <a:picLocks noChangeAspect="1"/>
          </p:cNvPicPr>
          <p:nvPr/>
        </p:nvPicPr>
        <p:blipFill>
          <a:blip r:embed="rId5">
            <a:alphaModFix amt="65000"/>
          </a:blip>
          <a:stretch>
            <a:fillRect/>
          </a:stretch>
        </p:blipFill>
        <p:spPr>
          <a:xfrm>
            <a:off x="566928" y="6437376"/>
            <a:ext cx="219456" cy="219456"/>
          </a:xfrm>
          <a:prstGeom prst="rect">
            <a:avLst/>
          </a:prstGeom>
        </p:spPr>
      </p:pic>
      <p:sp>
        <p:nvSpPr>
          <p:cNvPr id="45" name="Text 38"/>
          <p:cNvSpPr/>
          <p:nvPr/>
        </p:nvSpPr>
        <p:spPr>
          <a:xfrm>
            <a:off x="859536" y="640080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38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Efes Kazakhstan</a:t>
            </a:r>
            <a:endParaRPr lang="en-US" sz="850" dirty="0"/>
          </a:p>
        </p:txBody>
      </p:sp>
      <p:sp>
        <p:nvSpPr>
          <p:cNvPr id="46" name="Text 39"/>
          <p:cNvSpPr/>
          <p:nvPr/>
        </p:nvSpPr>
        <p:spPr>
          <a:xfrm>
            <a:off x="6858000" y="6400800"/>
            <a:ext cx="476676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38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Efes Nexus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254</TotalTime>
  <Words>862</Words>
  <Application>Microsoft Office PowerPoint</Application>
  <PresentationFormat>Широкоэкранный</PresentationFormat>
  <Paragraphs>225</Paragraphs>
  <Slides>8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2" baseType="lpstr">
      <vt:lpstr>Arial</vt:lpstr>
      <vt:lpstr>Calibri</vt:lpstr>
      <vt:lpstr>Consolas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Efes Nexus — бизнес-кейс</dc:title>
  <dc:subject>PptxGenJS Presentation</dc:subject>
  <dc:creator>Efes Kazakhstan</dc:creator>
  <cp:lastModifiedBy>Aset Seksenali</cp:lastModifiedBy>
  <cp:revision>4</cp:revision>
  <dcterms:created xsi:type="dcterms:W3CDTF">2026-05-31T08:54:41Z</dcterms:created>
  <dcterms:modified xsi:type="dcterms:W3CDTF">2026-05-31T23:12:48Z</dcterms:modified>
</cp:coreProperties>
</file>