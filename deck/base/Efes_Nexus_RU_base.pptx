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61" r:id="rId5"/>
    <p:sldId id="259" r:id="rId6"/>
    <p:sldId id="264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6928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 · АВТОМАТИЗАЦИЯ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промо-активностей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которая заменяет ручную работу в Excel и Outlook сквозными цифровыми процессами, авто-уведомлениями и AI-проверкой запросов партнёров.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бизнес-кейс для руководителя продаж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ПРОЦЕССЫ 01–03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выделено то, что выполняет система;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действия и решения человека.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продукта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складе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дистрибьютора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597" y="2761488"/>
            <a:ext cx="109728" cy="1097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790901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и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отчета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Автоматизировано системой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/ решение человека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843016"/>
            <a:ext cx="4675327" cy="384048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843016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из 13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шагов выполняет система — людям остаются ввод промо и его создание в Panorama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 системы – N+1, N+KZT</a:t>
            </a:r>
            <a:endParaRPr lang="en-US" sz="2900" dirty="0"/>
          </a:p>
        </p:txBody>
      </p:sp>
      <p:sp>
        <p:nvSpPr>
          <p:cNvPr id="5" name="Card Before"/>
          <p:cNvSpPr/>
          <p:nvPr/>
        </p:nvSpPr>
        <p:spPr>
          <a:xfrm>
            <a:off x="566928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After"/>
          <p:cNvSpPr/>
          <p:nvPr/>
        </p:nvSpPr>
        <p:spPr>
          <a:xfrm>
            <a:off x="6376111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row Circle"/>
          <p:cNvSpPr/>
          <p:nvPr/>
        </p:nvSpPr>
        <p:spPr>
          <a:xfrm>
            <a:off x="5839816" y="3474720"/>
            <a:ext cx="512064" cy="512064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rrow"/>
          <p:cNvSpPr/>
          <p:nvPr/>
        </p:nvSpPr>
        <p:spPr>
          <a:xfrm>
            <a:off x="5839816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Lab BG"/>
          <p:cNvSpPr/>
          <p:nvPr/>
        </p:nvSpPr>
        <p:spPr>
          <a:xfrm>
            <a:off x="877824" y="1865376"/>
            <a:ext cx="1083564" cy="329184"/>
          </a:xfrm>
          <a:prstGeom prst="roundRect">
            <a:avLst>
              <a:gd name="adj" fmla="val 46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"/>
          <p:cNvSpPr/>
          <p:nvPr/>
        </p:nvSpPr>
        <p:spPr>
          <a:xfrm>
            <a:off x="877824" y="186537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было:</a:t>
            </a:r>
            <a:endParaRPr lang="en-US" sz="1250" dirty="0"/>
          </a:p>
        </p:txBody>
      </p:sp>
      <p:sp>
        <p:nvSpPr>
          <p:cNvPr id="11" name="Item"/>
          <p:cNvSpPr/>
          <p:nvPr/>
        </p:nvSpPr>
        <p:spPr>
          <a:xfrm>
            <a:off x="877824" y="246888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Разрозненные Excel-файлы и коммуникация через почту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(Отсутствие единого источника данных и ведение коммуникации в письмах → Специалист трейд маркетинга – SSC специалист – CRM специалист - SSC специалист – Партнеры)</a:t>
            </a:r>
          </a:p>
        </p:txBody>
      </p:sp>
      <p:sp>
        <p:nvSpPr>
          <p:cNvPr id="12" name="Div"/>
          <p:cNvSpPr/>
          <p:nvPr/>
        </p:nvSpPr>
        <p:spPr>
          <a:xfrm>
            <a:off x="877824" y="3276524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tem"/>
          <p:cNvSpPr/>
          <p:nvPr/>
        </p:nvSpPr>
        <p:spPr>
          <a:xfrm>
            <a:off x="877824" y="3438601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Отчеты Promo Status создаются вручную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(Существенные временные затраты сотрудника)</a:t>
            </a:r>
          </a:p>
        </p:txBody>
      </p:sp>
      <p:sp>
        <p:nvSpPr>
          <p:cNvPr id="14" name="Div"/>
          <p:cNvSpPr/>
          <p:nvPr/>
        </p:nvSpPr>
        <p:spPr>
          <a:xfrm>
            <a:off x="877824" y="396826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"/>
          <p:cNvSpPr/>
          <p:nvPr/>
        </p:nvSpPr>
        <p:spPr>
          <a:xfrm>
            <a:off x="877824" y="4130345"/>
            <a:ext cx="462686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кодов, расчет компенсаций и верификация большого объема запросов в неавтоматизированном процессе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(Риск дублей, переплат и искажений в отчётах)</a:t>
            </a:r>
          </a:p>
        </p:txBody>
      </p:sp>
      <p:sp>
        <p:nvSpPr>
          <p:cNvPr id="16" name="Div"/>
          <p:cNvSpPr/>
          <p:nvPr/>
        </p:nvSpPr>
        <p:spPr>
          <a:xfrm>
            <a:off x="877824" y="483374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tem"/>
          <p:cNvSpPr/>
          <p:nvPr/>
        </p:nvSpPr>
        <p:spPr>
          <a:xfrm>
            <a:off x="877824" y="4995824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человеческого фактора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(300+ промо в месяц)</a:t>
            </a:r>
          </a:p>
        </p:txBody>
      </p:sp>
      <p:sp>
        <p:nvSpPr>
          <p:cNvPr id="18" name="Lab BG"/>
          <p:cNvSpPr/>
          <p:nvPr/>
        </p:nvSpPr>
        <p:spPr>
          <a:xfrm>
            <a:off x="6687007" y="1865376"/>
            <a:ext cx="1161288" cy="329184"/>
          </a:xfrm>
          <a:prstGeom prst="roundRect">
            <a:avLst>
              <a:gd name="adj" fmla="val 46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"/>
          <p:cNvSpPr/>
          <p:nvPr/>
        </p:nvSpPr>
        <p:spPr>
          <a:xfrm>
            <a:off x="6687007" y="186537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будет:</a:t>
            </a:r>
            <a:endParaRPr lang="en-US" sz="1250" dirty="0"/>
          </a:p>
        </p:txBody>
      </p:sp>
      <p:sp>
        <p:nvSpPr>
          <p:cNvPr id="20" name="Item"/>
          <p:cNvSpPr/>
          <p:nvPr/>
        </p:nvSpPr>
        <p:spPr>
          <a:xfrm>
            <a:off x="6687007" y="2468880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 управления промо-процессами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(Единый реестр и вся коммуникация в одном пространстве → полная прозрачность, мгновенная синхронизация и отсутствие потерь информации)</a:t>
            </a:r>
          </a:p>
        </p:txBody>
      </p:sp>
      <p:sp>
        <p:nvSpPr>
          <p:cNvPr id="21" name="Div"/>
          <p:cNvSpPr/>
          <p:nvPr/>
        </p:nvSpPr>
        <p:spPr>
          <a:xfrm>
            <a:off x="6687007" y="3107131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tem"/>
          <p:cNvSpPr/>
          <p:nvPr/>
        </p:nvSpPr>
        <p:spPr>
          <a:xfrm>
            <a:off x="6687007" y="3238805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отчётность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(Формирование и отправка отчетов за секунды → оперативная аналитика и быстрые решения)</a:t>
            </a:r>
          </a:p>
        </p:txBody>
      </p:sp>
      <p:sp>
        <p:nvSpPr>
          <p:cNvPr id="23" name="Div"/>
          <p:cNvSpPr/>
          <p:nvPr/>
        </p:nvSpPr>
        <p:spPr>
          <a:xfrm>
            <a:off x="6687007" y="3877056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"/>
          <p:cNvSpPr/>
          <p:nvPr/>
        </p:nvSpPr>
        <p:spPr>
          <a:xfrm>
            <a:off x="6687007" y="400873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алгоритмы расчётов и кодирования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(Система сама присваивает код, проверяя при этом дубли, наличие продукта на складе дистрибьютора и осуществляет расчет компенсации, сверяя с запросами партнеров)</a:t>
            </a:r>
          </a:p>
        </p:txBody>
      </p:sp>
      <p:sp>
        <p:nvSpPr>
          <p:cNvPr id="25" name="Div"/>
          <p:cNvSpPr/>
          <p:nvPr/>
        </p:nvSpPr>
        <p:spPr>
          <a:xfrm>
            <a:off x="6687007" y="4785970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tem"/>
          <p:cNvSpPr/>
          <p:nvPr/>
        </p:nvSpPr>
        <p:spPr>
          <a:xfrm>
            <a:off x="6687007" y="4917643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Минимизация человеческого фактора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(Стандартизированный и прозрачный процесс → предсказуемый результат и снижение рисков)</a:t>
            </a:r>
          </a:p>
        </p:txBody>
      </p:sp>
      <p:sp>
        <p:nvSpPr>
          <p:cNvPr id="27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adge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9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0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ПРОЦЕССОВ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бизнес-процесса — в одной системе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процесс описан в нотации BPMN. Следующий слайд показывает, какие шаги берёт на себя система.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83738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3738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от Trade-маркетинга или On-trade → присвоение кода → запись в Panorama → уведомление партнёров.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4794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7402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91605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91605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402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7402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квоты, периода, добавление продукта или точки → правка в Panorama → синхронизация и уведомление.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2661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5269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399471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99471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75269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75269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присылает «Запрос» → расчёт ∑(литры × цена периода) → AI-проверка → передача в Контроллинг.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6112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39312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24248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4248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 &amp; изменения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67448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52383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52383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растёт быстрее, чем успевают руки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три года число промо-активностей выросло почти в 5 раз, а годовой бюджет промо — в 2,4 раза. При почти неизменном числе партнёров объём растёт быстрее, чем справляются ручные процессы.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125" y="2318004"/>
            <a:ext cx="5486400" cy="3584448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2587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 по годам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заведённых акций за год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3372" y="3380293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9092" y="3380293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</a:t>
            </a:r>
            <a:endParaRPr lang="en-US" sz="1000" dirty="0"/>
          </a:p>
        </p:txBody>
      </p:sp>
      <p:sp>
        <p:nvSpPr>
          <p:cNvPr id="60" name="Bar 2023"/>
          <p:cNvSpPr/>
          <p:nvPr/>
        </p:nvSpPr>
        <p:spPr>
          <a:xfrm>
            <a:off x="1119000" y="4906390"/>
            <a:ext cx="762000" cy="442850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Val 2023"/>
          <p:cNvSpPr/>
          <p:nvPr/>
        </p:nvSpPr>
        <p:spPr>
          <a:xfrm>
            <a:off x="95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2 084</a:t>
            </a:r>
            <a:endParaRPr lang="en-US" sz="1300" dirty="0"/>
          </a:p>
        </p:txBody>
      </p:sp>
      <p:sp>
        <p:nvSpPr>
          <p:cNvPr id="62" name="Yr 2023"/>
          <p:cNvSpPr/>
          <p:nvPr/>
        </p:nvSpPr>
        <p:spPr>
          <a:xfrm>
            <a:off x="95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9000" y="4884494"/>
            <a:ext cx="762000" cy="464746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0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2 187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0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9000" y="3205998"/>
            <a:ext cx="762000" cy="214884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3372" y="2843784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10 112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7769" y="5413248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1982" y="361822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×4,6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4681728" y="420596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00" y="4202461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+362 %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64224" y="2546604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0256" y="2656332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253167" y="2656332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29123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35824" y="29123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38744" y="28757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545775" y="293065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45775" y="29306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+6,5 %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64224" y="3717036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0256" y="3826764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· SKU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53167" y="3826764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0256" y="40827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35824" y="40827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38744" y="40462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545775" y="410108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45775" y="41010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+35 %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64223" y="4887804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09348" y="4952558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ПРОМО / ГОД · МЛРД ₸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245394" y="5035601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→ 2025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29400" y="5254643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754112" y="5226877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02753" y="5208589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2,41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0481766" y="5319957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513771" y="53187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+140 %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ПЕРСПЕКТИВА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объём — тем выше автоматизация</a:t>
            </a:r>
            <a:endParaRPr lang="en-US" sz="2900" dirty="0"/>
          </a:p>
        </p:txBody>
      </p:sp>
      <p:sp>
        <p:nvSpPr>
          <p:cNvPr id="5" name="Sub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Автоматизированные шаги — уведомления, расчёты, Excel, AI-проверка, синхронизация — выполняются почти без затрат времени на каждую новую промо. Ручные шаги фиксированы. Поэтому с ростом объёма доля автоматизации растёт к структурному потолку 8 из 13 шагов (≈ 62 %).</a:t>
            </a:r>
            <a:endParaRPr lang="en-US" sz="1250" dirty="0"/>
          </a:p>
        </p:txBody>
      </p:sp>
      <p:sp>
        <p:nvSpPr>
          <p:cNvPr id="6" name="Auto Card"/>
          <p:cNvSpPr/>
          <p:nvPr/>
        </p:nvSpPr>
        <p:spPr>
          <a:xfrm>
            <a:off x="566928" y="2139696"/>
            <a:ext cx="5486400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God Pill"/>
          <p:cNvSpPr/>
          <p:nvPr/>
        </p:nvSpPr>
        <p:spPr>
          <a:xfrm>
            <a:off x="877824" y="24140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od Lbl"/>
          <p:cNvSpPr/>
          <p:nvPr/>
        </p:nvSpPr>
        <p:spPr>
          <a:xfrm>
            <a:off x="877824" y="2404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1000" dirty="0"/>
          </a:p>
        </p:txBody>
      </p:sp>
      <p:sp>
        <p:nvSpPr>
          <p:cNvPr id="9" name="Pct"/>
          <p:cNvSpPr/>
          <p:nvPr/>
        </p:nvSpPr>
        <p:spPr>
          <a:xfrm>
            <a:off x="4462272" y="23591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28 %</a:t>
            </a:r>
            <a:endParaRPr lang="en-US" sz="2200" dirty="0"/>
          </a:p>
        </p:txBody>
      </p:sp>
      <p:sp>
        <p:nvSpPr>
          <p:cNvPr id="10" name="AutoLab"/>
          <p:cNvSpPr/>
          <p:nvPr/>
        </p:nvSpPr>
        <p:spPr>
          <a:xfrm>
            <a:off x="4462272" y="27432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11" name="Meter Track"/>
          <p:cNvSpPr/>
          <p:nvPr/>
        </p:nvSpPr>
        <p:spPr>
          <a:xfrm>
            <a:off x="877824" y="3218688"/>
            <a:ext cx="4864608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Meter Fill"/>
          <p:cNvSpPr/>
          <p:nvPr/>
        </p:nvSpPr>
        <p:spPr>
          <a:xfrm>
            <a:off x="877824" y="3218688"/>
            <a:ext cx="136209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Hrs"/>
          <p:cNvSpPr/>
          <p:nvPr/>
        </p:nvSpPr>
        <p:spPr>
          <a:xfrm>
            <a:off x="877824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ч/мес  </a:t>
            </a:r>
            <a:endParaRPr lang="en-US" sz="1900" dirty="0"/>
          </a:p>
        </p:txBody>
      </p:sp>
      <p:sp>
        <p:nvSpPr>
          <p:cNvPr id="14" name="Desc"/>
          <p:cNvSpPr/>
          <p:nvPr/>
        </p:nvSpPr>
        <p:spPr>
          <a:xfrm>
            <a:off x="877824" y="3822192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платформы. Единый источник данных вместо разрозненных Excel-файлов.</a:t>
            </a:r>
            <a:endParaRPr lang="en-US" sz="1100" dirty="0"/>
          </a:p>
        </p:txBody>
      </p:sp>
      <p:sp>
        <p:nvSpPr>
          <p:cNvPr id="15" name="Acc Card"/>
          <p:cNvSpPr/>
          <p:nvPr/>
        </p:nvSpPr>
        <p:spPr>
          <a:xfrm>
            <a:off x="6364224" y="2139696"/>
            <a:ext cx="5260543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 Lbl"/>
          <p:cNvSpPr/>
          <p:nvPr/>
        </p:nvSpPr>
        <p:spPr>
          <a:xfrm>
            <a:off x="6364224" y="2706624"/>
            <a:ext cx="5260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Накопленный эффект  ч/год</a:t>
            </a:r>
            <a:endParaRPr lang="en-US" sz="1100" dirty="0"/>
          </a:p>
        </p:txBody>
      </p:sp>
      <p:sp>
        <p:nvSpPr>
          <p:cNvPr id="17" name="Acc Val"/>
          <p:cNvSpPr/>
          <p:nvPr/>
        </p:nvSpPr>
        <p:spPr>
          <a:xfrm>
            <a:off x="6364224" y="3054096"/>
            <a:ext cx="526054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7 000 ч</a:t>
            </a:r>
            <a:endParaRPr lang="en-US" sz="3800" dirty="0"/>
          </a:p>
        </p:txBody>
      </p:sp>
      <p:sp>
        <p:nvSpPr>
          <p:cNvPr id="18" name="Check Card"/>
          <p:cNvSpPr/>
          <p:nvPr/>
        </p:nvSpPr>
        <p:spPr>
          <a:xfrm>
            <a:off x="566928" y="4498848"/>
            <a:ext cx="11057839" cy="13716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Check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40580"/>
            <a:ext cx="173736" cy="173736"/>
          </a:xfrm>
          <a:prstGeom prst="rect">
            <a:avLst/>
          </a:prstGeom>
        </p:spPr>
      </p:pic>
      <p:sp>
        <p:nvSpPr>
          <p:cNvPr id="20" name="ChkT"/>
          <p:cNvSpPr/>
          <p:nvPr/>
        </p:nvSpPr>
        <p:spPr>
          <a:xfrm>
            <a:off x="1225296" y="45811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сфокусирована на аналитике и создании новых идей вместо ручной рутины</a:t>
            </a:r>
            <a:endParaRPr lang="en-US" sz="1150" dirty="0"/>
          </a:p>
        </p:txBody>
      </p:sp>
      <p:pic>
        <p:nvPicPr>
          <p:cNvPr id="21" name="Check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97780"/>
            <a:ext cx="173736" cy="173736"/>
          </a:xfrm>
          <a:prstGeom prst="rect">
            <a:avLst/>
          </a:prstGeom>
        </p:spPr>
      </p:pic>
      <p:sp>
        <p:nvSpPr>
          <p:cNvPr id="22" name="ChkT"/>
          <p:cNvSpPr/>
          <p:nvPr/>
        </p:nvSpPr>
        <p:spPr>
          <a:xfrm>
            <a:off x="1225296" y="50383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Технологичный бренд - сильный PR и возможность масштабирования системы на все департаменты </a:t>
            </a:r>
            <a:endParaRPr lang="en-US" sz="1150" dirty="0"/>
          </a:p>
        </p:txBody>
      </p:sp>
      <p:pic>
        <p:nvPicPr>
          <p:cNvPr id="23" name="Check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554980"/>
            <a:ext cx="173736" cy="173736"/>
          </a:xfrm>
          <a:prstGeom prst="rect">
            <a:avLst/>
          </a:prstGeom>
        </p:spPr>
      </p:pic>
      <p:sp>
        <p:nvSpPr>
          <p:cNvPr id="24" name="ChkT"/>
          <p:cNvSpPr/>
          <p:nvPr/>
        </p:nvSpPr>
        <p:spPr>
          <a:xfrm>
            <a:off x="1225296" y="54955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Отрыв от конкурентов по скорости, точности и масштабу процессов</a:t>
            </a:r>
            <a:endParaRPr lang="en-US" sz="1150" dirty="0"/>
          </a:p>
        </p:txBody>
      </p:sp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 — </a:t>
            </a:r>
            <a:r>
              <a:rPr lang="en-US" sz="2900" b="1" kern="0" dirty="0" err="1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r>
              <a:rPr lang="en-US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другие отделы</a:t>
            </a:r>
            <a:endParaRPr lang="en-US" sz="2900" dirty="0"/>
          </a:p>
        </p:txBody>
      </p:sp>
      <p:sp>
        <p:nvSpPr>
          <p:cNvPr id="5" name="Sub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 сбыта уже перешёл на новые правила компенсаций: ретро-скидки (RI/BO), разовые начисления (SS/OC), программы лояльности Efes Bonus Club (LP), Rozliv+ (EP) и Kega Boom (KB). Nexus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возьмёт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проверку</a:t>
            </a:r>
            <a:r>
              <a:rPr lang="ru-RU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накладных 1С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коммуникацию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партнерами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себя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Auto Card"/>
          <p:cNvSpPr/>
          <p:nvPr/>
        </p:nvSpPr>
        <p:spPr>
          <a:xfrm>
            <a:off x="566928" y="2139696"/>
            <a:ext cx="5486400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God Pill"/>
          <p:cNvSpPr/>
          <p:nvPr/>
        </p:nvSpPr>
        <p:spPr>
          <a:xfrm>
            <a:off x="877824" y="24140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od Lbl"/>
          <p:cNvSpPr/>
          <p:nvPr/>
        </p:nvSpPr>
        <p:spPr>
          <a:xfrm>
            <a:off x="877824" y="2404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Nexus</a:t>
            </a:r>
            <a:endParaRPr lang="en-US" sz="1000" dirty="0"/>
          </a:p>
        </p:txBody>
      </p:sp>
      <p:sp>
        <p:nvSpPr>
          <p:cNvPr id="9" name="Pct"/>
          <p:cNvSpPr/>
          <p:nvPr/>
        </p:nvSpPr>
        <p:spPr>
          <a:xfrm>
            <a:off x="4462272" y="23591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k-KZ" sz="22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r>
              <a:rPr lang="en-US" sz="22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</a:t>
            </a:r>
            <a:endParaRPr lang="en-US" sz="2200" dirty="0"/>
          </a:p>
        </p:txBody>
      </p:sp>
      <p:sp>
        <p:nvSpPr>
          <p:cNvPr id="10" name="AutoLab"/>
          <p:cNvSpPr/>
          <p:nvPr/>
        </p:nvSpPr>
        <p:spPr>
          <a:xfrm>
            <a:off x="2816352" y="27432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сверки в месяц на специалиста</a:t>
            </a:r>
            <a:endParaRPr lang="en-US" sz="850" dirty="0"/>
          </a:p>
        </p:txBody>
      </p:sp>
      <p:sp>
        <p:nvSpPr>
          <p:cNvPr id="11" name="Meter Track"/>
          <p:cNvSpPr/>
          <p:nvPr/>
        </p:nvSpPr>
        <p:spPr>
          <a:xfrm>
            <a:off x="877824" y="3218688"/>
            <a:ext cx="4864608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Meter Fill"/>
          <p:cNvSpPr/>
          <p:nvPr/>
        </p:nvSpPr>
        <p:spPr>
          <a:xfrm>
            <a:off x="877824" y="3218688"/>
            <a:ext cx="1938528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Hrs"/>
          <p:cNvSpPr/>
          <p:nvPr/>
        </p:nvSpPr>
        <p:spPr>
          <a:xfrm>
            <a:off x="877824" y="3364992"/>
            <a:ext cx="4864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r>
              <a:rPr lang="kk-KZ" sz="1900" b="1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en-US" sz="1900" b="1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 рабочего времени</a:t>
            </a:r>
            <a:endParaRPr lang="en-US" sz="1900" dirty="0">
              <a:solidFill>
                <a:schemeClr val="accent6"/>
              </a:solidFill>
            </a:endParaRPr>
          </a:p>
        </p:txBody>
      </p:sp>
      <p:sp>
        <p:nvSpPr>
          <p:cNvPr id="14" name="Desc"/>
          <p:cNvSpPr/>
          <p:nvPr/>
        </p:nvSpPr>
        <p:spPr>
          <a:xfrm>
            <a:off x="877824" y="3776472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партнёра × 10 мин сверки 1С и Panorama + ~</a:t>
            </a:r>
            <a:r>
              <a:rPr lang="ru-RU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 переписки об ошибках </a:t>
            </a:r>
            <a:r>
              <a:rPr lang="en-US" sz="110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формата</a:t>
            </a: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Acc Card"/>
          <p:cNvSpPr/>
          <p:nvPr/>
        </p:nvSpPr>
        <p:spPr>
          <a:xfrm>
            <a:off x="6364224" y="2139696"/>
            <a:ext cx="5260543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 Lbl"/>
          <p:cNvSpPr/>
          <p:nvPr/>
        </p:nvSpPr>
        <p:spPr>
          <a:xfrm>
            <a:off x="6364224" y="2706624"/>
            <a:ext cx="5260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накладных по 10 000+ торговых точек</a:t>
            </a:r>
            <a:endParaRPr lang="en-US" sz="1100" dirty="0"/>
          </a:p>
        </p:txBody>
      </p:sp>
      <p:sp>
        <p:nvSpPr>
          <p:cNvPr id="17" name="Acc Val"/>
          <p:cNvSpPr/>
          <p:nvPr/>
        </p:nvSpPr>
        <p:spPr>
          <a:xfrm>
            <a:off x="6364224" y="3054096"/>
            <a:ext cx="526054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накладных</a:t>
            </a:r>
            <a:endParaRPr lang="en-US" sz="3800" dirty="0"/>
          </a:p>
        </p:txBody>
      </p:sp>
      <p:sp>
        <p:nvSpPr>
          <p:cNvPr id="29" name="Acc Sub"/>
          <p:cNvSpPr/>
          <p:nvPr/>
        </p:nvSpPr>
        <p:spPr>
          <a:xfrm>
            <a:off x="6510528" y="3776472"/>
            <a:ext cx="49679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выборки до 10 ТТ — выше integrity, у партнёров нет возможности манипулировать суммами</a:t>
            </a:r>
            <a:endParaRPr lang="en-US" sz="1000" dirty="0"/>
          </a:p>
        </p:txBody>
      </p:sp>
      <p:sp>
        <p:nvSpPr>
          <p:cNvPr id="18" name="Check Card"/>
          <p:cNvSpPr/>
          <p:nvPr/>
        </p:nvSpPr>
        <p:spPr>
          <a:xfrm>
            <a:off x="566928" y="4498848"/>
            <a:ext cx="11057839" cy="13716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Check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40580"/>
            <a:ext cx="173736" cy="173736"/>
          </a:xfrm>
          <a:prstGeom prst="rect">
            <a:avLst/>
          </a:prstGeom>
        </p:spPr>
      </p:pic>
      <p:sp>
        <p:nvSpPr>
          <p:cNvPr id="20" name="ChkT"/>
          <p:cNvSpPr/>
          <p:nvPr/>
        </p:nvSpPr>
        <p:spPr>
          <a:xfrm>
            <a:off x="1225296" y="45811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Авто-проверка выгрузок 1С от 33 партнёров: коды ТТ, суммы, разбивка по типам скидок RI/BO · SS/OC · LP · EP · KB</a:t>
            </a:r>
            <a:endParaRPr lang="en-US" sz="1150" dirty="0"/>
          </a:p>
        </p:txBody>
      </p:sp>
      <p:pic>
        <p:nvPicPr>
          <p:cNvPr id="21" name="Check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097780"/>
            <a:ext cx="173736" cy="173736"/>
          </a:xfrm>
          <a:prstGeom prst="rect">
            <a:avLst/>
          </a:prstGeom>
        </p:spPr>
      </p:pic>
      <p:sp>
        <p:nvSpPr>
          <p:cNvPr id="22" name="ChkT"/>
          <p:cNvSpPr/>
          <p:nvPr/>
        </p:nvSpPr>
        <p:spPr>
          <a:xfrm>
            <a:off x="1225296" y="50383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Некорректный формат (код и название ТТ в одной ячейке) система находит сама и запрашивает исправление у партнёра</a:t>
            </a:r>
            <a:endParaRPr lang="en-US" sz="1150" dirty="0"/>
          </a:p>
        </p:txBody>
      </p:sp>
      <p:pic>
        <p:nvPicPr>
          <p:cNvPr id="23" name="Check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54980"/>
            <a:ext cx="173736" cy="173736"/>
          </a:xfrm>
          <a:prstGeom prst="rect">
            <a:avLst/>
          </a:prstGeom>
        </p:spPr>
      </p:pic>
      <p:sp>
        <p:nvSpPr>
          <p:cNvPr id="24" name="ChkT"/>
          <p:cNvSpPr/>
          <p:nvPr/>
        </p:nvSpPr>
        <p:spPr>
          <a:xfrm>
            <a:off x="1225296" y="54955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≈ </a:t>
            </a:r>
            <a:r>
              <a:rPr lang="ru-RU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2316</a:t>
            </a: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ч/год на команду из 5 специалистов — без обучения ручной сверке и переписки с партнёрами</a:t>
            </a:r>
            <a:endParaRPr lang="en-US" sz="1150" dirty="0"/>
          </a:p>
        </p:txBody>
      </p:sp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950</Words>
  <Application>Microsoft Office PowerPoint</Application>
  <PresentationFormat>Широкоэкранный</PresentationFormat>
  <Paragraphs>202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бизнес-кейс</dc:title>
  <dc:subject>PptxGenJS Presentation</dc:subject>
  <dc:creator>Efes Kazakhstan</dc:creator>
  <cp:lastModifiedBy>Aset Seksenali</cp:lastModifiedBy>
  <cp:revision>5</cp:revision>
  <dcterms:created xsi:type="dcterms:W3CDTF">2026-05-31T08:54:41Z</dcterms:created>
  <dcterms:modified xsi:type="dcterms:W3CDTF">2026-06-12T13:52:26Z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