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61" r:id="rId5"/>
    <p:sldId id="259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6928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продаж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БИЗНЕС-КЕЙС · АВТОМАТИЗАЦИЯ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промо-активностей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которая заменяет ручную работу в Excel и Outlook сквозными цифровыми процессами, авто-уведомлениями и AI-проверкой запросов партнёров.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бизнес-кейс для руководителя продаж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ПРОЦЕССЫ 01–03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выделено то, что выполняет система;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действия и решения человека.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3875" y="2432304"/>
            <a:ext cx="1391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продукта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складе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дистрибьютора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597" y="2761488"/>
            <a:ext cx="109728" cy="1097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790901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Авто-уведомление партнёров письмом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212080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и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отчета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Автоматизировано системой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/ решение человека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843016"/>
            <a:ext cx="4675327" cy="384048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843016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из 13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шагов выполняет система — людям остаются ввод промо и его создание в Panorama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98755" y="59989"/>
            <a:ext cx="6595623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 системы – </a:t>
            </a:r>
            <a:r>
              <a:rPr lang="en-US" sz="29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N+1, N+KZT</a:t>
            </a:r>
            <a:endParaRPr lang="en-US" sz="29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443067" y="580644"/>
            <a:ext cx="18333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2000" b="1" dirty="0">
                <a:solidFill>
                  <a:srgbClr val="00B050"/>
                </a:solidFill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Как будет:</a:t>
            </a:r>
            <a:endParaRPr lang="en-US" sz="2000" b="1" dirty="0">
              <a:solidFill>
                <a:srgbClr val="00B050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33856" y="1759937"/>
            <a:ext cx="38020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Разрозненные Excel-файлы и коммуникация через почту</a:t>
            </a:r>
            <a:r>
              <a:rPr lang="ru-RU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(Отсутствие единого источника данных и ведение коммуникации в письмах → </a:t>
            </a:r>
            <a:r>
              <a:rPr lang="ru-RU" sz="1400" i="1" dirty="0">
                <a:solidFill>
                  <a:schemeClr val="tx2"/>
                </a:solidFill>
              </a:rPr>
              <a:t>Специалист</a:t>
            </a:r>
            <a:r>
              <a:rPr lang="ru-RU" sz="1400" dirty="0">
                <a:solidFill>
                  <a:schemeClr val="tx2"/>
                </a:solidFill>
              </a:rPr>
              <a:t> </a:t>
            </a:r>
            <a:r>
              <a:rPr lang="ru-RU" sz="1400" i="1" dirty="0">
                <a:solidFill>
                  <a:schemeClr val="tx2"/>
                </a:solidFill>
              </a:rPr>
              <a:t>трейд маркетинга – </a:t>
            </a:r>
            <a:r>
              <a:rPr lang="en-US" sz="1400" i="1" dirty="0">
                <a:solidFill>
                  <a:schemeClr val="tx2"/>
                </a:solidFill>
              </a:rPr>
              <a:t>SSC </a:t>
            </a:r>
            <a:r>
              <a:rPr lang="ru-RU" sz="1400" i="1" dirty="0">
                <a:solidFill>
                  <a:schemeClr val="tx2"/>
                </a:solidFill>
              </a:rPr>
              <a:t>специалист – </a:t>
            </a:r>
            <a:r>
              <a:rPr lang="en-US" sz="1400" i="1" dirty="0">
                <a:solidFill>
                  <a:schemeClr val="tx2"/>
                </a:solidFill>
              </a:rPr>
              <a:t>CRM</a:t>
            </a:r>
            <a:r>
              <a:rPr lang="ru-RU" sz="1400" i="1" dirty="0">
                <a:solidFill>
                  <a:schemeClr val="tx2"/>
                </a:solidFill>
              </a:rPr>
              <a:t> специалист - </a:t>
            </a:r>
            <a:r>
              <a:rPr lang="en-US" sz="1400" i="1" dirty="0">
                <a:solidFill>
                  <a:schemeClr val="tx2"/>
                </a:solidFill>
              </a:rPr>
              <a:t>SSC </a:t>
            </a:r>
            <a:r>
              <a:rPr lang="ru-RU" sz="1400" i="1" dirty="0">
                <a:solidFill>
                  <a:schemeClr val="tx2"/>
                </a:solidFill>
              </a:rPr>
              <a:t>специалист – Партнеры</a:t>
            </a:r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669384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6112" y="3364992"/>
            <a:ext cx="4687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6112" y="3913632"/>
            <a:ext cx="4687672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133856" y="4050792"/>
            <a:ext cx="443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302856" y="2615184"/>
            <a:ext cx="296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381183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07912" y="3364992"/>
            <a:ext cx="4687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607912" y="3913632"/>
            <a:ext cx="4687672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057649" y="1646875"/>
            <a:ext cx="443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00B050"/>
                </a:solidFill>
              </a:rPr>
              <a:t>Единая система управления промо-процессами </a:t>
            </a:r>
            <a:r>
              <a:rPr lang="ru-RU" sz="1400" i="1" dirty="0">
                <a:solidFill>
                  <a:schemeClr val="tx2"/>
                </a:solidFill>
              </a:rPr>
              <a:t>(Единый реестр и вся коммуникация в одном пространстве → полная прозрачность, мгновенная синхронизация и отсутствие потерь информации)</a:t>
            </a:r>
          </a:p>
        </p:txBody>
      </p:sp>
      <p:sp>
        <p:nvSpPr>
          <p:cNvPr id="26" name="Shape 20"/>
          <p:cNvSpPr/>
          <p:nvPr/>
        </p:nvSpPr>
        <p:spPr>
          <a:xfrm>
            <a:off x="555884" y="5358384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896112" y="5057408"/>
            <a:ext cx="1039947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49488" y="5699916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906851" y="5674165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2926079" y="5683490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3656863" y="568349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692042" y="568349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Активация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721919" y="5693508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6487882" y="568349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6487973" y="56545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8473513" y="5683490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9265616" y="5654556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273469" y="5637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C800C1C0-F4F9-A3E3-11F8-02FC26265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09" y="1429574"/>
            <a:ext cx="313822" cy="313822"/>
          </a:xfrm>
          <a:prstGeom prst="rect">
            <a:avLst/>
          </a:prstGeom>
        </p:spPr>
      </p:pic>
      <p:pic>
        <p:nvPicPr>
          <p:cNvPr id="48" name="Image 2" descr="preencoded.png">
            <a:extLst>
              <a:ext uri="{FF2B5EF4-FFF2-40B4-BE49-F238E27FC236}">
                <a16:creationId xmlns:a16="http://schemas.microsoft.com/office/drawing/2014/main" id="{DB983C6E-C195-1DCF-97CD-F4CA16E14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65" y="3740566"/>
            <a:ext cx="313822" cy="31382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E952E13-74B8-3B19-F599-828DE26710C4}"/>
              </a:ext>
            </a:extLst>
          </p:cNvPr>
          <p:cNvSpPr txBox="1"/>
          <p:nvPr/>
        </p:nvSpPr>
        <p:spPr>
          <a:xfrm>
            <a:off x="1049544" y="3517974"/>
            <a:ext cx="52449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кодов, расчет компенсаций и верификация большого объема запросов в неавтоматизированном процессе</a:t>
            </a:r>
          </a:p>
          <a:p>
            <a:r>
              <a:rPr lang="ru-RU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дублей</a:t>
            </a: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переплат</a:t>
            </a: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искажений</a:t>
            </a: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14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отчётах</a:t>
            </a:r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16439F-8E5E-5D16-1136-7F49B8BA4629}"/>
              </a:ext>
            </a:extLst>
          </p:cNvPr>
          <p:cNvSpPr txBox="1"/>
          <p:nvPr/>
        </p:nvSpPr>
        <p:spPr>
          <a:xfrm>
            <a:off x="1599023" y="660594"/>
            <a:ext cx="18126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  <a:latin typeface="72 Black" panose="020B0A04030603020204" pitchFamily="34" charset="0"/>
                <a:ea typeface="Calibri" pitchFamily="34" charset="-122"/>
                <a:cs typeface="72 Black" panose="020B0A04030603020204" pitchFamily="34" charset="0"/>
              </a:rPr>
              <a:t>Как было:</a:t>
            </a:r>
            <a:endParaRPr lang="en-US" sz="2000" b="1" dirty="0">
              <a:solidFill>
                <a:srgbClr val="FF0000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E6DF961-57A1-5C66-5857-8E5F2FA7F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98" y="4642025"/>
            <a:ext cx="313822" cy="31382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A69D0E5-27CA-E383-1A9E-EEAF6988EA09}"/>
              </a:ext>
            </a:extLst>
          </p:cNvPr>
          <p:cNvSpPr txBox="1"/>
          <p:nvPr/>
        </p:nvSpPr>
        <p:spPr>
          <a:xfrm>
            <a:off x="996696" y="4669363"/>
            <a:ext cx="4297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человеческого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фактора</a:t>
            </a:r>
            <a:r>
              <a:rPr lang="ru-RU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</a:t>
            </a:r>
            <a:r>
              <a:rPr lang="en-US" sz="14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14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</a:t>
            </a:r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DDFE45-F884-D311-1437-970A60ECB1D0}"/>
              </a:ext>
            </a:extLst>
          </p:cNvPr>
          <p:cNvSpPr txBox="1"/>
          <p:nvPr/>
        </p:nvSpPr>
        <p:spPr>
          <a:xfrm>
            <a:off x="5703722" y="2841998"/>
            <a:ext cx="1154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KZ" dirty="0"/>
          </a:p>
        </p:txBody>
      </p:sp>
      <p:sp>
        <p:nvSpPr>
          <p:cNvPr id="58" name="Rectangle 1">
            <a:extLst>
              <a:ext uri="{FF2B5EF4-FFF2-40B4-BE49-F238E27FC236}">
                <a16:creationId xmlns:a16="http://schemas.microsoft.com/office/drawing/2014/main" id="{1655FA0D-5822-D108-2784-7D90C11C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071A39-6CD9-D0B8-8159-41E5BAD61AAD}"/>
              </a:ext>
            </a:extLst>
          </p:cNvPr>
          <p:cNvSpPr txBox="1"/>
          <p:nvPr/>
        </p:nvSpPr>
        <p:spPr>
          <a:xfrm>
            <a:off x="5618266" y="2192783"/>
            <a:ext cx="132518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ru-KZ" sz="8800" dirty="0">
              <a:solidFill>
                <a:schemeClr val="accent6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217A1-43C0-0695-9C76-CEF196B91945}"/>
              </a:ext>
            </a:extLst>
          </p:cNvPr>
          <p:cNvSpPr txBox="1"/>
          <p:nvPr/>
        </p:nvSpPr>
        <p:spPr>
          <a:xfrm>
            <a:off x="7055866" y="3453768"/>
            <a:ext cx="513613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алгоритмы расчётов и кодирования </a:t>
            </a:r>
            <a:r>
              <a:rPr lang="kk-KZ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сама присваивает код, проверяя при этом дубли, наличие продукта на складе дистрибьютора и осуществляет расчет компенсации, сверяя с запросами партнеров)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06DD37-3B63-7947-01F4-F0E369B7D8AB}"/>
              </a:ext>
            </a:extLst>
          </p:cNvPr>
          <p:cNvSpPr txBox="1"/>
          <p:nvPr/>
        </p:nvSpPr>
        <p:spPr>
          <a:xfrm>
            <a:off x="7016377" y="4414216"/>
            <a:ext cx="44572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Минимизация человеческого фактора </a:t>
            </a:r>
            <a:r>
              <a:rPr lang="kk-KZ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Стандартизированный и прозрачный процесс → предсказуемый результат и снижение рисков)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BCAD8E-ED17-22B3-FA10-6212B09E33AE}"/>
              </a:ext>
            </a:extLst>
          </p:cNvPr>
          <p:cNvSpPr txBox="1"/>
          <p:nvPr/>
        </p:nvSpPr>
        <p:spPr>
          <a:xfrm>
            <a:off x="1049544" y="2810994"/>
            <a:ext cx="43006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Отчеты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Status </a:t>
            </a:r>
            <a:r>
              <a:rPr lang="ru-RU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создаются вручную </a:t>
            </a: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Существенные временные затраты сотрудника)</a:t>
            </a:r>
            <a:endParaRPr lang="en-US" sz="1600" i="1" dirty="0">
              <a:solidFill>
                <a:schemeClr val="tx2"/>
              </a:solidFill>
            </a:endParaRPr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9A400FAA-7536-ACD6-883D-5312204CE1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98" y="2916058"/>
            <a:ext cx="313822" cy="313822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F782074D-AC16-56FA-8969-A834E58B2B62}"/>
              </a:ext>
            </a:extLst>
          </p:cNvPr>
          <p:cNvSpPr txBox="1"/>
          <p:nvPr/>
        </p:nvSpPr>
        <p:spPr>
          <a:xfrm>
            <a:off x="7028911" y="2558286"/>
            <a:ext cx="46982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отчётность </a:t>
            </a:r>
            <a:r>
              <a:rPr lang="ru-RU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(Формирование и отправка отчетов за секунды → оперативная аналитика и быстрые решения)</a:t>
            </a:r>
            <a:endParaRPr lang="en-US" sz="1400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ПРОЦЕССОВ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бизнес-процесса — в одной системе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процесс описан в нотации BPMN. Следующий слайд показывает, какие шаги берёт на себя система.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83738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3738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от Trade-маркетинга или On-trade → присвоение кода → запись в Panorama → уведомление партнёров.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4794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7402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91605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91605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402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7402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квоты, периода, добавление продукта или точки → правка в Panorama → синхронизация и уведомление.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2661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5269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399471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99471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75269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75269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присылает «Запрос» → расчёт ∑(литры × цена периода) → AI-проверка → передача в Контроллинг.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0235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6112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39312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24248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4248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 &amp; изменения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67448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52383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52383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растёт быстрее, чем успевают руки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три года число промо-активностей выросло почти в 5 раз, а годовой бюджет промо — в 2,4 раза. При почти неизменном числе партнёров объём растёт быстрее, чем справляются ручные процессы.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125" y="2318004"/>
            <a:ext cx="5486400" cy="3584448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25877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 по годам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заведённых акций за год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3372" y="3380293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9092" y="3380293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</a:t>
            </a:r>
            <a:endParaRPr lang="en-US" sz="1000" dirty="0"/>
          </a:p>
        </p:txBody>
      </p:sp>
      <p:sp>
        <p:nvSpPr>
          <p:cNvPr id="60" name="Bar 2023"/>
          <p:cNvSpPr/>
          <p:nvPr/>
        </p:nvSpPr>
        <p:spPr>
          <a:xfrm>
            <a:off x="1119000" y="4906390"/>
            <a:ext cx="762000" cy="442850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Val 2023"/>
          <p:cNvSpPr/>
          <p:nvPr/>
        </p:nvSpPr>
        <p:spPr>
          <a:xfrm>
            <a:off x="95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2 084</a:t>
            </a:r>
            <a:endParaRPr lang="en-US" sz="1300" dirty="0"/>
          </a:p>
        </p:txBody>
      </p:sp>
      <p:sp>
        <p:nvSpPr>
          <p:cNvPr id="62" name="Yr 2023"/>
          <p:cNvSpPr/>
          <p:nvPr/>
        </p:nvSpPr>
        <p:spPr>
          <a:xfrm>
            <a:off x="95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9000" y="4884494"/>
            <a:ext cx="762000" cy="464746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0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2 187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0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9000" y="3205998"/>
            <a:ext cx="762000" cy="214884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3372" y="2843784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10 112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7769" y="5413248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91982" y="3618225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×4,6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4681728" y="420596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00" y="4202461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+362 %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64224" y="2331720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0256" y="2441448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253167" y="2441448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26974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35824" y="2697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38744" y="2660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545775" y="271576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45775" y="27157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+6,5 %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64224" y="3259836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0256" y="3369564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· SKU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253167" y="3369564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0256" y="362559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35824" y="36255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38744" y="35890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545775" y="364388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45775" y="36438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+35 %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253167" y="429768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0256" y="45537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35824" y="455371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38744" y="45171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545775" y="45720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64223" y="4369339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09348" y="4434093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ПРОМО / ГОД · МЛРД ₸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245394" y="4517136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→ 2025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29400" y="473617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754112" y="470841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02753" y="46901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2,41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0481766" y="480149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513771" y="4800279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+140 %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объём — тем выше автоматизация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Автоматизированные шаги — уведомления, расчёты, Excel, AI-проверка, синхронизация — выполняются почти без затрат времени на каждую новую промо. Ручные шаги фиксированы. Поэтому с ростом объёма доля автоматизации растёт к структурному потолку 8 из 13 шагов (≈ 62 %).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42817" y="2185416"/>
            <a:ext cx="3466490" cy="221284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70832" y="240487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70832" y="2395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56320" y="230055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r>
              <a:rPr lang="en-US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33587" y="269561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82387" y="3338306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ч/</a:t>
            </a:r>
            <a:r>
              <a:rPr lang="en-US" sz="1900" b="1" dirty="0" err="1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</a:t>
            </a: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82387" y="3767328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платформы. Единый источник данных вместо разрозненных Excel-файлов.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4613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74613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36922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636922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2597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70287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70287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32597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432597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endParaRPr lang="en-US" sz="1100" dirty="0"/>
          </a:p>
        </p:txBody>
      </p:sp>
      <p:sp>
        <p:nvSpPr>
          <p:cNvPr id="60" name="Meter Track 60"/>
          <p:cNvSpPr/>
          <p:nvPr/>
        </p:nvSpPr>
        <p:spPr>
          <a:xfrm>
            <a:off x="4517137" y="3154680"/>
            <a:ext cx="2917850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Meter Fill 61"/>
          <p:cNvSpPr/>
          <p:nvPr/>
        </p:nvSpPr>
        <p:spPr>
          <a:xfrm>
            <a:off x="4521242" y="3154645"/>
            <a:ext cx="1021248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7971" y="4745736"/>
            <a:ext cx="3200400" cy="1481328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143A28"/>
              </a:gs>
              <a:gs pos="100000">
                <a:srgbClr val="0A1D14"/>
              </a:gs>
            </a:gsLst>
            <a:lin ang="5400000" scaled="0"/>
          </a:gradFill>
          <a:ln w="12700">
            <a:solidFill>
              <a:srgbClr val="2F7A50"/>
            </a:solidFill>
            <a:prstDash val="solid"/>
          </a:ln>
          <a:effectLst>
            <a:outerShdw blurRad="101600" dir="5400000" rotWithShape="0">
              <a:srgbClr val="2FB46E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4672" y="4919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Накопленный </a:t>
            </a:r>
            <a:r>
              <a:rPr lang="en-US" sz="1100" b="1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</a:t>
            </a:r>
            <a:r>
              <a:rPr lang="en-US" sz="1100" b="1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ru-RU" sz="1100" b="1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ч/год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5193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r>
              <a:rPr lang="ru-RU" sz="38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7 000 </a:t>
            </a:r>
            <a:r>
              <a:rPr lang="en-US" sz="38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749808" y="5779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78224" y="4731553"/>
            <a:ext cx="7546543" cy="1481328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626864" y="4901184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412" y="4974336"/>
            <a:ext cx="188724" cy="18872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626863" y="4910328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сфокусирована </a:t>
            </a:r>
            <a:r>
              <a:rPr lang="en-US" sz="1150" b="1" dirty="0" err="1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аналитике и создании новых идей </a:t>
            </a:r>
            <a:r>
              <a:rPr lang="en-US" sz="1150" b="1" dirty="0" err="1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</a:t>
            </a: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ручной рутины</a:t>
            </a:r>
            <a:endParaRPr lang="en-US" sz="115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311" y="5327470"/>
            <a:ext cx="188724" cy="18872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626862" y="5294469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Технологичный </a:t>
            </a:r>
            <a:r>
              <a:rPr lang="en-US" sz="1150" b="1" dirty="0" err="1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</a:t>
            </a: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сильный PR и </a:t>
            </a:r>
            <a:r>
              <a:rPr lang="ru-RU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масштабирования системы на все департаменты </a:t>
            </a:r>
            <a:endParaRPr lang="en-US" sz="115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983" y="5747938"/>
            <a:ext cx="186110" cy="18611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636922" y="5678611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Отрыв от конкурентов по скорости, точности и масштабу процессов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4" descr="/Users/asetseksenali/Downloads/efes/assets/efes-badge.png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766</Words>
  <Application>Microsoft Office PowerPoint</Application>
  <PresentationFormat>Широкоэкранный</PresentationFormat>
  <Paragraphs>188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72 Black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бизнес-кейс</dc:title>
  <dc:subject>PptxGenJS Presentation</dc:subject>
  <dc:creator>Efes Kazakhstan</dc:creator>
  <cp:lastModifiedBy>Aruzhan Seksenali</cp:lastModifiedBy>
  <cp:revision>4</cp:revision>
  <dcterms:created xsi:type="dcterms:W3CDTF">2026-05-31T08:54:41Z</dcterms:created>
  <dcterms:modified xsi:type="dcterms:W3CDTF">2026-06-03T10:07:52Z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fda2e-cb39-40eb-9c23-082a57943f2a_Enabled">
    <vt:lpwstr>true</vt:lpwstr>
  </property>
  <property fmtid="{D5CDD505-2E9C-101B-9397-08002B2CF9AE}" pid="3" name="MSIP_Label_e86fda2e-cb39-40eb-9c23-082a57943f2a_SetDate">
    <vt:lpwstr>2026-06-03T05:47:32Z</vt:lpwstr>
  </property>
  <property fmtid="{D5CDD505-2E9C-101B-9397-08002B2CF9AE}" pid="4" name="MSIP_Label_e86fda2e-cb39-40eb-9c23-082a57943f2a_Method">
    <vt:lpwstr>Privileged</vt:lpwstr>
  </property>
  <property fmtid="{D5CDD505-2E9C-101B-9397-08002B2CF9AE}" pid="5" name="MSIP_Label_e86fda2e-cb39-40eb-9c23-082a57943f2a_Name">
    <vt:lpwstr>Публичные данные</vt:lpwstr>
  </property>
  <property fmtid="{D5CDD505-2E9C-101B-9397-08002B2CF9AE}" pid="6" name="MSIP_Label_e86fda2e-cb39-40eb-9c23-082a57943f2a_SiteId">
    <vt:lpwstr>e763b98e-4b7c-41f7-9105-0ab753568526</vt:lpwstr>
  </property>
  <property fmtid="{D5CDD505-2E9C-101B-9397-08002B2CF9AE}" pid="7" name="MSIP_Label_e86fda2e-cb39-40eb-9c23-082a57943f2a_ActionId">
    <vt:lpwstr>6609c51b-9195-442a-b398-3174045bb277</vt:lpwstr>
  </property>
  <property fmtid="{D5CDD505-2E9C-101B-9397-08002B2CF9AE}" pid="8" name="MSIP_Label_e86fda2e-cb39-40eb-9c23-082a57943f2a_ContentBits">
    <vt:lpwstr>0</vt:lpwstr>
  </property>
  <property fmtid="{D5CDD505-2E9C-101B-9397-08002B2CF9AE}" pid="9" name="MSIP_Label_e86fda2e-cb39-40eb-9c23-082a57943f2a_Tag">
    <vt:lpwstr>10, 0, 1, 1</vt:lpwstr>
  </property>
</Properties>
</file>