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5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66928"/>
            <a:ext cx="54864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80160" y="603504"/>
            <a:ext cx="0" cy="475488"/>
          </a:xfrm>
          <a:prstGeom prst="line">
            <a:avLst/>
          </a:prstGeom>
          <a:noFill/>
          <a:ln w="12700">
            <a:solidFill>
              <a:srgbClr val="3344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426464" y="548640"/>
            <a:ext cx="5486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kern="0" spc="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продаж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66928" y="219913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" y="20756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БИЗНЕС-КЕЙС · АВТОМАТИЗАЦИЯ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66928" y="3456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промо-активностей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66928" y="4224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платформа, которая заменяет ручную работу в Excel и Outlook сквозными цифровыми процессами, авто-уведомлениями и AI-проверкой запросов партнёров.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66928" y="5285232"/>
            <a:ext cx="1730045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1520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" y="5285232"/>
            <a:ext cx="14008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1565" y="5285232"/>
            <a:ext cx="1814170" cy="384048"/>
          </a:xfrm>
          <a:prstGeom prst="roundRect">
            <a:avLst>
              <a:gd name="adj" fmla="val 50000"/>
            </a:avLst>
          </a:prstGeom>
          <a:solidFill>
            <a:srgbClr val="13203A"/>
          </a:solidFill>
          <a:ln w="12700">
            <a:solidFill>
              <a:srgbClr val="2A3A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626157" y="5449824"/>
            <a:ext cx="64008" cy="64008"/>
          </a:xfrm>
          <a:prstGeom prst="ellipse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754173" y="5285232"/>
            <a:ext cx="14849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/Users/asetseksenali/Downloads/efes/assets/efes-badge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бизнес-кейс для руководителя продаж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охватывает система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продукт закрывает полный жизненный цикл промо-активностей — от создания и активации до закрытия месяца с AI-проверкой запросов.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534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2596896"/>
            <a:ext cx="566928" cy="566928"/>
          </a:xfrm>
          <a:prstGeom prst="roundRect">
            <a:avLst>
              <a:gd name="adj" fmla="val 27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887" y="2732959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91056" y="2615184"/>
            <a:ext cx="296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6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в литрах</a:t>
            </a:r>
          </a:p>
        </p:txBody>
      </p:sp>
      <p:sp>
        <p:nvSpPr>
          <p:cNvPr id="10" name="Shape 7"/>
          <p:cNvSpPr/>
          <p:nvPr/>
        </p:nvSpPr>
        <p:spPr>
          <a:xfrm>
            <a:off x="4669384" y="2670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669384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каждые N литров — 1 литр в подарок.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961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4164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33856" y="3986784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On-trade + Off-trade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78728" y="2286000"/>
            <a:ext cx="53460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89624" y="2596896"/>
            <a:ext cx="566928" cy="566928"/>
          </a:xfrm>
          <a:prstGeom prst="roundRect">
            <a:avLst>
              <a:gd name="adj" fmla="val 27000"/>
            </a:avLst>
          </a:prstGeom>
          <a:solidFill>
            <a:srgbClr val="E3EE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5686" y="273295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02856" y="2615184"/>
            <a:ext cx="296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Денежная компенсация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0381183" y="2670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10381183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KZT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607912" y="3364992"/>
            <a:ext cx="4687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 err="1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</a:t>
            </a: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виде денег</a:t>
            </a: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607912" y="3913632"/>
            <a:ext cx="4687672" cy="0"/>
          </a:xfrm>
          <a:prstGeom prst="line">
            <a:avLst/>
          </a:prstGeom>
          <a:noFill/>
          <a:ln w="12700">
            <a:solidFill>
              <a:srgbClr val="EEF1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04164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5656" y="3986784"/>
            <a:ext cx="443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Off-trade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" y="4846320"/>
            <a:ext cx="11057839" cy="1078992"/>
          </a:xfrm>
          <a:prstGeom prst="roundRect">
            <a:avLst>
              <a:gd name="adj" fmla="val 7627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896112" y="4992624"/>
            <a:ext cx="1039947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жизненный цикл — с AI-проверкой запросов партнёров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96112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896112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2907792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3692042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692042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5703722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6487973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6487973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8499653" y="5413248"/>
            <a:ext cx="7842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Shape 31"/>
          <p:cNvSpPr/>
          <p:nvPr/>
        </p:nvSpPr>
        <p:spPr>
          <a:xfrm>
            <a:off x="9283903" y="5413248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9283903" y="541324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/Users/asetseksenali/Downloads/efes/assets/efes-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2" name="Text 35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всё делается вручную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103120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29" y="2247961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816352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несвязанных файлов Excel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3255264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источника данных — версии конфликтуют.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44488" y="2103120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2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329" y="224796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4488" y="2816352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 в Outlook и мессенджерах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644488" y="3255264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теряются, согласования задерживаются.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4059936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32688" y="4425696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1430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529" y="4570537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32688" y="5138928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кодирование и расчёты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932688" y="5577840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дублей, переплат и искажений в отчётах.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059936"/>
            <a:ext cx="5346040" cy="1993392"/>
          </a:xfrm>
          <a:prstGeom prst="roundRect">
            <a:avLst>
              <a:gd name="adj" fmla="val 4128"/>
            </a:avLst>
          </a:prstGeom>
          <a:solidFill>
            <a:srgbClr val="16223B"/>
          </a:solidFill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644488" y="4425696"/>
            <a:ext cx="603504" cy="603504"/>
          </a:xfrm>
          <a:prstGeom prst="roundRect">
            <a:avLst>
              <a:gd name="adj" fmla="val 27000"/>
            </a:avLst>
          </a:prstGeom>
          <a:solidFill>
            <a:srgbClr val="2C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9329" y="4570537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44488" y="5138928"/>
            <a:ext cx="4614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человеческого фактора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6644488" y="5577840"/>
            <a:ext cx="4614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промо в месяц — одна ошибка идёт каскадом.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4" descr="/Users/asetseksenali/Downloads/efes/assets/efes-badge.png"/>
          <p:cNvPicPr>
            <a:picLocks noChangeAspect="1"/>
          </p:cNvPicPr>
          <p:nvPr/>
        </p:nvPicPr>
        <p:blipFill>
          <a:blip r:embed="rId8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растёт быстрее, чем успевают руки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три года число промо-активностей выросло почти в 5 раз, а годовой бюджет промо — в 2,4 раза. При почти неизменном числе партнёров объём растёт быстрее, чем справляются ручные процессы.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5486400" cy="3584448"/>
          </a:xfrm>
          <a:prstGeom prst="roundRect">
            <a:avLst>
              <a:gd name="adj" fmla="val 2296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77824" y="2587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Промо-активности по годам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8986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заведённых акций за год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00776" y="3260000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00776" y="32600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</a:t>
            </a:r>
            <a:endParaRPr lang="en-US" sz="1000" dirty="0"/>
          </a:p>
        </p:txBody>
      </p:sp>
      <p:sp>
        <p:nvSpPr>
          <p:cNvPr id="60" name="Bar 2023"/>
          <p:cNvSpPr/>
          <p:nvPr/>
        </p:nvSpPr>
        <p:spPr>
          <a:xfrm>
            <a:off x="1119000" y="4906390"/>
            <a:ext cx="762000" cy="442850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Val 2023"/>
          <p:cNvSpPr/>
          <p:nvPr/>
        </p:nvSpPr>
        <p:spPr>
          <a:xfrm>
            <a:off x="95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2 084</a:t>
            </a:r>
            <a:endParaRPr lang="en-US" sz="1300" dirty="0"/>
          </a:p>
        </p:txBody>
      </p:sp>
      <p:sp>
        <p:nvSpPr>
          <p:cNvPr id="62" name="Yr 2023"/>
          <p:cNvSpPr/>
          <p:nvPr/>
        </p:nvSpPr>
        <p:spPr>
          <a:xfrm>
            <a:off x="95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9000" y="4884494"/>
            <a:ext cx="762000" cy="464746"/>
          </a:xfrm>
          <a:prstGeom prst="rect">
            <a:avLst/>
          </a:prstGeom>
          <a:solidFill>
            <a:srgbClr val="B7C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00000" y="4573598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2 187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0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69000" y="3200400"/>
            <a:ext cx="762000" cy="214884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00000" y="2889504"/>
            <a:ext cx="110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10 112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00000" y="5404104"/>
            <a:ext cx="110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72760" y="372160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×4,6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3383072" y="4350000"/>
            <a:ext cx="1133856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83072" y="4350000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+362 %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64224" y="2331720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20256" y="2441448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253167" y="2441448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26974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35824" y="26974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38744" y="26609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545775" y="2715768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545775" y="27157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+6,5 %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64224" y="3259836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0256" y="3369564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ПРОДУКТЫ · SKU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253167" y="3369564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 6 мес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20256" y="362559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35824" y="362559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38744" y="35890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545775" y="3643884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45775" y="3643884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+35 %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64224" y="4187952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20256" y="4297680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ТОРГОВЫЕ ТОЧКИ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253167" y="429768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→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20256" y="45537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3 857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735824" y="455371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38744" y="45171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5 410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10545775" y="457200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0545775" y="457200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+40 %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64224" y="5116068"/>
            <a:ext cx="5260543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620256" y="5225796"/>
            <a:ext cx="379750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ПРОМО / ГОД · МЛРД ₸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253167" y="5225796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→ 2025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20256" y="54818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94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35824" y="548182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238744" y="54452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2,41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10545775" y="5500116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 w="12700">
            <a:solidFill>
              <a:srgbClr val="BBE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45775" y="5500116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9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+140 %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 вместо Excel и почты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Веб-система превращает разрозненные таблицы и цепочки писем в структурированные процессы с автоматизацией и проверкой.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00" y="2664196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реестр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41248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промо-активности и компенсации — в одном источнике данных. Никаких конфликтов версий.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09112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83432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884" y="2664196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3432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Сквозные процессы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83432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бизнес-процесса оцифрованы целиком: создание, изменение, закрытие.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51296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25616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6067" y="2664196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5616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AI-верификация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525616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сверка запросов партнёров с данными Panorama — мгновенно и без человека.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093479" y="2212848"/>
            <a:ext cx="2531288" cy="2743200"/>
          </a:xfrm>
          <a:prstGeom prst="roundRect">
            <a:avLst>
              <a:gd name="adj" fmla="val 3251"/>
            </a:avLst>
          </a:prstGeom>
          <a:solidFill>
            <a:srgbClr val="0E5093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9367799" y="2523744"/>
            <a:ext cx="585216" cy="585216"/>
          </a:xfrm>
          <a:prstGeom prst="roundRect">
            <a:avLst>
              <a:gd name="adj" fmla="val 27000"/>
            </a:avLst>
          </a:prstGeom>
          <a:solidFill>
            <a:srgbClr val="1E5C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251" y="2664196"/>
            <a:ext cx="304312" cy="304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7799" y="3291840"/>
            <a:ext cx="1982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Авто-уведомления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367799" y="3694176"/>
            <a:ext cx="198264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CFE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партнёрам и напоминания по срокам формируются и отправляются системой.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66928" y="5138928"/>
            <a:ext cx="11057839" cy="713232"/>
          </a:xfrm>
          <a:prstGeom prst="roundRect">
            <a:avLst>
              <a:gd name="adj" fmla="val 12821"/>
            </a:avLst>
          </a:prstGeom>
          <a:solidFill>
            <a:srgbClr val="0C3F77"/>
          </a:solidFill>
          <a:ln w="12700">
            <a:solidFill>
              <a:srgbClr val="2E72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535838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16736" y="5138928"/>
            <a:ext cx="1005199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прозрачность, полный аудит-трейл и устранение человеческого фактора в рутинных операциях.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5" descr="/Users/asetseksenali/Downloads/efes/assets/efes-badge.png"/>
          <p:cNvPicPr>
            <a:picLocks noChangeAspect="1"/>
          </p:cNvPicPr>
          <p:nvPr/>
        </p:nvPicPr>
        <p:blipFill>
          <a:blip r:embed="rId9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89788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663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ПРОЦЕССОВ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бизнес-процесса — в одной системе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процесс описан в нотации BPMN. Следующий слайд показывает, какие шаги берёт на себя система.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83738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83738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59536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от Trade-маркетинга или On-trade → присвоение кода → запись в Panorama → уведомление партнёров.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4794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7402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591605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91605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402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67402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квоты, периода, добавление продукта или точки → правка в Panorama → синхронизация и уведомление.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82661" y="2240280"/>
            <a:ext cx="3442106" cy="2542032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75269" y="249631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399471" y="2532888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99471" y="2532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75269" y="2990088"/>
            <a:ext cx="285689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75269" y="3611880"/>
            <a:ext cx="285689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присылает «Запрос» → расчёт ∑(литры × цена периода) → AI-проверка → передача в Контроллинг.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02352"/>
            <a:ext cx="11057839" cy="749808"/>
          </a:xfrm>
          <a:prstGeom prst="roundRect">
            <a:avLst>
              <a:gd name="adj" fmla="val 10976"/>
            </a:avLst>
          </a:prstGeom>
          <a:solidFill>
            <a:srgbClr val="F1F6FB"/>
          </a:solidFill>
          <a:ln w="12700">
            <a:solidFill>
              <a:srgbClr val="E3EEF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96112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6112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39312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24248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3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24248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 &amp; изменения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67448" y="5285232"/>
            <a:ext cx="1084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52383" y="5285232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004C8D"/>
          </a:solidFill>
          <a:ln w="12700">
            <a:solidFill>
              <a:srgbClr val="004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52383" y="52852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/Users/asetseksenali/Downloads/efes/assets/efes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55448" cy="29261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· ПРОЦЕССЫ 01–03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промо-активности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66928" y="1316736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BPMN-диаграммы. </a:t>
            </a:r>
            <a:r>
              <a:rPr lang="en-US" sz="120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Синим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выделено то, что выполняет система; </a:t>
            </a:r>
            <a:r>
              <a:rPr lang="en-US" sz="1200" b="1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</a:t>
            </a:r>
            <a:r>
              <a:rPr lang="en-US" sz="120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действия и решения человека.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60704" y="1719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928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TRADE-МАРКЕТИНГ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49808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Канал, партнёр, продукты, квоты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86968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50821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1717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61717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08021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08021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00629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44597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продукта на складе</a:t>
            </a:r>
            <a:endParaRPr lang="en-US" sz="8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597" y="2761488"/>
            <a:ext cx="109728" cy="10972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790901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04561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5650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35650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0281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0281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479541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3938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Присвоение кода PR-##### </a:t>
            </a:r>
            <a:r>
              <a:rPr lang="ru-RU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проверка на дубли</a:t>
            </a:r>
            <a:endParaRPr lang="en-US" sz="85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2761488"/>
            <a:ext cx="109728" cy="1097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68569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940400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251296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6251296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4"/>
          <p:cNvSpPr/>
          <p:nvPr/>
        </p:nvSpPr>
        <p:spPr>
          <a:xfrm>
            <a:off x="6397600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397600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690208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6434176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Excel-файла промо</a:t>
            </a:r>
            <a:endParaRPr lang="en-US" sz="850" dirty="0"/>
          </a:p>
        </p:txBody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176" y="2761488"/>
            <a:ext cx="109728" cy="10972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580480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7835189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8146085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8146085" y="2121408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8292389" y="2157984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/>
          <p:nvPr/>
        </p:nvSpPr>
        <p:spPr>
          <a:xfrm>
            <a:off x="8292389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8584997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50" name="Text 45"/>
          <p:cNvSpPr/>
          <p:nvPr/>
        </p:nvSpPr>
        <p:spPr>
          <a:xfrm>
            <a:off x="8328965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промо-активности в Panorama</a:t>
            </a:r>
            <a:endParaRPr lang="en-US" sz="850" dirty="0"/>
          </a:p>
        </p:txBody>
      </p:sp>
      <p:sp>
        <p:nvSpPr>
          <p:cNvPr id="51" name="Shape 46"/>
          <p:cNvSpPr/>
          <p:nvPr/>
        </p:nvSpPr>
        <p:spPr>
          <a:xfrm>
            <a:off x="8338109" y="2779776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7"/>
          <p:cNvSpPr/>
          <p:nvPr/>
        </p:nvSpPr>
        <p:spPr>
          <a:xfrm>
            <a:off x="8466125" y="27249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53" name="Text 48"/>
          <p:cNvSpPr/>
          <p:nvPr/>
        </p:nvSpPr>
        <p:spPr>
          <a:xfrm>
            <a:off x="9729978" y="2029968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49"/>
          <p:cNvSpPr/>
          <p:nvPr/>
        </p:nvSpPr>
        <p:spPr>
          <a:xfrm>
            <a:off x="10040874" y="2029968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0"/>
          <p:cNvSpPr/>
          <p:nvPr/>
        </p:nvSpPr>
        <p:spPr>
          <a:xfrm>
            <a:off x="10040874" y="2121408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1"/>
          <p:cNvSpPr/>
          <p:nvPr/>
        </p:nvSpPr>
        <p:spPr>
          <a:xfrm>
            <a:off x="10187178" y="2157984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2"/>
          <p:cNvSpPr/>
          <p:nvPr/>
        </p:nvSpPr>
        <p:spPr>
          <a:xfrm>
            <a:off x="10187178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8" name="Text 53"/>
          <p:cNvSpPr/>
          <p:nvPr/>
        </p:nvSpPr>
        <p:spPr>
          <a:xfrm>
            <a:off x="10479786" y="2157984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59" name="Text 54"/>
          <p:cNvSpPr/>
          <p:nvPr/>
        </p:nvSpPr>
        <p:spPr>
          <a:xfrm>
            <a:off x="10223754" y="2395728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Авто-уведомление партнёров письмом</a:t>
            </a:r>
            <a:endParaRPr lang="en-US" sz="85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754" y="2761488"/>
            <a:ext cx="109728" cy="10972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0370058" y="27249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62" name="Shape 56"/>
          <p:cNvSpPr/>
          <p:nvPr/>
        </p:nvSpPr>
        <p:spPr>
          <a:xfrm>
            <a:off x="566928" y="312724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7"/>
          <p:cNvSpPr/>
          <p:nvPr/>
        </p:nvSpPr>
        <p:spPr>
          <a:xfrm>
            <a:off x="566928" y="312724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1060704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промо-активности</a:t>
            </a:r>
            <a:endParaRPr lang="en-US" sz="1200" dirty="0"/>
          </a:p>
        </p:txBody>
      </p:sp>
      <p:sp>
        <p:nvSpPr>
          <p:cNvPr id="65" name="Shape 59"/>
          <p:cNvSpPr/>
          <p:nvPr/>
        </p:nvSpPr>
        <p:spPr>
          <a:xfrm>
            <a:off x="2461717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6" name="Shape 60"/>
          <p:cNvSpPr/>
          <p:nvPr/>
        </p:nvSpPr>
        <p:spPr>
          <a:xfrm>
            <a:off x="2461717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1"/>
          <p:cNvSpPr/>
          <p:nvPr/>
        </p:nvSpPr>
        <p:spPr>
          <a:xfrm>
            <a:off x="2608021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2"/>
          <p:cNvSpPr/>
          <p:nvPr/>
        </p:nvSpPr>
        <p:spPr>
          <a:xfrm>
            <a:off x="2608021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9" name="Text 63"/>
          <p:cNvSpPr/>
          <p:nvPr/>
        </p:nvSpPr>
        <p:spPr>
          <a:xfrm>
            <a:off x="2900629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/ ON-TRADE</a:t>
            </a:r>
            <a:endParaRPr lang="en-US" sz="850" dirty="0"/>
          </a:p>
        </p:txBody>
      </p:sp>
      <p:sp>
        <p:nvSpPr>
          <p:cNvPr id="70" name="Text 64"/>
          <p:cNvSpPr/>
          <p:nvPr/>
        </p:nvSpPr>
        <p:spPr>
          <a:xfrm>
            <a:off x="2644597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Запрос: квота, период или продукт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2653741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6"/>
          <p:cNvSpPr/>
          <p:nvPr/>
        </p:nvSpPr>
        <p:spPr>
          <a:xfrm>
            <a:off x="2781757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404561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4" name="Shape 68"/>
          <p:cNvSpPr/>
          <p:nvPr/>
        </p:nvSpPr>
        <p:spPr>
          <a:xfrm>
            <a:off x="435650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69"/>
          <p:cNvSpPr/>
          <p:nvPr/>
        </p:nvSpPr>
        <p:spPr>
          <a:xfrm>
            <a:off x="4356506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0"/>
          <p:cNvSpPr/>
          <p:nvPr/>
        </p:nvSpPr>
        <p:spPr>
          <a:xfrm>
            <a:off x="4502810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1"/>
          <p:cNvSpPr/>
          <p:nvPr/>
        </p:nvSpPr>
        <p:spPr>
          <a:xfrm>
            <a:off x="450281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78" name="Text 72"/>
          <p:cNvSpPr/>
          <p:nvPr/>
        </p:nvSpPr>
        <p:spPr>
          <a:xfrm>
            <a:off x="479541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79" name="Text 73"/>
          <p:cNvSpPr/>
          <p:nvPr/>
        </p:nvSpPr>
        <p:spPr>
          <a:xfrm>
            <a:off x="453938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Excel-файла с изменениями</a:t>
            </a:r>
            <a:endParaRPr lang="en-US" sz="850" dirty="0"/>
          </a:p>
        </p:txBody>
      </p:sp>
      <p:pic>
        <p:nvPicPr>
          <p:cNvPr id="8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386" y="4151376"/>
            <a:ext cx="109728" cy="109728"/>
          </a:xfrm>
          <a:prstGeom prst="rect">
            <a:avLst/>
          </a:prstGeom>
        </p:spPr>
      </p:pic>
      <p:sp>
        <p:nvSpPr>
          <p:cNvPr id="81" name="Text 74"/>
          <p:cNvSpPr/>
          <p:nvPr/>
        </p:nvSpPr>
        <p:spPr>
          <a:xfrm>
            <a:off x="4685690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82" name="Text 75"/>
          <p:cNvSpPr/>
          <p:nvPr/>
        </p:nvSpPr>
        <p:spPr>
          <a:xfrm>
            <a:off x="5940400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3" name="Shape 76"/>
          <p:cNvSpPr/>
          <p:nvPr/>
        </p:nvSpPr>
        <p:spPr>
          <a:xfrm>
            <a:off x="6251296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4" name="Shape 77"/>
          <p:cNvSpPr/>
          <p:nvPr/>
        </p:nvSpPr>
        <p:spPr>
          <a:xfrm>
            <a:off x="6251296" y="3511296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78"/>
          <p:cNvSpPr/>
          <p:nvPr/>
        </p:nvSpPr>
        <p:spPr>
          <a:xfrm>
            <a:off x="6397600" y="3547872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9"/>
          <p:cNvSpPr/>
          <p:nvPr/>
        </p:nvSpPr>
        <p:spPr>
          <a:xfrm>
            <a:off x="6397600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87" name="Text 80"/>
          <p:cNvSpPr/>
          <p:nvPr/>
        </p:nvSpPr>
        <p:spPr>
          <a:xfrm>
            <a:off x="6690208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CRM-СПЕЦИАЛИСТ</a:t>
            </a:r>
            <a:endParaRPr lang="en-US" sz="850" dirty="0"/>
          </a:p>
        </p:txBody>
      </p:sp>
      <p:sp>
        <p:nvSpPr>
          <p:cNvPr id="88" name="Text 81"/>
          <p:cNvSpPr/>
          <p:nvPr/>
        </p:nvSpPr>
        <p:spPr>
          <a:xfrm>
            <a:off x="6434176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Правка промо-активности в Panorama</a:t>
            </a:r>
            <a:endParaRPr lang="en-US" sz="850" dirty="0"/>
          </a:p>
        </p:txBody>
      </p:sp>
      <p:sp>
        <p:nvSpPr>
          <p:cNvPr id="89" name="Shape 82"/>
          <p:cNvSpPr/>
          <p:nvPr/>
        </p:nvSpPr>
        <p:spPr>
          <a:xfrm>
            <a:off x="6443320" y="4169664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3"/>
          <p:cNvSpPr/>
          <p:nvPr/>
        </p:nvSpPr>
        <p:spPr>
          <a:xfrm>
            <a:off x="6571336" y="4114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91" name="Text 84"/>
          <p:cNvSpPr/>
          <p:nvPr/>
        </p:nvSpPr>
        <p:spPr>
          <a:xfrm>
            <a:off x="7835189" y="3419856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2" name="Shape 85"/>
          <p:cNvSpPr/>
          <p:nvPr/>
        </p:nvSpPr>
        <p:spPr>
          <a:xfrm>
            <a:off x="8146085" y="3419856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3" name="Shape 86"/>
          <p:cNvSpPr/>
          <p:nvPr/>
        </p:nvSpPr>
        <p:spPr>
          <a:xfrm>
            <a:off x="8146085" y="3511296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87"/>
          <p:cNvSpPr/>
          <p:nvPr/>
        </p:nvSpPr>
        <p:spPr>
          <a:xfrm>
            <a:off x="8292389" y="3547872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88"/>
          <p:cNvSpPr/>
          <p:nvPr/>
        </p:nvSpPr>
        <p:spPr>
          <a:xfrm>
            <a:off x="8292389" y="3547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96" name="Text 89"/>
          <p:cNvSpPr/>
          <p:nvPr/>
        </p:nvSpPr>
        <p:spPr>
          <a:xfrm>
            <a:off x="8584997" y="3547872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97" name="Text 90"/>
          <p:cNvSpPr/>
          <p:nvPr/>
        </p:nvSpPr>
        <p:spPr>
          <a:xfrm>
            <a:off x="8328965" y="3785616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и уведомление партнёров</a:t>
            </a:r>
            <a:endParaRPr lang="en-US" sz="850" dirty="0"/>
          </a:p>
        </p:txBody>
      </p:sp>
      <p:pic>
        <p:nvPicPr>
          <p:cNvPr id="9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965" y="4151376"/>
            <a:ext cx="109728" cy="109728"/>
          </a:xfrm>
          <a:prstGeom prst="rect">
            <a:avLst/>
          </a:prstGeom>
        </p:spPr>
      </p:pic>
      <p:sp>
        <p:nvSpPr>
          <p:cNvPr id="99" name="Text 91"/>
          <p:cNvSpPr/>
          <p:nvPr/>
        </p:nvSpPr>
        <p:spPr>
          <a:xfrm>
            <a:off x="8475269" y="4114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00" name="Shape 92"/>
          <p:cNvSpPr/>
          <p:nvPr/>
        </p:nvSpPr>
        <p:spPr>
          <a:xfrm>
            <a:off x="566928" y="4517136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3"/>
          <p:cNvSpPr/>
          <p:nvPr/>
        </p:nvSpPr>
        <p:spPr>
          <a:xfrm>
            <a:off x="566928" y="45171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02" name="Text 94"/>
          <p:cNvSpPr/>
          <p:nvPr/>
        </p:nvSpPr>
        <p:spPr>
          <a:xfrm>
            <a:off x="1060704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месяца и расчёт</a:t>
            </a:r>
            <a:endParaRPr lang="en-US" sz="1200" dirty="0"/>
          </a:p>
        </p:txBody>
      </p:sp>
      <p:sp>
        <p:nvSpPr>
          <p:cNvPr id="103" name="Shape 95"/>
          <p:cNvSpPr/>
          <p:nvPr/>
        </p:nvSpPr>
        <p:spPr>
          <a:xfrm>
            <a:off x="3409112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4" name="Shape 96"/>
          <p:cNvSpPr/>
          <p:nvPr/>
        </p:nvSpPr>
        <p:spPr>
          <a:xfrm>
            <a:off x="3409112" y="4901184"/>
            <a:ext cx="50292" cy="731520"/>
          </a:xfrm>
          <a:prstGeom prst="rect">
            <a:avLst/>
          </a:prstGeom>
          <a:solidFill>
            <a:srgbClr val="C2C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Shape 97"/>
          <p:cNvSpPr/>
          <p:nvPr/>
        </p:nvSpPr>
        <p:spPr>
          <a:xfrm>
            <a:off x="3555416" y="4937760"/>
            <a:ext cx="228600" cy="228600"/>
          </a:xfrm>
          <a:prstGeom prst="ellipse">
            <a:avLst/>
          </a:prstGeom>
          <a:solidFill>
            <a:srgbClr val="E5E9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98"/>
          <p:cNvSpPr/>
          <p:nvPr/>
        </p:nvSpPr>
        <p:spPr>
          <a:xfrm>
            <a:off x="3555416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661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07" name="Text 99"/>
          <p:cNvSpPr/>
          <p:nvPr/>
        </p:nvSpPr>
        <p:spPr>
          <a:xfrm>
            <a:off x="3848024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</a:t>
            </a:r>
            <a:endParaRPr lang="en-US" sz="850" dirty="0"/>
          </a:p>
        </p:txBody>
      </p:sp>
      <p:sp>
        <p:nvSpPr>
          <p:cNvPr id="108" name="Text 100"/>
          <p:cNvSpPr/>
          <p:nvPr/>
        </p:nvSpPr>
        <p:spPr>
          <a:xfrm>
            <a:off x="3591992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«Запрос»: проданные литры по промо</a:t>
            </a:r>
            <a:endParaRPr lang="en-US" sz="850" dirty="0"/>
          </a:p>
        </p:txBody>
      </p:sp>
      <p:sp>
        <p:nvSpPr>
          <p:cNvPr id="109" name="Shape 101"/>
          <p:cNvSpPr/>
          <p:nvPr/>
        </p:nvSpPr>
        <p:spPr>
          <a:xfrm>
            <a:off x="3601136" y="5559552"/>
            <a:ext cx="77724" cy="77724"/>
          </a:xfrm>
          <a:prstGeom prst="ellipse">
            <a:avLst/>
          </a:prstGeom>
          <a:solidFill>
            <a:srgbClr val="8B94A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102"/>
          <p:cNvSpPr/>
          <p:nvPr/>
        </p:nvSpPr>
        <p:spPr>
          <a:xfrm>
            <a:off x="3729152" y="55046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</a:t>
            </a:r>
            <a:endParaRPr lang="en-US" sz="850" dirty="0"/>
          </a:p>
        </p:txBody>
      </p:sp>
      <p:sp>
        <p:nvSpPr>
          <p:cNvPr id="111" name="Text 103"/>
          <p:cNvSpPr/>
          <p:nvPr/>
        </p:nvSpPr>
        <p:spPr>
          <a:xfrm>
            <a:off x="4993005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9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2" name="Shape 104"/>
          <p:cNvSpPr/>
          <p:nvPr/>
        </p:nvSpPr>
        <p:spPr>
          <a:xfrm>
            <a:off x="5303901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3" name="Shape 105"/>
          <p:cNvSpPr/>
          <p:nvPr/>
        </p:nvSpPr>
        <p:spPr>
          <a:xfrm>
            <a:off x="5303901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106"/>
          <p:cNvSpPr/>
          <p:nvPr/>
        </p:nvSpPr>
        <p:spPr>
          <a:xfrm>
            <a:off x="5450205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07"/>
          <p:cNvSpPr/>
          <p:nvPr/>
        </p:nvSpPr>
        <p:spPr>
          <a:xfrm>
            <a:off x="5450205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16" name="Text 108"/>
          <p:cNvSpPr/>
          <p:nvPr/>
        </p:nvSpPr>
        <p:spPr>
          <a:xfrm>
            <a:off x="5742813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17" name="Text 109"/>
          <p:cNvSpPr/>
          <p:nvPr/>
        </p:nvSpPr>
        <p:spPr>
          <a:xfrm>
            <a:off x="5486781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∑(литры × цена периода)</a:t>
            </a:r>
            <a:endParaRPr lang="en-US" sz="850" dirty="0"/>
          </a:p>
        </p:txBody>
      </p:sp>
      <p:pic>
        <p:nvPicPr>
          <p:cNvPr id="1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781" y="5541264"/>
            <a:ext cx="109728" cy="109728"/>
          </a:xfrm>
          <a:prstGeom prst="rect">
            <a:avLst/>
          </a:prstGeom>
        </p:spPr>
      </p:pic>
      <p:sp>
        <p:nvSpPr>
          <p:cNvPr id="119" name="Text 110"/>
          <p:cNvSpPr/>
          <p:nvPr/>
        </p:nvSpPr>
        <p:spPr>
          <a:xfrm>
            <a:off x="5633085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0" name="Text 111"/>
          <p:cNvSpPr/>
          <p:nvPr/>
        </p:nvSpPr>
        <p:spPr>
          <a:xfrm>
            <a:off x="6887794" y="4809744"/>
            <a:ext cx="310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A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1" name="Shape 112"/>
          <p:cNvSpPr/>
          <p:nvPr/>
        </p:nvSpPr>
        <p:spPr>
          <a:xfrm>
            <a:off x="7198690" y="4809744"/>
            <a:ext cx="1583893" cy="914400"/>
          </a:xfrm>
          <a:prstGeom prst="roundRect">
            <a:avLst>
              <a:gd name="adj" fmla="val 7000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  <a:effectLst>
            <a:outerShdw blurRad="88900" dist="25400" dir="8100000" algn="bl" rotWithShape="0">
              <a:srgbClr val="0C1726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2" name="Shape 113"/>
          <p:cNvSpPr/>
          <p:nvPr/>
        </p:nvSpPr>
        <p:spPr>
          <a:xfrm>
            <a:off x="7198690" y="4901184"/>
            <a:ext cx="50292" cy="731520"/>
          </a:xfrm>
          <a:prstGeom prst="rect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Shape 114"/>
          <p:cNvSpPr/>
          <p:nvPr/>
        </p:nvSpPr>
        <p:spPr>
          <a:xfrm>
            <a:off x="7344994" y="4937760"/>
            <a:ext cx="228600" cy="228600"/>
          </a:xfrm>
          <a:prstGeom prst="ellipse">
            <a:avLst/>
          </a:prstGeom>
          <a:solidFill>
            <a:srgbClr val="004C8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15"/>
          <p:cNvSpPr/>
          <p:nvPr/>
        </p:nvSpPr>
        <p:spPr>
          <a:xfrm>
            <a:off x="7344994" y="4937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25" name="Text 116"/>
          <p:cNvSpPr/>
          <p:nvPr/>
        </p:nvSpPr>
        <p:spPr>
          <a:xfrm>
            <a:off x="7637602" y="4937760"/>
            <a:ext cx="10352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b="1" kern="0" spc="30" dirty="0">
                <a:solidFill>
                  <a:srgbClr val="11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850" dirty="0"/>
          </a:p>
        </p:txBody>
      </p:sp>
      <p:sp>
        <p:nvSpPr>
          <p:cNvPr id="126" name="Text 117"/>
          <p:cNvSpPr/>
          <p:nvPr/>
        </p:nvSpPr>
        <p:spPr>
          <a:xfrm>
            <a:off x="7381570" y="5175504"/>
            <a:ext cx="1254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850" dirty="0">
                <a:solidFill>
                  <a:srgbClr val="0C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«Запроса» и сводный файл</a:t>
            </a:r>
            <a:endParaRPr lang="en-US" sz="850" dirty="0"/>
          </a:p>
        </p:txBody>
      </p:sp>
      <p:pic>
        <p:nvPicPr>
          <p:cNvPr id="1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570" y="5541264"/>
            <a:ext cx="109728" cy="109728"/>
          </a:xfrm>
          <a:prstGeom prst="rect">
            <a:avLst/>
          </a:prstGeom>
        </p:spPr>
      </p:pic>
      <p:sp>
        <p:nvSpPr>
          <p:cNvPr id="128" name="Text 118"/>
          <p:cNvSpPr/>
          <p:nvPr/>
        </p:nvSpPr>
        <p:spPr>
          <a:xfrm>
            <a:off x="7527874" y="5504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4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850" dirty="0"/>
          </a:p>
        </p:txBody>
      </p:sp>
      <p:sp>
        <p:nvSpPr>
          <p:cNvPr id="129" name="Shape 119"/>
          <p:cNvSpPr/>
          <p:nvPr/>
        </p:nvSpPr>
        <p:spPr>
          <a:xfrm>
            <a:off x="566928" y="5952744"/>
            <a:ext cx="201168" cy="146304"/>
          </a:xfrm>
          <a:prstGeom prst="rect">
            <a:avLst/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0"/>
          <p:cNvSpPr/>
          <p:nvPr/>
        </p:nvSpPr>
        <p:spPr>
          <a:xfrm>
            <a:off x="841248" y="590702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Автоматизировано системой</a:t>
            </a:r>
            <a:endParaRPr lang="en-US" sz="950" dirty="0"/>
          </a:p>
        </p:txBody>
      </p:sp>
      <p:sp>
        <p:nvSpPr>
          <p:cNvPr id="131" name="Shape 121"/>
          <p:cNvSpPr/>
          <p:nvPr/>
        </p:nvSpPr>
        <p:spPr>
          <a:xfrm>
            <a:off x="3218688" y="5952744"/>
            <a:ext cx="201168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22"/>
          <p:cNvSpPr/>
          <p:nvPr/>
        </p:nvSpPr>
        <p:spPr>
          <a:xfrm>
            <a:off x="3493008" y="59070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1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/ решение человека</a:t>
            </a:r>
            <a:endParaRPr lang="en-US" sz="950" dirty="0"/>
          </a:p>
        </p:txBody>
      </p:sp>
      <p:sp>
        <p:nvSpPr>
          <p:cNvPr id="133" name="Shape 123"/>
          <p:cNvSpPr/>
          <p:nvPr/>
        </p:nvSpPr>
        <p:spPr>
          <a:xfrm>
            <a:off x="6949440" y="5843016"/>
            <a:ext cx="4675327" cy="384048"/>
          </a:xfrm>
          <a:prstGeom prst="roundRect">
            <a:avLst>
              <a:gd name="adj" fmla="val 19048"/>
            </a:avLst>
          </a:prstGeom>
          <a:solidFill>
            <a:srgbClr val="E3EEF8"/>
          </a:solidFill>
          <a:ln w="12700">
            <a:solidFill>
              <a:srgbClr val="9CC6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24"/>
          <p:cNvSpPr/>
          <p:nvPr/>
        </p:nvSpPr>
        <p:spPr>
          <a:xfrm>
            <a:off x="7086600" y="5843016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4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из 13</a:t>
            </a:r>
            <a:r>
              <a:rPr lang="en-US" sz="950" dirty="0">
                <a:solidFill>
                  <a:srgbClr val="00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шагов выполняет система — людям остаются ввод промо и его создание в Panorama</a:t>
            </a:r>
            <a:endParaRPr lang="en-US" sz="950" dirty="0"/>
          </a:p>
        </p:txBody>
      </p:sp>
      <p:sp>
        <p:nvSpPr>
          <p:cNvPr id="135" name="Shape 125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E2E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 8" descr="/Users/asetseksenali/Downloads/efes/assets/efes-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137" name="Text 126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138" name="Text 127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 · BPMN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53212"/>
            <a:ext cx="155448" cy="29261"/>
          </a:xfrm>
          <a:prstGeom prst="rect">
            <a:avLst/>
          </a:prstGeom>
          <a:solidFill>
            <a:srgbClr val="5CA3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95528" y="429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ПЕРСПЕКТИВА · 3 ГОДА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749808"/>
            <a:ext cx="1105783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больше объём — тем выше автоматизация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Автоматизированные шаги — уведомления, расчёты, Excel, AI-проверка, синхронизация — выполняются почти без затрат времени на каждую новую промо. Ручные шаги фиксированы. Поэтому с ростом объёма доля автоматизации растёт к структурному потолку 8 из 13 шагов (≈ 62 %).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78938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78938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1,75 ставки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41248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платформы. Единый источник данных вместо разрозненных Excel-файлов.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62602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36922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36922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74613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4613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36922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2,0 ставки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636922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36922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промо растёт — система берёт на себя бóльшую долю рутины.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8277" y="2249424"/>
            <a:ext cx="3466490" cy="2212848"/>
          </a:xfrm>
          <a:prstGeom prst="roundRect">
            <a:avLst>
              <a:gd name="adj" fmla="val 3719"/>
            </a:avLst>
          </a:prstGeom>
          <a:gradFill rotWithShape="1">
            <a:gsLst>
              <a:gs pos="0">
                <a:srgbClr val="20355A"/>
              </a:gs>
              <a:gs pos="100000">
                <a:srgbClr val="121E34"/>
              </a:gs>
            </a:gsLst>
            <a:lin ang="5400000" scaled="0"/>
          </a:gradFill>
          <a:ln w="19050">
            <a:solidFill>
              <a:srgbClr val="5CA3DB"/>
            </a:solidFill>
            <a:prstDash val="solid"/>
          </a:ln>
          <a:effectLst>
            <a:outerShdw blurRad="101600" dir="5400000" rotWithShape="0">
              <a:srgbClr val="5CA3DB">
                <a:alpha val="3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32597" y="252374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304F"/>
          </a:solidFill>
          <a:ln w="12700">
            <a:solidFill>
              <a:srgbClr val="1E497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32597" y="2523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70287" y="2468880"/>
            <a:ext cx="1280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9C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70287" y="285292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32597" y="3163824"/>
            <a:ext cx="291785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ч/мес   </a:t>
            </a:r>
            <a:r>
              <a:rPr lang="en-US" sz="12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2,25 ставки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8432597" y="3621024"/>
            <a:ext cx="2917850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432597" y="3712464"/>
            <a:ext cx="291785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приближается к потолку 8/13 шагов. Команда — на стратегии бренда.</a:t>
            </a:r>
            <a:endParaRPr lang="en-US" sz="1100" dirty="0"/>
          </a:p>
        </p:txBody>
      </p:sp>
      <p:sp>
        <p:nvSpPr>
          <p:cNvPr id="60" name="Meter Track 60"/>
          <p:cNvSpPr/>
          <p:nvPr/>
        </p:nvSpPr>
        <p:spPr>
          <a:xfrm>
            <a:off x="841248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Meter Fill 61"/>
          <p:cNvSpPr/>
          <p:nvPr/>
        </p:nvSpPr>
        <p:spPr>
          <a:xfrm>
            <a:off x="841248" y="3080000"/>
            <a:ext cx="1021248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Meter Track 62"/>
          <p:cNvSpPr/>
          <p:nvPr/>
        </p:nvSpPr>
        <p:spPr>
          <a:xfrm>
            <a:off x="4636922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Meter Fill 63"/>
          <p:cNvSpPr/>
          <p:nvPr/>
        </p:nvSpPr>
        <p:spPr>
          <a:xfrm>
            <a:off x="4636922" y="3080000"/>
            <a:ext cx="1167140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Meter Track 64"/>
          <p:cNvSpPr/>
          <p:nvPr/>
        </p:nvSpPr>
        <p:spPr>
          <a:xfrm>
            <a:off x="8432597" y="3080000"/>
            <a:ext cx="2917850" cy="54864"/>
          </a:xfrm>
          <a:prstGeom prst="roundRect">
            <a:avLst>
              <a:gd name="adj" fmla="val 50000"/>
            </a:avLst>
          </a:prstGeom>
          <a:solidFill>
            <a:srgbClr val="23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Meter Fill 65"/>
          <p:cNvSpPr/>
          <p:nvPr/>
        </p:nvSpPr>
        <p:spPr>
          <a:xfrm>
            <a:off x="8432597" y="3080000"/>
            <a:ext cx="1313033" cy="548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83C4"/>
              </a:gs>
              <a:gs pos="100000">
                <a:srgbClr val="5CA3DB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4736592"/>
            <a:ext cx="3200400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43A28"/>
              </a:gs>
              <a:gs pos="100000">
                <a:srgbClr val="0A1D14"/>
              </a:gs>
            </a:gsLst>
            <a:lin ang="5400000" scaled="0"/>
          </a:gradFill>
          <a:ln w="12700">
            <a:solidFill>
              <a:srgbClr val="2F7A50"/>
            </a:solidFill>
            <a:prstDash val="solid"/>
          </a:ln>
          <a:effectLst>
            <a:outerShdw blurRad="101600" dir="5400000" rotWithShape="0">
              <a:srgbClr val="2FB46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04672" y="4919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A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Накопленный эффект за 3 года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519379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FB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10 000 ч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749808" y="5779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человеко-лет рабочего времени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78224" y="4736592"/>
            <a:ext cx="7546543" cy="1481328"/>
          </a:xfrm>
          <a:prstGeom prst="roundRect">
            <a:avLst>
              <a:gd name="adj" fmla="val 6173"/>
            </a:avLst>
          </a:prstGeom>
          <a:gradFill rotWithShape="1">
            <a:gsLst>
              <a:gs pos="0">
                <a:srgbClr val="1C2E4D"/>
              </a:gs>
              <a:gs pos="100000">
                <a:srgbClr val="111B2F"/>
              </a:gs>
            </a:gsLst>
            <a:lin ang="5400000" scaled="0"/>
          </a:gradFill>
          <a:ln w="12700">
            <a:solidFill>
              <a:srgbClr val="2B3B57"/>
            </a:solidFill>
            <a:prstDash val="solid"/>
          </a:ln>
          <a:effectLst>
            <a:outerShdw blurRad="76200" dist="38100" dir="5400000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626864" y="4901184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093208"/>
            <a:ext cx="146304" cy="14630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4626864" y="5029200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сфокусирована на стратегии и развитии бренда вместо ручной рутины</a:t>
            </a:r>
            <a:endParaRPr lang="en-US" sz="1150" dirty="0"/>
          </a:p>
        </p:txBody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404104"/>
            <a:ext cx="146304" cy="14630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626864" y="5340096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Технологичный бренд — сильный PR и аргумент для привлечения инвестиций</a:t>
            </a:r>
            <a:endParaRPr lang="en-US" sz="115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5715000"/>
            <a:ext cx="146304" cy="14630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4626864" y="5650992"/>
            <a:ext cx="67235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Отрыв от конкурентов по скорости, точности и масштабу процессов</a:t>
            </a:r>
            <a:endParaRPr lang="en-US" sz="1150" dirty="0"/>
          </a:p>
        </p:txBody>
      </p:sp>
      <p:sp>
        <p:nvSpPr>
          <p:cNvPr id="43" name="Shape 37"/>
          <p:cNvSpPr/>
          <p:nvPr/>
        </p:nvSpPr>
        <p:spPr>
          <a:xfrm>
            <a:off x="566928" y="6364224"/>
            <a:ext cx="11057839" cy="0"/>
          </a:xfrm>
          <a:prstGeom prst="line">
            <a:avLst/>
          </a:prstGeom>
          <a:noFill/>
          <a:ln w="12700">
            <a:solidFill>
              <a:srgbClr val="2836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4" descr="/Users/asetseksenali/Downloads/efes/assets/efes-badge.png"/>
          <p:cNvPicPr>
            <a:picLocks noChangeAspect="1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>
            <a:off x="566928" y="6437376"/>
            <a:ext cx="219456" cy="21945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59536" y="6400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Kazakhstan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6858000" y="6400800"/>
            <a:ext cx="476676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3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 Nexus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859</Words>
  <Application>Microsoft Office PowerPoint</Application>
  <PresentationFormat>Широкоэкранный</PresentationFormat>
  <Paragraphs>227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Efes Nexus — бизнес-кейс</dc:title>
  <dc:subject>PptxGenJS Presentation</dc:subject>
  <dc:creator>Efes Kazakhstan</dc:creator>
  <cp:lastModifiedBy>Aset Seksenali</cp:lastModifiedBy>
  <cp:revision>3</cp:revision>
  <dcterms:created xsi:type="dcterms:W3CDTF">2026-05-31T08:54:41Z</dcterms:created>
  <dcterms:modified xsi:type="dcterms:W3CDTF">2026-05-31T10:57:48Z</dcterms:modified>
</cp:coreProperties>
</file>