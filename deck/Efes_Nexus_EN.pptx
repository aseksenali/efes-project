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67" r:id="rId15"/>
    <p:sldId id="259" r:id="rId6"/>
    <p:sldId id="266" r:id="rId14"/>
    <p:sldId id="257" r:id="rId4"/>
    <p:sldId id="261" r:id="rId5"/>
    <p:sldId id="264" r:id="rId7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5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microsoft.com/office/2007/relationships/media" Target="../media/media1.mp4"/><Relationship Id="rId6" Type="http://schemas.openxmlformats.org/officeDocument/2006/relationships/video" Target="../media/media1.mp4"/><Relationship Id="rId7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setseksenali/Downloads/efes/assets/efes-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20039"/>
            <a:ext cx="548640" cy="4424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80160" y="603504"/>
            <a:ext cx="0" cy="475488"/>
          </a:xfrm>
          <a:prstGeom prst="line">
            <a:avLst/>
          </a:prstGeom>
          <a:noFill/>
          <a:ln w="12700">
            <a:solidFill>
              <a:srgbClr val="334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426464" y="548640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kern="0" spc="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Department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66928" y="2199132"/>
            <a:ext cx="155448" cy="29261"/>
          </a:xfrm>
          <a:prstGeom prst="rect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95528" y="20756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· AUTOMATION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8640" y="2395728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566928" y="34564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Management Platform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66928" y="4224528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platform that replaces manual work in Excel and Outlook with end-to-end digital processes, automated notifications and AI verification of partner requests.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66928" y="5285232"/>
            <a:ext cx="1730045" cy="384048"/>
          </a:xfrm>
          <a:prstGeom prst="roundRect">
            <a:avLst>
              <a:gd name="adj" fmla="val 50000"/>
            </a:avLst>
          </a:prstGeom>
          <a:solidFill>
            <a:srgbClr val="13203A"/>
          </a:solidFill>
          <a:ln w="12700">
            <a:solidFill>
              <a:srgbClr val="2A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31520" y="5449824"/>
            <a:ext cx="64008" cy="64008"/>
          </a:xfrm>
          <a:prstGeom prst="ellipse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9536" y="5285232"/>
            <a:ext cx="14008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activities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61565" y="5285232"/>
            <a:ext cx="1814170" cy="384048"/>
          </a:xfrm>
          <a:prstGeom prst="roundRect">
            <a:avLst>
              <a:gd name="adj" fmla="val 50000"/>
            </a:avLst>
          </a:prstGeom>
          <a:solidFill>
            <a:srgbClr val="13203A"/>
          </a:solidFill>
          <a:ln w="12700">
            <a:solidFill>
              <a:srgbClr val="2A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626157" y="5449824"/>
            <a:ext cx="64008" cy="64008"/>
          </a:xfrm>
          <a:prstGeom prst="ellipse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754173" y="5285232"/>
            <a:ext cx="14849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business processes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/Users/asetseksenali/Downloads/efes/assets/efes-badge.png"/>
          <p:cNvPicPr>
            <a:picLocks noChangeAspect="1"/>
          </p:cNvPicPr>
          <p:nvPr/>
        </p:nvPicPr>
        <p:blipFill>
          <a:blip r:embed="rId4">
            <a:alphaModFix amt="65000"/>
          </a:blip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 · business case for the Head of Sales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4924"/>
            <a:ext cx="155448" cy="29261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528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· TODAY — WITHOUT THE SYSTEM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activity lifecycle — today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316736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Steps of the BPMN diagram and the responsible roles — how the process works today.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0704" y="1719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promo activity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14323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14323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660627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60627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34947" y="2121408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MARKETING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697203" y="2528316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Channel, partner, products, 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098216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409112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3409112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3555416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555416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3829736" y="2121408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SYSTEMS COMMUNICATION SPECIALIST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3591992" y="2528316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Assigning PR-##### code 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checking for duplicates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4993005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5303901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5303901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5450205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5450205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5724525" y="2121408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SYSTEMS COMMUNICATION SPECIALIST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5486781" y="2528316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the promo Excel file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6887794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5" name="Shape 40"/>
          <p:cNvSpPr/>
          <p:nvPr/>
        </p:nvSpPr>
        <p:spPr>
          <a:xfrm>
            <a:off x="7198690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1"/>
          <p:cNvSpPr/>
          <p:nvPr/>
        </p:nvSpPr>
        <p:spPr>
          <a:xfrm>
            <a:off x="7198690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2"/>
          <p:cNvSpPr/>
          <p:nvPr/>
        </p:nvSpPr>
        <p:spPr>
          <a:xfrm>
            <a:off x="7344994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/>
          <p:nvPr/>
        </p:nvSpPr>
        <p:spPr>
          <a:xfrm>
            <a:off x="7344994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49" name="Text 44"/>
          <p:cNvSpPr/>
          <p:nvPr/>
        </p:nvSpPr>
        <p:spPr>
          <a:xfrm>
            <a:off x="7619314" y="2121408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SPECIALIST</a:t>
            </a:r>
            <a:endParaRPr lang="en-US" sz="850" dirty="0"/>
          </a:p>
        </p:txBody>
      </p:sp>
      <p:sp>
        <p:nvSpPr>
          <p:cNvPr id="50" name="Text 45"/>
          <p:cNvSpPr/>
          <p:nvPr/>
        </p:nvSpPr>
        <p:spPr>
          <a:xfrm>
            <a:off x="7381570" y="2528316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the promo activity in Panorama</a:t>
            </a:r>
            <a:endParaRPr lang="en-US" sz="850" dirty="0"/>
          </a:p>
        </p:txBody>
      </p:sp>
      <p:sp>
        <p:nvSpPr>
          <p:cNvPr id="53" name="Text 48"/>
          <p:cNvSpPr/>
          <p:nvPr/>
        </p:nvSpPr>
        <p:spPr>
          <a:xfrm>
            <a:off x="8782583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4" name="Shape 49"/>
          <p:cNvSpPr/>
          <p:nvPr/>
        </p:nvSpPr>
        <p:spPr>
          <a:xfrm>
            <a:off x="9093479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0"/>
          <p:cNvSpPr/>
          <p:nvPr/>
        </p:nvSpPr>
        <p:spPr>
          <a:xfrm>
            <a:off x="9093479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1"/>
          <p:cNvSpPr/>
          <p:nvPr/>
        </p:nvSpPr>
        <p:spPr>
          <a:xfrm>
            <a:off x="9239783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2"/>
          <p:cNvSpPr/>
          <p:nvPr/>
        </p:nvSpPr>
        <p:spPr>
          <a:xfrm>
            <a:off x="9239783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58" name="Text 53"/>
          <p:cNvSpPr/>
          <p:nvPr/>
        </p:nvSpPr>
        <p:spPr>
          <a:xfrm>
            <a:off x="9514103" y="2121408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SYSTEMS COMMUNICATION SPECIALIST</a:t>
            </a:r>
            <a:endParaRPr lang="en-US" sz="850" dirty="0"/>
          </a:p>
        </p:txBody>
      </p:sp>
      <p:sp>
        <p:nvSpPr>
          <p:cNvPr id="59" name="Text 54"/>
          <p:cNvSpPr/>
          <p:nvPr/>
        </p:nvSpPr>
        <p:spPr>
          <a:xfrm>
            <a:off x="9276359" y="2528316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email to partners</a:t>
            </a:r>
            <a:endParaRPr lang="en-US" sz="850" dirty="0"/>
          </a:p>
        </p:txBody>
      </p:sp>
      <p:sp>
        <p:nvSpPr>
          <p:cNvPr id="62" name="Shape 56"/>
          <p:cNvSpPr/>
          <p:nvPr/>
        </p:nvSpPr>
        <p:spPr>
          <a:xfrm>
            <a:off x="566928" y="3127248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7"/>
          <p:cNvSpPr/>
          <p:nvPr/>
        </p:nvSpPr>
        <p:spPr>
          <a:xfrm>
            <a:off x="566928" y="312724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64" name="Text 58"/>
          <p:cNvSpPr/>
          <p:nvPr/>
        </p:nvSpPr>
        <p:spPr>
          <a:xfrm>
            <a:off x="1060704" y="3108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 a promo activity</a:t>
            </a:r>
            <a:endParaRPr lang="en-US" sz="1200" dirty="0"/>
          </a:p>
        </p:txBody>
      </p:sp>
      <p:sp>
        <p:nvSpPr>
          <p:cNvPr id="65" name="Shape 59"/>
          <p:cNvSpPr/>
          <p:nvPr/>
        </p:nvSpPr>
        <p:spPr>
          <a:xfrm>
            <a:off x="2461717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0"/>
          <p:cNvSpPr/>
          <p:nvPr/>
        </p:nvSpPr>
        <p:spPr>
          <a:xfrm>
            <a:off x="2461717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1"/>
          <p:cNvSpPr/>
          <p:nvPr/>
        </p:nvSpPr>
        <p:spPr>
          <a:xfrm>
            <a:off x="2608021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2"/>
          <p:cNvSpPr/>
          <p:nvPr/>
        </p:nvSpPr>
        <p:spPr>
          <a:xfrm>
            <a:off x="2608021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69" name="Text 63"/>
          <p:cNvSpPr/>
          <p:nvPr/>
        </p:nvSpPr>
        <p:spPr>
          <a:xfrm>
            <a:off x="2882341" y="3511296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/ ON-TRADE</a:t>
            </a:r>
            <a:endParaRPr lang="en-US" sz="850" dirty="0"/>
          </a:p>
        </p:txBody>
      </p:sp>
      <p:sp>
        <p:nvSpPr>
          <p:cNvPr id="70" name="Text 64"/>
          <p:cNvSpPr/>
          <p:nvPr/>
        </p:nvSpPr>
        <p:spPr>
          <a:xfrm>
            <a:off x="2644597" y="3918204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Request: quota, period or product</a:t>
            </a:r>
            <a:endParaRPr lang="en-US" sz="850" dirty="0"/>
          </a:p>
        </p:txBody>
      </p:sp>
      <p:sp>
        <p:nvSpPr>
          <p:cNvPr id="73" name="Text 67"/>
          <p:cNvSpPr/>
          <p:nvPr/>
        </p:nvSpPr>
        <p:spPr>
          <a:xfrm>
            <a:off x="4045610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4" name="Shape 68"/>
          <p:cNvSpPr/>
          <p:nvPr/>
        </p:nvSpPr>
        <p:spPr>
          <a:xfrm>
            <a:off x="4356506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Shape 69"/>
          <p:cNvSpPr/>
          <p:nvPr/>
        </p:nvSpPr>
        <p:spPr>
          <a:xfrm>
            <a:off x="4356506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0"/>
          <p:cNvSpPr/>
          <p:nvPr/>
        </p:nvSpPr>
        <p:spPr>
          <a:xfrm>
            <a:off x="4502810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1"/>
          <p:cNvSpPr/>
          <p:nvPr/>
        </p:nvSpPr>
        <p:spPr>
          <a:xfrm>
            <a:off x="4502810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78" name="Text 72"/>
          <p:cNvSpPr/>
          <p:nvPr/>
        </p:nvSpPr>
        <p:spPr>
          <a:xfrm>
            <a:off x="4777130" y="3511296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SYSTEMS COMMUNICATION SPECIALIST</a:t>
            </a:r>
            <a:endParaRPr lang="en-US" sz="850" dirty="0"/>
          </a:p>
        </p:txBody>
      </p:sp>
      <p:sp>
        <p:nvSpPr>
          <p:cNvPr id="79" name="Text 73"/>
          <p:cNvSpPr/>
          <p:nvPr/>
        </p:nvSpPr>
        <p:spPr>
          <a:xfrm>
            <a:off x="4539386" y="3918204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the Excel file with changes</a:t>
            </a:r>
            <a:endParaRPr lang="en-US" sz="850" dirty="0"/>
          </a:p>
        </p:txBody>
      </p:sp>
      <p:sp>
        <p:nvSpPr>
          <p:cNvPr id="82" name="Text 75"/>
          <p:cNvSpPr/>
          <p:nvPr/>
        </p:nvSpPr>
        <p:spPr>
          <a:xfrm>
            <a:off x="5940400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83" name="Shape 76"/>
          <p:cNvSpPr/>
          <p:nvPr/>
        </p:nvSpPr>
        <p:spPr>
          <a:xfrm>
            <a:off x="6251296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Shape 77"/>
          <p:cNvSpPr/>
          <p:nvPr/>
        </p:nvSpPr>
        <p:spPr>
          <a:xfrm>
            <a:off x="6251296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78"/>
          <p:cNvSpPr/>
          <p:nvPr/>
        </p:nvSpPr>
        <p:spPr>
          <a:xfrm>
            <a:off x="6397600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79"/>
          <p:cNvSpPr/>
          <p:nvPr/>
        </p:nvSpPr>
        <p:spPr>
          <a:xfrm>
            <a:off x="6397600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87" name="Text 80"/>
          <p:cNvSpPr/>
          <p:nvPr/>
        </p:nvSpPr>
        <p:spPr>
          <a:xfrm>
            <a:off x="6671920" y="3511296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SPECIALIST</a:t>
            </a:r>
            <a:endParaRPr lang="en-US" sz="850" dirty="0"/>
          </a:p>
        </p:txBody>
      </p:sp>
      <p:sp>
        <p:nvSpPr>
          <p:cNvPr id="88" name="Text 81"/>
          <p:cNvSpPr/>
          <p:nvPr/>
        </p:nvSpPr>
        <p:spPr>
          <a:xfrm>
            <a:off x="6434176" y="3918204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the promo activity in Panorama</a:t>
            </a:r>
            <a:endParaRPr lang="en-US" sz="850" dirty="0"/>
          </a:p>
        </p:txBody>
      </p:sp>
      <p:sp>
        <p:nvSpPr>
          <p:cNvPr id="91" name="Text 84"/>
          <p:cNvSpPr/>
          <p:nvPr/>
        </p:nvSpPr>
        <p:spPr>
          <a:xfrm>
            <a:off x="7835189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92" name="Shape 85"/>
          <p:cNvSpPr/>
          <p:nvPr/>
        </p:nvSpPr>
        <p:spPr>
          <a:xfrm>
            <a:off x="8146085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3" name="Shape 86"/>
          <p:cNvSpPr/>
          <p:nvPr/>
        </p:nvSpPr>
        <p:spPr>
          <a:xfrm>
            <a:off x="8146085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87"/>
          <p:cNvSpPr/>
          <p:nvPr/>
        </p:nvSpPr>
        <p:spPr>
          <a:xfrm>
            <a:off x="8292389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88"/>
          <p:cNvSpPr/>
          <p:nvPr/>
        </p:nvSpPr>
        <p:spPr>
          <a:xfrm>
            <a:off x="8292389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96" name="Text 89"/>
          <p:cNvSpPr/>
          <p:nvPr/>
        </p:nvSpPr>
        <p:spPr>
          <a:xfrm>
            <a:off x="8566709" y="3511296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SYSTEMS COMMUNICATION SPECIALIST</a:t>
            </a:r>
            <a:endParaRPr lang="en-US" sz="850" dirty="0"/>
          </a:p>
        </p:txBody>
      </p:sp>
      <p:sp>
        <p:nvSpPr>
          <p:cNvPr id="97" name="Text 90"/>
          <p:cNvSpPr/>
          <p:nvPr/>
        </p:nvSpPr>
        <p:spPr>
          <a:xfrm>
            <a:off x="8328965" y="3918204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and partner notification</a:t>
            </a:r>
            <a:endParaRPr lang="en-US" sz="850" dirty="0"/>
          </a:p>
        </p:txBody>
      </p:sp>
      <p:sp>
        <p:nvSpPr>
          <p:cNvPr id="100" name="Shape 92"/>
          <p:cNvSpPr/>
          <p:nvPr/>
        </p:nvSpPr>
        <p:spPr>
          <a:xfrm>
            <a:off x="566928" y="4517136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93"/>
          <p:cNvSpPr/>
          <p:nvPr/>
        </p:nvSpPr>
        <p:spPr>
          <a:xfrm>
            <a:off x="566928" y="451713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02" name="Text 94"/>
          <p:cNvSpPr/>
          <p:nvPr/>
        </p:nvSpPr>
        <p:spPr>
          <a:xfrm>
            <a:off x="1060704" y="44988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closing and calculation</a:t>
            </a:r>
            <a:endParaRPr lang="en-US" sz="1200" dirty="0"/>
          </a:p>
        </p:txBody>
      </p:sp>
      <p:sp>
        <p:nvSpPr>
          <p:cNvPr id="103" name="Shape 95"/>
          <p:cNvSpPr/>
          <p:nvPr/>
        </p:nvSpPr>
        <p:spPr>
          <a:xfrm>
            <a:off x="3409112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" name="Shape 96"/>
          <p:cNvSpPr/>
          <p:nvPr/>
        </p:nvSpPr>
        <p:spPr>
          <a:xfrm>
            <a:off x="3409112" y="4901184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97"/>
          <p:cNvSpPr/>
          <p:nvPr/>
        </p:nvSpPr>
        <p:spPr>
          <a:xfrm>
            <a:off x="3555416" y="4937760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98"/>
          <p:cNvSpPr/>
          <p:nvPr/>
        </p:nvSpPr>
        <p:spPr>
          <a:xfrm>
            <a:off x="3555416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07" name="Text 99"/>
          <p:cNvSpPr/>
          <p:nvPr/>
        </p:nvSpPr>
        <p:spPr>
          <a:xfrm>
            <a:off x="3829736" y="4901184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850" dirty="0"/>
          </a:p>
        </p:txBody>
      </p:sp>
      <p:sp>
        <p:nvSpPr>
          <p:cNvPr id="108" name="Text 100"/>
          <p:cNvSpPr/>
          <p:nvPr/>
        </p:nvSpPr>
        <p:spPr>
          <a:xfrm>
            <a:off x="3591992" y="5308092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«Request»: liters sold under the promo</a:t>
            </a:r>
            <a:endParaRPr lang="en-US" sz="850" dirty="0"/>
          </a:p>
        </p:txBody>
      </p:sp>
      <p:sp>
        <p:nvSpPr>
          <p:cNvPr id="111" name="Text 103"/>
          <p:cNvSpPr/>
          <p:nvPr/>
        </p:nvSpPr>
        <p:spPr>
          <a:xfrm>
            <a:off x="4993005" y="4809744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2" name="Shape 104"/>
          <p:cNvSpPr/>
          <p:nvPr/>
        </p:nvSpPr>
        <p:spPr>
          <a:xfrm>
            <a:off x="5303901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3" name="Shape 105"/>
          <p:cNvSpPr/>
          <p:nvPr/>
        </p:nvSpPr>
        <p:spPr>
          <a:xfrm>
            <a:off x="5303901" y="4901184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106"/>
          <p:cNvSpPr/>
          <p:nvPr/>
        </p:nvSpPr>
        <p:spPr>
          <a:xfrm>
            <a:off x="5450205" y="4937760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07"/>
          <p:cNvSpPr/>
          <p:nvPr/>
        </p:nvSpPr>
        <p:spPr>
          <a:xfrm>
            <a:off x="5450205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16" name="Text 108"/>
          <p:cNvSpPr/>
          <p:nvPr/>
        </p:nvSpPr>
        <p:spPr>
          <a:xfrm>
            <a:off x="5724525" y="4901184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SYSTEMS COMMUNICATION SPECIALIST</a:t>
            </a:r>
            <a:endParaRPr lang="en-US" sz="850" dirty="0"/>
          </a:p>
        </p:txBody>
      </p:sp>
      <p:sp>
        <p:nvSpPr>
          <p:cNvPr id="117" name="Text 109"/>
          <p:cNvSpPr/>
          <p:nvPr/>
        </p:nvSpPr>
        <p:spPr>
          <a:xfrm>
            <a:off x="5486781" y="5308092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Calculating ∑(liters × period price)</a:t>
            </a:r>
            <a:endParaRPr lang="en-US" sz="850" dirty="0"/>
          </a:p>
        </p:txBody>
      </p:sp>
      <p:sp>
        <p:nvSpPr>
          <p:cNvPr id="120" name="Text 111"/>
          <p:cNvSpPr/>
          <p:nvPr/>
        </p:nvSpPr>
        <p:spPr>
          <a:xfrm>
            <a:off x="6887794" y="4809744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1" name="Shape 112"/>
          <p:cNvSpPr/>
          <p:nvPr/>
        </p:nvSpPr>
        <p:spPr>
          <a:xfrm>
            <a:off x="7198690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2" name="Shape 113"/>
          <p:cNvSpPr/>
          <p:nvPr/>
        </p:nvSpPr>
        <p:spPr>
          <a:xfrm>
            <a:off x="7198690" y="4901184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Shape 114"/>
          <p:cNvSpPr/>
          <p:nvPr/>
        </p:nvSpPr>
        <p:spPr>
          <a:xfrm>
            <a:off x="7344994" y="4937760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Text 115"/>
          <p:cNvSpPr/>
          <p:nvPr/>
        </p:nvSpPr>
        <p:spPr>
          <a:xfrm>
            <a:off x="7344994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125" name="Text 116"/>
          <p:cNvSpPr/>
          <p:nvPr/>
        </p:nvSpPr>
        <p:spPr>
          <a:xfrm>
            <a:off x="7619314" y="4901184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SYSTEMS COMMUNICATION SPECIALIST</a:t>
            </a:r>
            <a:endParaRPr lang="en-US" sz="850" dirty="0"/>
          </a:p>
        </p:txBody>
      </p:sp>
      <p:sp>
        <p:nvSpPr>
          <p:cNvPr id="126" name="Text 117"/>
          <p:cNvSpPr/>
          <p:nvPr/>
        </p:nvSpPr>
        <p:spPr>
          <a:xfrm>
            <a:off x="7373446" y="5308092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of «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r>
              <a:rPr lang="ru-RU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» and 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</a:p>
          <a:p>
            <a:pPr marL="0" indent="0">
              <a:lnSpc>
                <a:spcPct val="102000"/>
              </a:lnSpc>
              <a:buNone/>
            </a:pPr>
            <a:endParaRPr lang="en-US" sz="850" dirty="0"/>
          </a:p>
        </p:txBody>
      </p:sp>
      <p:sp>
        <p:nvSpPr>
          <p:cNvPr id="135" name="Shape 125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6" name="Image 8" descr="/Users/asetseksenali/Downloads/efes/assets/efes-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137" name="Text 126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138" name="Text 127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 · BPMN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Sq"/>
          <p:cNvSpPr/>
          <p:nvPr/>
        </p:nvSpPr>
        <p:spPr>
          <a:xfrm>
            <a:off x="566928" y="589788"/>
            <a:ext cx="155448" cy="29261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Kicker"/>
          <p:cNvSpPr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50" dirty="0"/>
          </a:p>
        </p:txBody>
      </p:sp>
      <p:sp>
        <p:nvSpPr>
          <p:cNvPr id="4" name="Title"/>
          <p:cNvSpPr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functionality – N+1, N+KZT</a:t>
            </a:r>
            <a:endParaRPr lang="en-US" sz="2900" dirty="0"/>
          </a:p>
        </p:txBody>
      </p:sp>
      <p:sp>
        <p:nvSpPr>
          <p:cNvPr id="5" name="Card Before"/>
          <p:cNvSpPr/>
          <p:nvPr/>
        </p:nvSpPr>
        <p:spPr>
          <a:xfrm>
            <a:off x="566928" y="1572768"/>
            <a:ext cx="5248656" cy="4315968"/>
          </a:xfrm>
          <a:prstGeom prst="roundRect">
            <a:avLst>
              <a:gd name="adj" fmla="val 190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Card After"/>
          <p:cNvSpPr/>
          <p:nvPr/>
        </p:nvSpPr>
        <p:spPr>
          <a:xfrm>
            <a:off x="6376111" y="1572768"/>
            <a:ext cx="5248656" cy="4315968"/>
          </a:xfrm>
          <a:prstGeom prst="roundRect">
            <a:avLst>
              <a:gd name="adj" fmla="val 190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Arrow Circle"/>
          <p:cNvSpPr/>
          <p:nvPr/>
        </p:nvSpPr>
        <p:spPr>
          <a:xfrm>
            <a:off x="5839816" y="3474720"/>
            <a:ext cx="512064" cy="512064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Arrow"/>
          <p:cNvSpPr/>
          <p:nvPr/>
        </p:nvSpPr>
        <p:spPr>
          <a:xfrm>
            <a:off x="5839816" y="3456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100" dirty="0"/>
          </a:p>
        </p:txBody>
      </p:sp>
      <p:sp>
        <p:nvSpPr>
          <p:cNvPr id="9" name="Lab BG"/>
          <p:cNvSpPr/>
          <p:nvPr/>
        </p:nvSpPr>
        <p:spPr>
          <a:xfrm>
            <a:off x="877824" y="1865376"/>
            <a:ext cx="1083564" cy="329184"/>
          </a:xfrm>
          <a:prstGeom prst="roundRect">
            <a:avLst>
              <a:gd name="adj" fmla="val 46000"/>
            </a:avLst>
          </a:prstGeom>
          <a:solidFill>
            <a:srgbClr val="FBE9E7"/>
          </a:solidFill>
          <a:ln w="12700">
            <a:solidFill>
              <a:srgbClr val="F0C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ab"/>
          <p:cNvSpPr/>
          <p:nvPr/>
        </p:nvSpPr>
        <p:spPr>
          <a:xfrm>
            <a:off x="877824" y="1865376"/>
            <a:ext cx="1083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dirty="0">
                <a:solidFill>
                  <a:srgbClr val="C3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1250" dirty="0"/>
          </a:p>
        </p:txBody>
      </p:sp>
      <p:sp>
        <p:nvSpPr>
          <p:cNvPr id="11" name="Item"/>
          <p:cNvSpPr/>
          <p:nvPr/>
        </p:nvSpPr>
        <p:spPr>
          <a:xfrm>
            <a:off x="877824" y="2468880"/>
            <a:ext cx="4626864" cy="87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Excel files and email communication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single source of data, with communication run over email → Trade-marketing specialist – SSC specialist – CRM specialist – SSC specialist – Partners)</a:t>
            </a:r>
          </a:p>
        </p:txBody>
      </p:sp>
      <p:sp>
        <p:nvSpPr>
          <p:cNvPr id="12" name="Div"/>
          <p:cNvSpPr/>
          <p:nvPr/>
        </p:nvSpPr>
        <p:spPr>
          <a:xfrm>
            <a:off x="877824" y="3276524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Item"/>
          <p:cNvSpPr/>
          <p:nvPr/>
        </p:nvSpPr>
        <p:spPr>
          <a:xfrm>
            <a:off x="877824" y="3438601"/>
            <a:ext cx="4626864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Status reports are created manually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significant time burden on the employee)</a:t>
            </a:r>
          </a:p>
        </p:txBody>
      </p:sp>
      <p:sp>
        <p:nvSpPr>
          <p:cNvPr id="14" name="Div"/>
          <p:cNvSpPr/>
          <p:nvPr/>
        </p:nvSpPr>
        <p:spPr>
          <a:xfrm>
            <a:off x="877824" y="3968267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Item"/>
          <p:cNvSpPr/>
          <p:nvPr/>
        </p:nvSpPr>
        <p:spPr>
          <a:xfrm>
            <a:off x="877824" y="4130345"/>
            <a:ext cx="4626864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assignment, compensation calculation and verification of a large volume of requests in a non-automated process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(Risk of duplicates, overpayments and distortions in reports)</a:t>
            </a:r>
          </a:p>
        </p:txBody>
      </p:sp>
      <p:sp>
        <p:nvSpPr>
          <p:cNvPr id="16" name="Div"/>
          <p:cNvSpPr/>
          <p:nvPr/>
        </p:nvSpPr>
        <p:spPr>
          <a:xfrm>
            <a:off x="877824" y="4833747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Item"/>
          <p:cNvSpPr/>
          <p:nvPr/>
        </p:nvSpPr>
        <p:spPr>
          <a:xfrm>
            <a:off x="877824" y="4995824"/>
            <a:ext cx="4626864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Dependence on the human factor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(300+ promos per month)</a:t>
            </a:r>
          </a:p>
        </p:txBody>
      </p:sp>
      <p:sp>
        <p:nvSpPr>
          <p:cNvPr id="18" name="Lab BG"/>
          <p:cNvSpPr/>
          <p:nvPr/>
        </p:nvSpPr>
        <p:spPr>
          <a:xfrm>
            <a:off x="6687007" y="1865376"/>
            <a:ext cx="1161288" cy="329184"/>
          </a:xfrm>
          <a:prstGeom prst="roundRect">
            <a:avLst>
              <a:gd name="adj" fmla="val 46000"/>
            </a:avLst>
          </a:prstGeom>
          <a:solidFill>
            <a:srgbClr val="E7F5EC"/>
          </a:solidFill>
          <a:ln w="12700">
            <a:solidFill>
              <a:srgbClr val="BBE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Lab"/>
          <p:cNvSpPr/>
          <p:nvPr/>
        </p:nvSpPr>
        <p:spPr>
          <a:xfrm>
            <a:off x="6687007" y="1865376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dirty="0">
                <a:solidFill>
                  <a:srgbClr val="15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</a:t>
            </a:r>
            <a:endParaRPr lang="en-US" sz="1250" dirty="0"/>
          </a:p>
        </p:txBody>
      </p:sp>
      <p:sp>
        <p:nvSpPr>
          <p:cNvPr id="20" name="Item"/>
          <p:cNvSpPr/>
          <p:nvPr/>
        </p:nvSpPr>
        <p:spPr>
          <a:xfrm>
            <a:off x="6687007" y="2468880"/>
            <a:ext cx="4626864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system to manage promo processes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single registry and all communication in one space → full transparency, instant synchronization and no loss of information)</a:t>
            </a:r>
          </a:p>
        </p:txBody>
      </p:sp>
      <p:sp>
        <p:nvSpPr>
          <p:cNvPr id="21" name="Div"/>
          <p:cNvSpPr/>
          <p:nvPr/>
        </p:nvSpPr>
        <p:spPr>
          <a:xfrm>
            <a:off x="6687007" y="3107131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Item"/>
          <p:cNvSpPr/>
          <p:nvPr/>
        </p:nvSpPr>
        <p:spPr>
          <a:xfrm>
            <a:off x="6687007" y="3238805"/>
            <a:ext cx="4626864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reporting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(Reports generated and sent in seconds → real-time analytics and fast decisions)</a:t>
            </a:r>
          </a:p>
        </p:txBody>
      </p:sp>
      <p:sp>
        <p:nvSpPr>
          <p:cNvPr id="23" name="Div"/>
          <p:cNvSpPr/>
          <p:nvPr/>
        </p:nvSpPr>
        <p:spPr>
          <a:xfrm>
            <a:off x="6687007" y="3877056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Item"/>
          <p:cNvSpPr/>
          <p:nvPr/>
        </p:nvSpPr>
        <p:spPr>
          <a:xfrm>
            <a:off x="6687007" y="4008730"/>
            <a:ext cx="4626864" cy="87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calculation and coding algorithms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system assigns the code itself, checking for duplicates and product availability in the distributor's warehouse, and calculates the compensation by reconciling it against partner requests)</a:t>
            </a:r>
          </a:p>
        </p:txBody>
      </p:sp>
      <p:sp>
        <p:nvSpPr>
          <p:cNvPr id="25" name="Div"/>
          <p:cNvSpPr/>
          <p:nvPr/>
        </p:nvSpPr>
        <p:spPr>
          <a:xfrm>
            <a:off x="6687007" y="4785970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Item"/>
          <p:cNvSpPr/>
          <p:nvPr/>
        </p:nvSpPr>
        <p:spPr>
          <a:xfrm>
            <a:off x="6687007" y="4917643"/>
            <a:ext cx="4626864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Minimizing the human factor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standardized and transparent process → predictable results and lower risks)</a:t>
            </a:r>
          </a:p>
        </p:txBody>
      </p:sp>
      <p:sp>
        <p:nvSpPr>
          <p:cNvPr id="27" name="Foot Line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Badge" descr="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29" name="Foot L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30" name="Foot R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kern="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1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0" descr="/Users/asetseksenali/Downloads/efes/assets/efes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  <p:sp>
        <p:nvSpPr>
          <p:cNvPr id="37" name="Rectangle 36"/>
          <p:cNvSpPr/>
          <p:nvPr/>
        </p:nvSpPr>
        <p:spPr>
          <a:xfrm>
            <a:off x="566928" y="589788"/>
            <a:ext cx="155448" cy="29260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 i="0" spc="200">
                <a:solidFill>
                  <a:srgbClr val="1166A8"/>
                </a:solidFill>
                <a:latin typeface="Calibri"/>
              </a:rPr>
              <a:t>THE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900" b="1" i="0">
                <a:solidFill>
                  <a:srgbClr val="0C1726"/>
                </a:solidFill>
                <a:latin typeface="Calibri"/>
              </a:rPr>
              <a:t>The promo dashboard</a:t>
            </a:r>
          </a:p>
        </p:txBody>
      </p:sp>
      <p:pic>
        <p:nvPicPr>
          <p:cNvPr id="40" name="Picture 39" descr="quo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1554480"/>
            <a:ext cx="219456" cy="21945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32688" y="1481328"/>
            <a:ext cx="10600639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1">
                <a:solidFill>
                  <a:srgbClr val="13203A"/>
                </a:solidFill>
                <a:latin typeface="Calibri"/>
              </a:rPr>
              <a:t>“A single window for the entire promo-activity lifecycle — from the partner’s request to the compensation calculation.”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05729" y="2157984"/>
            <a:ext cx="6780236" cy="4059935"/>
          </a:xfrm>
          <a:prstGeom prst="roundRect">
            <a:avLst>
              <a:gd name="adj" fmla="val 2027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demo-video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815457" y="2267712"/>
            <a:ext cx="6560780" cy="349300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815457" y="5833872"/>
            <a:ext cx="6560780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56616F"/>
                </a:solidFill>
                <a:latin typeface="Calibri"/>
              </a:rPr>
              <a:t>Live recording of the platform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1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4" name="Image 0" descr="/Users/asetseksenali/Downloads/efes/assets/efes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  <p:sp>
        <p:nvSpPr>
          <p:cNvPr id="57" name="Rectangle 56"/>
          <p:cNvSpPr/>
          <p:nvPr/>
        </p:nvSpPr>
        <p:spPr>
          <a:xfrm>
            <a:off x="566928" y="589788"/>
            <a:ext cx="155448" cy="29260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 i="0" spc="200">
                <a:solidFill>
                  <a:srgbClr val="1166A8"/>
                </a:solidFill>
                <a:latin typeface="Calibri"/>
              </a:rPr>
              <a:t>THE RESULT IN NUMBERS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900" b="1" i="0">
                <a:solidFill>
                  <a:srgbClr val="0C1726"/>
                </a:solidFill>
                <a:latin typeface="Calibri"/>
              </a:rPr>
              <a:t>The main effect — time returned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1426464"/>
            <a:ext cx="1088136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6616F"/>
                </a:solidFill>
                <a:latin typeface="Calibri"/>
              </a:rPr>
              <a:t>Promo volume grew almost 5× with the same team. The platform gives specialists their working time back by taking over the routine.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6928" y="2121408"/>
            <a:ext cx="2627299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6928" y="2139696"/>
            <a:ext cx="45720" cy="1261872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1247" y="2258568"/>
            <a:ext cx="2170099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50" b="1" i="0" spc="80">
                <a:solidFill>
                  <a:srgbClr val="56616F"/>
                </a:solidFill>
                <a:latin typeface="Calibri"/>
              </a:rPr>
              <a:t>PROMOS / YEAR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1247" y="2523744"/>
            <a:ext cx="2170099" cy="42062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300" b="1" i="0">
                <a:solidFill>
                  <a:srgbClr val="004C8D"/>
                </a:solidFill>
                <a:latin typeface="Calibri"/>
              </a:rPr>
              <a:t>×4.6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1247" y="3008376"/>
            <a:ext cx="2170099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6E7885"/>
                </a:solidFill>
                <a:latin typeface="Calibri"/>
              </a:rPr>
              <a:t>2,187 → 10,112  </a:t>
            </a:r>
            <a:r>
              <a:rPr sz="950" b="1" i="0">
                <a:solidFill>
                  <a:srgbClr val="15924F"/>
                </a:solidFill>
                <a:latin typeface="Calibri"/>
              </a:rPr>
              <a:t>+362%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377107" y="2121408"/>
            <a:ext cx="2627299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377107" y="2139696"/>
            <a:ext cx="45720" cy="1261872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1427" y="2258568"/>
            <a:ext cx="2170099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50" b="1" i="0" spc="80">
                <a:solidFill>
                  <a:srgbClr val="56616F"/>
                </a:solidFill>
                <a:latin typeface="Calibri"/>
              </a:rPr>
              <a:t>PARTNERS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1427" y="2523744"/>
            <a:ext cx="2170099" cy="42062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300" b="1" i="0">
                <a:solidFill>
                  <a:srgbClr val="004C8D"/>
                </a:solidFill>
                <a:latin typeface="Calibri"/>
              </a:rPr>
              <a:t>33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1427" y="3008376"/>
            <a:ext cx="2170099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6E7885"/>
                </a:solidFill>
                <a:latin typeface="Calibri"/>
              </a:rPr>
              <a:t>31 → 33 · in 6 mo  </a:t>
            </a:r>
            <a:r>
              <a:rPr sz="950" b="1" i="0">
                <a:solidFill>
                  <a:srgbClr val="15924F"/>
                </a:solidFill>
                <a:latin typeface="Calibri"/>
              </a:rPr>
              <a:t>+6.5%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187287" y="2121408"/>
            <a:ext cx="2627299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87287" y="2139696"/>
            <a:ext cx="45720" cy="1261872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61607" y="2258568"/>
            <a:ext cx="2170099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50" b="1" i="0" spc="80">
                <a:solidFill>
                  <a:srgbClr val="56616F"/>
                </a:solidFill>
                <a:latin typeface="Calibri"/>
              </a:rPr>
              <a:t>PRODUCTS · SKU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61607" y="2523744"/>
            <a:ext cx="2170099" cy="42062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300" b="1" i="0">
                <a:solidFill>
                  <a:srgbClr val="004C8D"/>
                </a:solidFill>
                <a:latin typeface="Calibri"/>
              </a:rPr>
              <a:t>105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61607" y="3008376"/>
            <a:ext cx="2170099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6E7885"/>
                </a:solidFill>
                <a:latin typeface="Calibri"/>
              </a:rPr>
              <a:t>78 → 105 · in 6 mo  </a:t>
            </a:r>
            <a:r>
              <a:rPr sz="950" b="1" i="0">
                <a:solidFill>
                  <a:srgbClr val="15924F"/>
                </a:solidFill>
                <a:latin typeface="Calibri"/>
              </a:rPr>
              <a:t>+35%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997467" y="2121408"/>
            <a:ext cx="2627299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997467" y="2139696"/>
            <a:ext cx="45720" cy="1261872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271787" y="2258568"/>
            <a:ext cx="2170099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50" b="1" i="0" spc="80">
                <a:solidFill>
                  <a:srgbClr val="56616F"/>
                </a:solidFill>
                <a:latin typeface="Calibri"/>
              </a:rPr>
              <a:t>PROMO TOTAL / YEAR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271787" y="2523744"/>
            <a:ext cx="2170099" cy="42062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300" b="1" i="0">
                <a:solidFill>
                  <a:srgbClr val="004C8D"/>
                </a:solidFill>
                <a:latin typeface="Calibri"/>
              </a:rPr>
              <a:t>2.41 bln 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271787" y="3008376"/>
            <a:ext cx="2170099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6E7885"/>
                </a:solidFill>
                <a:latin typeface="Calibri"/>
              </a:rPr>
              <a:t>1.00 → 2.41 · 2023–2025  </a:t>
            </a:r>
            <a:r>
              <a:rPr sz="950" b="1" i="0">
                <a:solidFill>
                  <a:srgbClr val="15924F"/>
                </a:solidFill>
                <a:latin typeface="Calibri"/>
              </a:rPr>
              <a:t>+140%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66928" y="3657600"/>
            <a:ext cx="11057839" cy="2249424"/>
          </a:xfrm>
          <a:prstGeom prst="roundRect">
            <a:avLst>
              <a:gd name="adj" fmla="val 3658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85216" y="3657600"/>
            <a:ext cx="11021263" cy="45720"/>
          </a:xfrm>
          <a:prstGeom prst="rect">
            <a:avLst/>
          </a:prstGeom>
          <a:solidFill>
            <a:srgbClr val="159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1133856" y="4311396"/>
            <a:ext cx="749808" cy="749808"/>
          </a:xfrm>
          <a:prstGeom prst="roundRect">
            <a:avLst>
              <a:gd name="adj" fmla="val 26829"/>
            </a:avLst>
          </a:prstGeom>
          <a:solidFill>
            <a:srgbClr val="E7F5EC"/>
          </a:solidFill>
          <a:ln w="12700">
            <a:solidFill>
              <a:srgbClr val="BBE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clock_dk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736" y="4494276"/>
            <a:ext cx="384048" cy="38404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2157984" y="4160520"/>
            <a:ext cx="4297680" cy="10515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6200" b="1" i="0">
                <a:solidFill>
                  <a:srgbClr val="15924F"/>
                </a:solidFill>
                <a:latin typeface="Calibri"/>
              </a:rPr>
              <a:t>158 h/mo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94560" y="5230368"/>
            <a:ext cx="4297680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50" b="0" i="0">
                <a:solidFill>
                  <a:srgbClr val="56616F"/>
                </a:solidFill>
                <a:latin typeface="Calibri"/>
              </a:rPr>
              <a:t>of working time returned · Year 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620256" y="4096512"/>
            <a:ext cx="12801" cy="1371600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7077456" y="4087368"/>
            <a:ext cx="2212848" cy="365760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 w="12700">
            <a:solidFill>
              <a:srgbClr val="BBE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077456" y="4087368"/>
            <a:ext cx="2212848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50" b="1" i="0">
                <a:solidFill>
                  <a:srgbClr val="15924F"/>
                </a:solidFill>
                <a:latin typeface="Calibri"/>
              </a:rPr>
              <a:t>28% of routine automated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77456" y="4617720"/>
            <a:ext cx="4044391" cy="8595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16F"/>
                </a:solidFill>
                <a:latin typeface="Calibri"/>
              </a:rPr>
              <a:t>The platform moves data between Excel, Panorama and partner emails by itself. Specialists put that time back into working with partners and checking calculations.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ot Line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Badge" descr="x"/>
          <p:cNvPicPr>
            <a:picLocks noChangeAspect="1"/>
          </p:cNvPicPr>
          <p:nvPr/>
        </p:nvPicPr>
        <p:blipFill>
          <a:blip r:embed="rId5">
            <a:alphaModFix amt="65000"/>
          </a:blip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27" name="Foot L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28" name="Foot R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kern="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  <p:sp>
        <p:nvSpPr>
          <p:cNvPr id="29" name="Rectangle 28"/>
          <p:cNvSpPr/>
          <p:nvPr/>
        </p:nvSpPr>
        <p:spPr>
          <a:xfrm>
            <a:off x="566928" y="589788"/>
            <a:ext cx="155448" cy="29260"/>
          </a:xfrm>
          <a:prstGeom prst="rect">
            <a:avLst/>
          </a:prstGeom>
          <a:solidFill>
            <a:srgbClr val="5CA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 i="0" spc="200">
                <a:solidFill>
                  <a:srgbClr val="9CC6E8"/>
                </a:solidFill>
                <a:latin typeface="Calibri"/>
              </a:rPr>
              <a:t>WHAT'S NEXT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900" b="1" i="0">
                <a:solidFill>
                  <a:srgbClr val="EEF2F7"/>
                </a:solidFill>
                <a:latin typeface="Calibri"/>
              </a:rPr>
              <a:t>Future development possibilities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1426464"/>
            <a:ext cx="1088136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AA9BF"/>
                </a:solidFill>
                <a:latin typeface="Calibri"/>
              </a:rPr>
              <a:t>The platform is already live — the next steps extend it: from AI search over promo history to 1C invoice validation and new calculation types.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2212848"/>
            <a:ext cx="2572435" cy="3310128"/>
          </a:xfrm>
          <a:prstGeom prst="roundRect">
            <a:avLst>
              <a:gd name="adj" fmla="val 3199"/>
            </a:avLst>
          </a:prstGeom>
          <a:solidFill>
            <a:srgbClr val="16223B"/>
          </a:solidFill>
          <a:ln w="12700">
            <a:solidFill>
              <a:srgbClr val="283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2960" y="2487168"/>
            <a:ext cx="530352" cy="530352"/>
          </a:xfrm>
          <a:prstGeom prst="roundRect">
            <a:avLst>
              <a:gd name="adj" fmla="val 27000"/>
            </a:avLst>
          </a:prstGeom>
          <a:solidFill>
            <a:srgbClr val="14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244" y="2614452"/>
            <a:ext cx="275783" cy="27578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22960" y="3145536"/>
            <a:ext cx="2060371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EEF2F7"/>
                </a:solidFill>
                <a:latin typeface="Calibri"/>
              </a:rPr>
              <a:t>AI Search &amp; Knowledge 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3840480"/>
            <a:ext cx="2060371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AA9BF"/>
                </a:solidFill>
                <a:latin typeface="Calibri"/>
              </a:rPr>
              <a:t>Search and answers to questions about current and historical promo activities.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8096" y="4608576"/>
            <a:ext cx="2170099" cy="804672"/>
          </a:xfrm>
          <a:prstGeom prst="roundRect">
            <a:avLst>
              <a:gd name="adj" fmla="val 7954"/>
            </a:avLst>
          </a:prstGeom>
          <a:solidFill>
            <a:srgbClr val="0E1726"/>
          </a:solidFill>
          <a:ln w="12700">
            <a:solidFill>
              <a:srgbClr val="283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" y="4700016"/>
            <a:ext cx="1914067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1">
                <a:solidFill>
                  <a:srgbClr val="5CA3DB"/>
                </a:solidFill>
                <a:latin typeface="Calibri"/>
              </a:rPr>
              <a:t>Example: </a:t>
            </a:r>
            <a:r>
              <a:rPr sz="950" b="0" i="1">
                <a:solidFill>
                  <a:srgbClr val="9AA9BF"/>
                </a:solidFill>
                <a:latin typeface="Calibri"/>
              </a:rPr>
              <a:t>“Which promos ran for Ulba in July 2024, 2025 and 2026?”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95395" y="2212848"/>
            <a:ext cx="2572435" cy="3310128"/>
          </a:xfrm>
          <a:prstGeom prst="roundRect">
            <a:avLst>
              <a:gd name="adj" fmla="val 3199"/>
            </a:avLst>
          </a:prstGeom>
          <a:solidFill>
            <a:srgbClr val="16223B"/>
          </a:solidFill>
          <a:ln w="12700">
            <a:solidFill>
              <a:srgbClr val="283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651427" y="2487168"/>
            <a:ext cx="530352" cy="530352"/>
          </a:xfrm>
          <a:prstGeom prst="roundRect">
            <a:avLst>
              <a:gd name="adj" fmla="val 27000"/>
            </a:avLst>
          </a:prstGeom>
          <a:solidFill>
            <a:srgbClr val="2C2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nvoi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8712" y="2614452"/>
            <a:ext cx="275783" cy="275783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651427" y="3145536"/>
            <a:ext cx="2060371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EEF2F7"/>
                </a:solidFill>
                <a:latin typeface="Calibri"/>
              </a:rPr>
              <a:t>1C Invoice Validation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1427" y="3840480"/>
            <a:ext cx="2060371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AA9BF"/>
                </a:solidFill>
                <a:latin typeface="Calibri"/>
              </a:rPr>
              <a:t>Automatic validation of exports and invoices from 1C.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596563" y="4608576"/>
            <a:ext cx="2170099" cy="804672"/>
          </a:xfrm>
          <a:prstGeom prst="roundRect">
            <a:avLst>
              <a:gd name="adj" fmla="val 7954"/>
            </a:avLst>
          </a:prstGeom>
          <a:solidFill>
            <a:srgbClr val="0E1726"/>
          </a:solidFill>
          <a:ln w="12700">
            <a:solidFill>
              <a:srgbClr val="283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24579" y="4700016"/>
            <a:ext cx="1914067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1">
                <a:solidFill>
                  <a:srgbClr val="5CA3DB"/>
                </a:solidFill>
                <a:latin typeface="Calibri"/>
              </a:rPr>
              <a:t>Effect: </a:t>
            </a:r>
            <a:r>
              <a:rPr sz="950" b="0" i="1">
                <a:solidFill>
                  <a:srgbClr val="9AA9BF"/>
                </a:solidFill>
                <a:latin typeface="Calibri"/>
              </a:rPr>
              <a:t>−30% of trade &amp; sales-controlling specialists’ time; checking 1C from every point manually — ∞ hours.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23863" y="2212848"/>
            <a:ext cx="2572435" cy="3310128"/>
          </a:xfrm>
          <a:prstGeom prst="roundRect">
            <a:avLst>
              <a:gd name="adj" fmla="val 3199"/>
            </a:avLst>
          </a:prstGeom>
          <a:solidFill>
            <a:srgbClr val="16223B"/>
          </a:solidFill>
          <a:ln w="12700">
            <a:solidFill>
              <a:srgbClr val="283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479895" y="2487168"/>
            <a:ext cx="530352" cy="530352"/>
          </a:xfrm>
          <a:prstGeom prst="roundRect">
            <a:avLst>
              <a:gd name="adj" fmla="val 27000"/>
            </a:avLst>
          </a:prstGeom>
          <a:solidFill>
            <a:srgbClr val="103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cal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7180" y="2614452"/>
            <a:ext cx="275783" cy="275783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479895" y="3145536"/>
            <a:ext cx="2060371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EEF2F7"/>
                </a:solidFill>
                <a:latin typeface="Calibri"/>
              </a:rPr>
              <a:t>Scaling the calculations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9895" y="3840480"/>
            <a:ext cx="2060371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AA9BF"/>
                </a:solidFill>
                <a:latin typeface="Calibri"/>
              </a:rPr>
              <a:t>Extending calculations to other compensation types — e.g. the Kega Boom calculation.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25031" y="4608576"/>
            <a:ext cx="2170099" cy="804672"/>
          </a:xfrm>
          <a:prstGeom prst="roundRect">
            <a:avLst>
              <a:gd name="adj" fmla="val 7954"/>
            </a:avLst>
          </a:prstGeom>
          <a:solidFill>
            <a:srgbClr val="0E1726"/>
          </a:solidFill>
          <a:ln w="12700">
            <a:solidFill>
              <a:srgbClr val="283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53047" y="4700016"/>
            <a:ext cx="1914067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1">
                <a:solidFill>
                  <a:srgbClr val="5CA3DB"/>
                </a:solidFill>
                <a:latin typeface="Calibri"/>
              </a:rPr>
              <a:t>Foundation ready: </a:t>
            </a:r>
            <a:r>
              <a:rPr sz="950" b="0" i="1">
                <a:solidFill>
                  <a:srgbClr val="9AA9BF"/>
                </a:solidFill>
                <a:latin typeface="Calibri"/>
              </a:rPr>
              <a:t>shared quota, price and period logic is already in the system.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52331" y="2212848"/>
            <a:ext cx="2572435" cy="3310128"/>
          </a:xfrm>
          <a:prstGeom prst="roundRect">
            <a:avLst>
              <a:gd name="adj" fmla="val 3199"/>
            </a:avLst>
          </a:prstGeom>
          <a:solidFill>
            <a:srgbClr val="16223B"/>
          </a:solidFill>
          <a:ln w="12700">
            <a:solidFill>
              <a:srgbClr val="283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308363" y="2487168"/>
            <a:ext cx="530352" cy="530352"/>
          </a:xfrm>
          <a:prstGeom prst="roundRect">
            <a:avLst>
              <a:gd name="adj" fmla="val 27000"/>
            </a:avLst>
          </a:prstGeom>
          <a:solidFill>
            <a:srgbClr val="14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calenda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35647" y="2614452"/>
            <a:ext cx="275783" cy="275783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308363" y="3145536"/>
            <a:ext cx="2060371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EEF2F7"/>
                </a:solidFill>
                <a:latin typeface="Calibri"/>
              </a:rPr>
              <a:t>Historical Promo Calendar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08363" y="3840480"/>
            <a:ext cx="2060371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AA9BF"/>
                </a:solidFill>
                <a:latin typeface="Calibri"/>
              </a:rPr>
              <a:t>A calendar of all current and historical promo activities.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253499" y="4608576"/>
            <a:ext cx="2170099" cy="804672"/>
          </a:xfrm>
          <a:prstGeom prst="roundRect">
            <a:avLst>
              <a:gd name="adj" fmla="val 7954"/>
            </a:avLst>
          </a:prstGeom>
          <a:solidFill>
            <a:srgbClr val="0E1726"/>
          </a:solidFill>
          <a:ln w="12700">
            <a:solidFill>
              <a:srgbClr val="283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81515" y="4700016"/>
            <a:ext cx="1914067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1">
                <a:solidFill>
                  <a:srgbClr val="5CA3DB"/>
                </a:solidFill>
                <a:latin typeface="Calibri"/>
              </a:rPr>
              <a:t>How it works: </a:t>
            </a:r>
            <a:r>
              <a:rPr sz="950" b="0" i="1">
                <a:solidFill>
                  <a:srgbClr val="9AA9BF"/>
                </a:solidFill>
                <a:latin typeface="Calibri"/>
              </a:rPr>
              <a:t>clicking a date shows the activities that were active in that period.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6928" y="5687568"/>
            <a:ext cx="11057839" cy="530352"/>
          </a:xfrm>
          <a:prstGeom prst="roundRect">
            <a:avLst>
              <a:gd name="adj" fmla="val 15517"/>
            </a:avLst>
          </a:prstGeom>
          <a:solidFill>
            <a:srgbClr val="0C3F77"/>
          </a:solidFill>
          <a:ln w="12700">
            <a:solidFill>
              <a:srgbClr val="2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bolt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536" y="5833872"/>
            <a:ext cx="237744" cy="237744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261872" y="5687568"/>
            <a:ext cx="10051999" cy="5303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New promo mechanics plug straight into the platform — partners are notified the instant they go live.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66928" y="534924"/>
            <a:ext cx="155448" cy="29261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528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· WHAT THE SYSTEM AUTOMATES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activity lifecycle — with Nexus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316736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Steps of the BPMN diagram. </a:t>
            </a:r>
            <a:r>
              <a:rPr lang="en-US" sz="12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marks what the system does; </a:t>
            </a:r>
            <a:r>
              <a:rPr lang="en-US" sz="1200" b="1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</a:t>
            </a: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human actions and decisions.</a:t>
            </a:r>
            <a:endParaRPr lang="en-US" sz="1200" dirty="0"/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dirty="0" b="1">
                <a:solidFill>
                  <a:srgbClr val="C3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Red</a:t>
            </a: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a new step that does not exist today.</a:t>
            </a:r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0704" y="1719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promo activity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928" y="2121408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" y="2157984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MARKETING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49808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Channel, partner, products, 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58952" y="2779776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86968" y="27249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50821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461717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BE9E7"/>
          </a:solidFill>
          <a:ln w="12700">
            <a:solidFill>
              <a:srgbClr val="F0C5C0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61717" y="2121408"/>
            <a:ext cx="50292" cy="731520"/>
          </a:xfrm>
          <a:prstGeom prst="rect">
            <a:avLst/>
          </a:prstGeom>
          <a:solidFill>
            <a:srgbClr val="C33A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608021" y="2157984"/>
            <a:ext cx="228600" cy="228600"/>
          </a:xfrm>
          <a:prstGeom prst="ellipse">
            <a:avLst/>
          </a:prstGeom>
          <a:solidFill>
            <a:srgbClr val="C33A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08021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900629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C3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63875" y="2432304"/>
            <a:ext cx="1391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Checking product availability 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distributor's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warehouse</a:t>
            </a:r>
          </a:p>
          <a:p>
            <a:pPr marL="0" indent="0">
              <a:lnSpc>
                <a:spcPct val="102000"/>
              </a:lnSpc>
              <a:buNone/>
            </a:pP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644597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3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step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045610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356506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356506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502810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502810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795418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539386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Assigning PR-##### code 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checking for duplicates</a:t>
            </a:r>
            <a:endParaRPr lang="en-US" sz="85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386" y="2761488"/>
            <a:ext cx="109728" cy="109728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4685690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5940400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6251296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6251296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6397600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6397600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6690208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6434176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the promo Excel file</a:t>
            </a:r>
            <a:endParaRPr lang="en-US" sz="850" dirty="0"/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176" y="2761488"/>
            <a:ext cx="109728" cy="109728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6580480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7835189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5" name="Shape 40"/>
          <p:cNvSpPr/>
          <p:nvPr/>
        </p:nvSpPr>
        <p:spPr>
          <a:xfrm>
            <a:off x="8146085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1"/>
          <p:cNvSpPr/>
          <p:nvPr/>
        </p:nvSpPr>
        <p:spPr>
          <a:xfrm>
            <a:off x="8146085" y="2121408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2"/>
          <p:cNvSpPr/>
          <p:nvPr/>
        </p:nvSpPr>
        <p:spPr>
          <a:xfrm>
            <a:off x="8292389" y="2157984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/>
          <p:nvPr/>
        </p:nvSpPr>
        <p:spPr>
          <a:xfrm>
            <a:off x="8292389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49" name="Text 44"/>
          <p:cNvSpPr/>
          <p:nvPr/>
        </p:nvSpPr>
        <p:spPr>
          <a:xfrm>
            <a:off x="8584997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SPECIALIST</a:t>
            </a:r>
            <a:endParaRPr lang="en-US" sz="850" dirty="0"/>
          </a:p>
        </p:txBody>
      </p:sp>
      <p:sp>
        <p:nvSpPr>
          <p:cNvPr id="50" name="Text 45"/>
          <p:cNvSpPr/>
          <p:nvPr/>
        </p:nvSpPr>
        <p:spPr>
          <a:xfrm>
            <a:off x="8328965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the promo activity in Panorama</a:t>
            </a:r>
            <a:endParaRPr lang="en-US" sz="850" dirty="0"/>
          </a:p>
        </p:txBody>
      </p:sp>
      <p:sp>
        <p:nvSpPr>
          <p:cNvPr id="51" name="Shape 46"/>
          <p:cNvSpPr/>
          <p:nvPr/>
        </p:nvSpPr>
        <p:spPr>
          <a:xfrm>
            <a:off x="8338109" y="2779776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7"/>
          <p:cNvSpPr/>
          <p:nvPr/>
        </p:nvSpPr>
        <p:spPr>
          <a:xfrm>
            <a:off x="8466125" y="27249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850" dirty="0"/>
          </a:p>
        </p:txBody>
      </p:sp>
      <p:sp>
        <p:nvSpPr>
          <p:cNvPr id="53" name="Text 48"/>
          <p:cNvSpPr/>
          <p:nvPr/>
        </p:nvSpPr>
        <p:spPr>
          <a:xfrm>
            <a:off x="9729978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4" name="Shape 49"/>
          <p:cNvSpPr/>
          <p:nvPr/>
        </p:nvSpPr>
        <p:spPr>
          <a:xfrm>
            <a:off x="10040874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0"/>
          <p:cNvSpPr/>
          <p:nvPr/>
        </p:nvSpPr>
        <p:spPr>
          <a:xfrm>
            <a:off x="10040874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1"/>
          <p:cNvSpPr/>
          <p:nvPr/>
        </p:nvSpPr>
        <p:spPr>
          <a:xfrm>
            <a:off x="10187178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2"/>
          <p:cNvSpPr/>
          <p:nvPr/>
        </p:nvSpPr>
        <p:spPr>
          <a:xfrm>
            <a:off x="10187178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</p:txBody>
      </p:sp>
      <p:sp>
        <p:nvSpPr>
          <p:cNvPr id="58" name="Text 53"/>
          <p:cNvSpPr/>
          <p:nvPr/>
        </p:nvSpPr>
        <p:spPr>
          <a:xfrm>
            <a:off x="10479786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59" name="Text 54"/>
          <p:cNvSpPr/>
          <p:nvPr/>
        </p:nvSpPr>
        <p:spPr>
          <a:xfrm>
            <a:off x="10223754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Auto-notifying partners by email</a:t>
            </a:r>
            <a:endParaRPr lang="en-US" sz="850" dirty="0"/>
          </a:p>
        </p:txBody>
      </p:sp>
      <p:pic>
        <p:nvPicPr>
          <p:cNvPr id="60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3754" y="2761488"/>
            <a:ext cx="109728" cy="109728"/>
          </a:xfrm>
          <a:prstGeom prst="rect">
            <a:avLst/>
          </a:prstGeom>
        </p:spPr>
      </p:pic>
      <p:sp>
        <p:nvSpPr>
          <p:cNvPr id="61" name="Text 55"/>
          <p:cNvSpPr/>
          <p:nvPr/>
        </p:nvSpPr>
        <p:spPr>
          <a:xfrm>
            <a:off x="10370058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50" dirty="0"/>
          </a:p>
        </p:txBody>
      </p:sp>
      <p:sp>
        <p:nvSpPr>
          <p:cNvPr id="62" name="Shape 56"/>
          <p:cNvSpPr/>
          <p:nvPr/>
        </p:nvSpPr>
        <p:spPr>
          <a:xfrm>
            <a:off x="566928" y="3127248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7"/>
          <p:cNvSpPr/>
          <p:nvPr/>
        </p:nvSpPr>
        <p:spPr>
          <a:xfrm>
            <a:off x="566928" y="312724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64" name="Text 58"/>
          <p:cNvSpPr/>
          <p:nvPr/>
        </p:nvSpPr>
        <p:spPr>
          <a:xfrm>
            <a:off x="1060704" y="3108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 a promo activity</a:t>
            </a:r>
            <a:endParaRPr lang="en-US" sz="1200" dirty="0"/>
          </a:p>
        </p:txBody>
      </p:sp>
      <p:sp>
        <p:nvSpPr>
          <p:cNvPr id="65" name="Shape 59"/>
          <p:cNvSpPr/>
          <p:nvPr/>
        </p:nvSpPr>
        <p:spPr>
          <a:xfrm>
            <a:off x="2461717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0"/>
          <p:cNvSpPr/>
          <p:nvPr/>
        </p:nvSpPr>
        <p:spPr>
          <a:xfrm>
            <a:off x="2461717" y="3511296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1"/>
          <p:cNvSpPr/>
          <p:nvPr/>
        </p:nvSpPr>
        <p:spPr>
          <a:xfrm>
            <a:off x="2608021" y="3547872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2"/>
          <p:cNvSpPr/>
          <p:nvPr/>
        </p:nvSpPr>
        <p:spPr>
          <a:xfrm>
            <a:off x="2608021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69" name="Text 63"/>
          <p:cNvSpPr/>
          <p:nvPr/>
        </p:nvSpPr>
        <p:spPr>
          <a:xfrm>
            <a:off x="2900629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/ ON-TRADE</a:t>
            </a:r>
            <a:endParaRPr lang="en-US" sz="850" dirty="0"/>
          </a:p>
        </p:txBody>
      </p:sp>
      <p:sp>
        <p:nvSpPr>
          <p:cNvPr id="70" name="Text 64"/>
          <p:cNvSpPr/>
          <p:nvPr/>
        </p:nvSpPr>
        <p:spPr>
          <a:xfrm>
            <a:off x="2644597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Request: quota, period or product</a:t>
            </a:r>
            <a:endParaRPr lang="en-US" sz="850" dirty="0"/>
          </a:p>
        </p:txBody>
      </p:sp>
      <p:sp>
        <p:nvSpPr>
          <p:cNvPr id="71" name="Shape 65"/>
          <p:cNvSpPr/>
          <p:nvPr/>
        </p:nvSpPr>
        <p:spPr>
          <a:xfrm>
            <a:off x="2653741" y="4169664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6"/>
          <p:cNvSpPr/>
          <p:nvPr/>
        </p:nvSpPr>
        <p:spPr>
          <a:xfrm>
            <a:off x="2781757" y="41148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850" dirty="0"/>
          </a:p>
        </p:txBody>
      </p:sp>
      <p:sp>
        <p:nvSpPr>
          <p:cNvPr id="73" name="Text 67"/>
          <p:cNvSpPr/>
          <p:nvPr/>
        </p:nvSpPr>
        <p:spPr>
          <a:xfrm>
            <a:off x="4045610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4" name="Shape 68"/>
          <p:cNvSpPr/>
          <p:nvPr/>
        </p:nvSpPr>
        <p:spPr>
          <a:xfrm>
            <a:off x="4356506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Shape 69"/>
          <p:cNvSpPr/>
          <p:nvPr/>
        </p:nvSpPr>
        <p:spPr>
          <a:xfrm>
            <a:off x="4356506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0"/>
          <p:cNvSpPr/>
          <p:nvPr/>
        </p:nvSpPr>
        <p:spPr>
          <a:xfrm>
            <a:off x="4502810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1"/>
          <p:cNvSpPr/>
          <p:nvPr/>
        </p:nvSpPr>
        <p:spPr>
          <a:xfrm>
            <a:off x="4502810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78" name="Text 72"/>
          <p:cNvSpPr/>
          <p:nvPr/>
        </p:nvSpPr>
        <p:spPr>
          <a:xfrm>
            <a:off x="4795418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79" name="Text 73"/>
          <p:cNvSpPr/>
          <p:nvPr/>
        </p:nvSpPr>
        <p:spPr>
          <a:xfrm>
            <a:off x="4539386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the Excel file with changes</a:t>
            </a:r>
            <a:endParaRPr lang="en-US" sz="850" dirty="0"/>
          </a:p>
        </p:txBody>
      </p:sp>
      <p:pic>
        <p:nvPicPr>
          <p:cNvPr id="80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386" y="4151376"/>
            <a:ext cx="109728" cy="109728"/>
          </a:xfrm>
          <a:prstGeom prst="rect">
            <a:avLst/>
          </a:prstGeom>
        </p:spPr>
      </p:pic>
      <p:sp>
        <p:nvSpPr>
          <p:cNvPr id="81" name="Text 74"/>
          <p:cNvSpPr/>
          <p:nvPr/>
        </p:nvSpPr>
        <p:spPr>
          <a:xfrm>
            <a:off x="4685690" y="41148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50" dirty="0"/>
          </a:p>
        </p:txBody>
      </p:sp>
      <p:sp>
        <p:nvSpPr>
          <p:cNvPr id="82" name="Text 75"/>
          <p:cNvSpPr/>
          <p:nvPr/>
        </p:nvSpPr>
        <p:spPr>
          <a:xfrm>
            <a:off x="5940400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83" name="Shape 76"/>
          <p:cNvSpPr/>
          <p:nvPr/>
        </p:nvSpPr>
        <p:spPr>
          <a:xfrm>
            <a:off x="6251296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Shape 77"/>
          <p:cNvSpPr/>
          <p:nvPr/>
        </p:nvSpPr>
        <p:spPr>
          <a:xfrm>
            <a:off x="6251296" y="3511296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78"/>
          <p:cNvSpPr/>
          <p:nvPr/>
        </p:nvSpPr>
        <p:spPr>
          <a:xfrm>
            <a:off x="6397600" y="3547872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79"/>
          <p:cNvSpPr/>
          <p:nvPr/>
        </p:nvSpPr>
        <p:spPr>
          <a:xfrm>
            <a:off x="6397600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87" name="Text 80"/>
          <p:cNvSpPr/>
          <p:nvPr/>
        </p:nvSpPr>
        <p:spPr>
          <a:xfrm>
            <a:off x="6690208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SPECIALIST</a:t>
            </a:r>
            <a:endParaRPr lang="en-US" sz="850" dirty="0"/>
          </a:p>
        </p:txBody>
      </p:sp>
      <p:sp>
        <p:nvSpPr>
          <p:cNvPr id="88" name="Text 81"/>
          <p:cNvSpPr/>
          <p:nvPr/>
        </p:nvSpPr>
        <p:spPr>
          <a:xfrm>
            <a:off x="6434176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the promo activity in Panorama</a:t>
            </a:r>
            <a:endParaRPr lang="en-US" sz="850" dirty="0"/>
          </a:p>
        </p:txBody>
      </p:sp>
      <p:sp>
        <p:nvSpPr>
          <p:cNvPr id="89" name="Shape 82"/>
          <p:cNvSpPr/>
          <p:nvPr/>
        </p:nvSpPr>
        <p:spPr>
          <a:xfrm>
            <a:off x="6443320" y="4169664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3"/>
          <p:cNvSpPr/>
          <p:nvPr/>
        </p:nvSpPr>
        <p:spPr>
          <a:xfrm>
            <a:off x="6571336" y="41148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850" dirty="0"/>
          </a:p>
        </p:txBody>
      </p:sp>
      <p:sp>
        <p:nvSpPr>
          <p:cNvPr id="91" name="Text 84"/>
          <p:cNvSpPr/>
          <p:nvPr/>
        </p:nvSpPr>
        <p:spPr>
          <a:xfrm>
            <a:off x="7835189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92" name="Shape 85"/>
          <p:cNvSpPr/>
          <p:nvPr/>
        </p:nvSpPr>
        <p:spPr>
          <a:xfrm>
            <a:off x="8146085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3" name="Shape 86"/>
          <p:cNvSpPr/>
          <p:nvPr/>
        </p:nvSpPr>
        <p:spPr>
          <a:xfrm>
            <a:off x="8146085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87"/>
          <p:cNvSpPr/>
          <p:nvPr/>
        </p:nvSpPr>
        <p:spPr>
          <a:xfrm>
            <a:off x="8292389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88"/>
          <p:cNvSpPr/>
          <p:nvPr/>
        </p:nvSpPr>
        <p:spPr>
          <a:xfrm>
            <a:off x="8292389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96" name="Text 89"/>
          <p:cNvSpPr/>
          <p:nvPr/>
        </p:nvSpPr>
        <p:spPr>
          <a:xfrm>
            <a:off x="8584997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97" name="Text 90"/>
          <p:cNvSpPr/>
          <p:nvPr/>
        </p:nvSpPr>
        <p:spPr>
          <a:xfrm>
            <a:off x="8328965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and partner notification</a:t>
            </a:r>
            <a:endParaRPr lang="en-US" sz="850" dirty="0"/>
          </a:p>
        </p:txBody>
      </p:sp>
      <p:pic>
        <p:nvPicPr>
          <p:cNvPr id="98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965" y="4151376"/>
            <a:ext cx="109728" cy="109728"/>
          </a:xfrm>
          <a:prstGeom prst="rect">
            <a:avLst/>
          </a:prstGeom>
        </p:spPr>
      </p:pic>
      <p:sp>
        <p:nvSpPr>
          <p:cNvPr id="99" name="Text 91"/>
          <p:cNvSpPr/>
          <p:nvPr/>
        </p:nvSpPr>
        <p:spPr>
          <a:xfrm>
            <a:off x="8475269" y="41148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50" dirty="0"/>
          </a:p>
        </p:txBody>
      </p:sp>
      <p:sp>
        <p:nvSpPr>
          <p:cNvPr id="100" name="Shape 92"/>
          <p:cNvSpPr/>
          <p:nvPr/>
        </p:nvSpPr>
        <p:spPr>
          <a:xfrm>
            <a:off x="566928" y="4517136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93"/>
          <p:cNvSpPr/>
          <p:nvPr/>
        </p:nvSpPr>
        <p:spPr>
          <a:xfrm>
            <a:off x="566928" y="451713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02" name="Text 94"/>
          <p:cNvSpPr/>
          <p:nvPr/>
        </p:nvSpPr>
        <p:spPr>
          <a:xfrm>
            <a:off x="1060704" y="44988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closing and calculation</a:t>
            </a:r>
            <a:endParaRPr lang="en-US" sz="1200" dirty="0"/>
          </a:p>
        </p:txBody>
      </p:sp>
      <p:sp>
        <p:nvSpPr>
          <p:cNvPr id="103" name="Shape 95"/>
          <p:cNvSpPr/>
          <p:nvPr/>
        </p:nvSpPr>
        <p:spPr>
          <a:xfrm>
            <a:off x="3409112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" name="Shape 96"/>
          <p:cNvSpPr/>
          <p:nvPr/>
        </p:nvSpPr>
        <p:spPr>
          <a:xfrm>
            <a:off x="3409112" y="4901184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97"/>
          <p:cNvSpPr/>
          <p:nvPr/>
        </p:nvSpPr>
        <p:spPr>
          <a:xfrm>
            <a:off x="3555416" y="4937760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98"/>
          <p:cNvSpPr/>
          <p:nvPr/>
        </p:nvSpPr>
        <p:spPr>
          <a:xfrm>
            <a:off x="3555416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07" name="Text 99"/>
          <p:cNvSpPr/>
          <p:nvPr/>
        </p:nvSpPr>
        <p:spPr>
          <a:xfrm>
            <a:off x="3848024" y="4937760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850" dirty="0"/>
          </a:p>
        </p:txBody>
      </p:sp>
      <p:sp>
        <p:nvSpPr>
          <p:cNvPr id="108" name="Text 100"/>
          <p:cNvSpPr/>
          <p:nvPr/>
        </p:nvSpPr>
        <p:spPr>
          <a:xfrm>
            <a:off x="3591992" y="5175504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«Request»: liters sold under the promo</a:t>
            </a:r>
            <a:endParaRPr lang="en-US" sz="850" dirty="0"/>
          </a:p>
        </p:txBody>
      </p:sp>
      <p:sp>
        <p:nvSpPr>
          <p:cNvPr id="109" name="Shape 101"/>
          <p:cNvSpPr/>
          <p:nvPr/>
        </p:nvSpPr>
        <p:spPr>
          <a:xfrm>
            <a:off x="3601136" y="5559552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102"/>
          <p:cNvSpPr/>
          <p:nvPr/>
        </p:nvSpPr>
        <p:spPr>
          <a:xfrm>
            <a:off x="3729152" y="55046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850" dirty="0"/>
          </a:p>
        </p:txBody>
      </p:sp>
      <p:sp>
        <p:nvSpPr>
          <p:cNvPr id="111" name="Text 103"/>
          <p:cNvSpPr/>
          <p:nvPr/>
        </p:nvSpPr>
        <p:spPr>
          <a:xfrm>
            <a:off x="4993005" y="4809744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2" name="Shape 104"/>
          <p:cNvSpPr/>
          <p:nvPr/>
        </p:nvSpPr>
        <p:spPr>
          <a:xfrm>
            <a:off x="5303901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3" name="Shape 105"/>
          <p:cNvSpPr/>
          <p:nvPr/>
        </p:nvSpPr>
        <p:spPr>
          <a:xfrm>
            <a:off x="5303901" y="4901184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106"/>
          <p:cNvSpPr/>
          <p:nvPr/>
        </p:nvSpPr>
        <p:spPr>
          <a:xfrm>
            <a:off x="5450205" y="4937760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07"/>
          <p:cNvSpPr/>
          <p:nvPr/>
        </p:nvSpPr>
        <p:spPr>
          <a:xfrm>
            <a:off x="5450205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16" name="Text 108"/>
          <p:cNvSpPr/>
          <p:nvPr/>
        </p:nvSpPr>
        <p:spPr>
          <a:xfrm>
            <a:off x="5742813" y="4937760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117" name="Text 109"/>
          <p:cNvSpPr/>
          <p:nvPr/>
        </p:nvSpPr>
        <p:spPr>
          <a:xfrm>
            <a:off x="5486781" y="5175504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Calculating ∑(liters × period price)</a:t>
            </a:r>
            <a:endParaRPr lang="en-US" sz="850" dirty="0"/>
          </a:p>
        </p:txBody>
      </p:sp>
      <p:pic>
        <p:nvPicPr>
          <p:cNvPr id="118" name="Image 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781" y="5541264"/>
            <a:ext cx="109728" cy="109728"/>
          </a:xfrm>
          <a:prstGeom prst="rect">
            <a:avLst/>
          </a:prstGeom>
        </p:spPr>
      </p:pic>
      <p:sp>
        <p:nvSpPr>
          <p:cNvPr id="119" name="Text 110"/>
          <p:cNvSpPr/>
          <p:nvPr/>
        </p:nvSpPr>
        <p:spPr>
          <a:xfrm>
            <a:off x="5633085" y="55046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50" dirty="0"/>
          </a:p>
        </p:txBody>
      </p:sp>
      <p:sp>
        <p:nvSpPr>
          <p:cNvPr id="120" name="Text 111"/>
          <p:cNvSpPr/>
          <p:nvPr/>
        </p:nvSpPr>
        <p:spPr>
          <a:xfrm>
            <a:off x="6887794" y="4809744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1" name="Shape 112"/>
          <p:cNvSpPr/>
          <p:nvPr/>
        </p:nvSpPr>
        <p:spPr>
          <a:xfrm>
            <a:off x="7198690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2" name="Shape 113"/>
          <p:cNvSpPr/>
          <p:nvPr/>
        </p:nvSpPr>
        <p:spPr>
          <a:xfrm>
            <a:off x="7198690" y="4901184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Shape 114"/>
          <p:cNvSpPr/>
          <p:nvPr/>
        </p:nvSpPr>
        <p:spPr>
          <a:xfrm>
            <a:off x="7344994" y="4937760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Text 115"/>
          <p:cNvSpPr/>
          <p:nvPr/>
        </p:nvSpPr>
        <p:spPr>
          <a:xfrm>
            <a:off x="7344994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125" name="Text 116"/>
          <p:cNvSpPr/>
          <p:nvPr/>
        </p:nvSpPr>
        <p:spPr>
          <a:xfrm>
            <a:off x="7637602" y="4937760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126" name="Text 117"/>
          <p:cNvSpPr/>
          <p:nvPr/>
        </p:nvSpPr>
        <p:spPr>
          <a:xfrm>
            <a:off x="7373446" y="5212080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of «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r>
              <a:rPr lang="ru-RU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» and 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</a:p>
          <a:p>
            <a:pPr marL="0" indent="0">
              <a:lnSpc>
                <a:spcPct val="102000"/>
              </a:lnSpc>
              <a:buNone/>
            </a:pPr>
            <a:endParaRPr lang="en-US" sz="850" dirty="0"/>
          </a:p>
        </p:txBody>
      </p:sp>
      <p:pic>
        <p:nvPicPr>
          <p:cNvPr id="127" name="Image 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570" y="5541264"/>
            <a:ext cx="109728" cy="109728"/>
          </a:xfrm>
          <a:prstGeom prst="rect">
            <a:avLst/>
          </a:prstGeom>
        </p:spPr>
      </p:pic>
      <p:sp>
        <p:nvSpPr>
          <p:cNvPr id="128" name="Text 118"/>
          <p:cNvSpPr/>
          <p:nvPr/>
        </p:nvSpPr>
        <p:spPr>
          <a:xfrm>
            <a:off x="7527874" y="55046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50" dirty="0"/>
          </a:p>
        </p:txBody>
      </p:sp>
      <p:sp>
        <p:nvSpPr>
          <p:cNvPr id="129" name="Shape 119"/>
          <p:cNvSpPr/>
          <p:nvPr/>
        </p:nvSpPr>
        <p:spPr>
          <a:xfrm>
            <a:off x="566928" y="5952744"/>
            <a:ext cx="201168" cy="146304"/>
          </a:xfrm>
          <a:prstGeom prst="rect">
            <a:avLst/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0"/>
          <p:cNvSpPr/>
          <p:nvPr/>
        </p:nvSpPr>
        <p:spPr>
          <a:xfrm>
            <a:off x="841248" y="59070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by the system</a:t>
            </a:r>
            <a:endParaRPr lang="en-US" sz="950" dirty="0"/>
          </a:p>
        </p:txBody>
      </p:sp>
      <p:sp>
        <p:nvSpPr>
          <p:cNvPr id="131" name="Shape 121"/>
          <p:cNvSpPr/>
          <p:nvPr/>
        </p:nvSpPr>
        <p:spPr>
          <a:xfrm>
            <a:off x="3218688" y="5952744"/>
            <a:ext cx="20116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22"/>
          <p:cNvSpPr/>
          <p:nvPr/>
        </p:nvSpPr>
        <p:spPr>
          <a:xfrm>
            <a:off x="3493008" y="59070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action / decision</a:t>
            </a:r>
            <a:endParaRPr lang="en-US" sz="950" dirty="0"/>
          </a:p>
        </p:txBody>
      </p:sp>
      <p:sp>
        <p:nvSpPr>
          <p:cNvPr id="133" name="Shape 123"/>
          <p:cNvSpPr/>
          <p:nvPr/>
        </p:nvSpPr>
        <p:spPr>
          <a:xfrm>
            <a:off x="6949440" y="5760720"/>
            <a:ext cx="4675327" cy="548640"/>
          </a:xfrm>
          <a:prstGeom prst="roundRect">
            <a:avLst>
              <a:gd name="adj" fmla="val 19048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24"/>
          <p:cNvSpPr/>
          <p:nvPr/>
        </p:nvSpPr>
        <p:spPr>
          <a:xfrm>
            <a:off x="7086600" y="5760720"/>
            <a:ext cx="44741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4C8D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Not just automation:</a:t>
            </a:r>
            <a:r>
              <a:rPr lang="en-US" sz="950" dirty="0">
                <a:solidFill>
                  <a:srgbClr val="00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new steps are added — partner stock checks and promo pre-calculations, so partners send correct requests.</a:t>
            </a:r>
            <a:endParaRPr lang="en-US" sz="950" dirty="0"/>
          </a:p>
        </p:txBody>
      </p:sp>
      <p:sp>
        <p:nvSpPr>
          <p:cNvPr id="135" name="Shape 125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6" name="Image 8" descr="/Users/asetseksenali/Downloads/efes/assets/efes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137" name="Text 126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138" name="Text 127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 · BPMN</a:t>
            </a:r>
            <a:endParaRPr lang="en-US" sz="850" dirty="0"/>
          </a:p>
        </p:txBody>
      </p:sp>
      <p:sp>
        <p:nvSpPr>
          <p:cNvPr id="129" name="Shape 119"/>
          <p:cNvSpPr/>
          <p:nvPr/>
        </p:nvSpPr>
        <p:spPr>
          <a:xfrm>
            <a:off x="5440680" y="5952744"/>
            <a:ext cx="201168" cy="146304"/>
          </a:xfrm>
          <a:prstGeom prst="rect">
            <a:avLst/>
          </a:prstGeom>
          <a:solidFill>
            <a:srgbClr val="FBE9E7"/>
          </a:solidFill>
          <a:ln w="12700">
            <a:solidFill>
              <a:srgbClr val="F0C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0"/>
          <p:cNvSpPr/>
          <p:nvPr/>
        </p:nvSpPr>
        <p:spPr>
          <a:xfrm>
            <a:off x="5715000" y="59070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process step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5" name="Shape 125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6" name="Image 8" descr="/Users/asetseksenali/Downloads/efes/assets/efes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137" name="Text 126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138" name="Text 127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  <p:sp>
        <p:nvSpPr>
          <p:cNvPr id="139" name="Rectangle 138"/>
          <p:cNvSpPr/>
          <p:nvPr/>
        </p:nvSpPr>
        <p:spPr>
          <a:xfrm>
            <a:off x="566928" y="589788"/>
            <a:ext cx="155448" cy="29260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 i="0" spc="200">
                <a:solidFill>
                  <a:srgbClr val="1166A8"/>
                </a:solidFill>
                <a:latin typeface="Calibri"/>
              </a:rPr>
              <a:t>CURRENT TOOLING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900" b="1" i="0">
                <a:solidFill>
                  <a:srgbClr val="0C1726"/>
                </a:solidFill>
                <a:latin typeface="Calibri"/>
              </a:rPr>
              <a:t>The current KZPromotion system — and its limits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66928" y="1426464"/>
            <a:ext cx="1088136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6616F"/>
                </a:solidFill>
                <a:latin typeface="Calibri"/>
              </a:rPr>
              <a:t>Today partner notifications for N+1 promos are sent by KZPromotion. It covers only a small part of the process and still requires constant manual work.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66928" y="2121408"/>
            <a:ext cx="6583680" cy="241813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4" name="Picture 143" descr="kzpromo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2304288"/>
            <a:ext cx="6144768" cy="1814626"/>
          </a:xfrm>
          <a:prstGeom prst="rect">
            <a:avLst/>
          </a:prstGeom>
          <a:ln w="9525">
            <a:solidFill>
              <a:srgbClr val="E2E7EE"/>
            </a:solidFill>
          </a:ln>
        </p:spPr>
      </p:pic>
      <p:sp>
        <p:nvSpPr>
          <p:cNvPr id="145" name="TextBox 144"/>
          <p:cNvSpPr txBox="1"/>
          <p:nvPr/>
        </p:nvSpPr>
        <p:spPr>
          <a:xfrm>
            <a:off x="786384" y="4155490"/>
            <a:ext cx="6144768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56616F"/>
                </a:solidFill>
                <a:latin typeface="Calibri"/>
              </a:rPr>
              <a:t>KZPromotion — partner notification mailing for N+1 promos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66928" y="4704130"/>
            <a:ext cx="6583680" cy="1202893"/>
          </a:xfrm>
          <a:prstGeom prst="roundRect">
            <a:avLst>
              <a:gd name="adj" fmla="val 7601"/>
            </a:avLst>
          </a:prstGeom>
          <a:solidFill>
            <a:srgbClr val="FBE9E7"/>
          </a:solidFill>
          <a:ln w="12700">
            <a:solidFill>
              <a:srgbClr val="F0C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41247" y="4813858"/>
            <a:ext cx="603504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1" i="0" spc="100">
                <a:solidFill>
                  <a:srgbClr val="C33A30"/>
                </a:solidFill>
                <a:latin typeface="Calibri"/>
              </a:rPr>
              <a:t>OPERATIONAL ISSUES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59536" y="5188762"/>
            <a:ext cx="64008" cy="64008"/>
          </a:xfrm>
          <a:prstGeom prst="rect">
            <a:avLst/>
          </a:prstGeom>
          <a:solidFill>
            <a:srgbClr val="C3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042416" y="5106466"/>
            <a:ext cx="5815584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0C1726"/>
                </a:solidFill>
                <a:latin typeface="Calibri"/>
              </a:rPr>
              <a:t>Microsoft changed its internal policies — emails stopped going out, and notifications had to be sent manually.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59536" y="5645962"/>
            <a:ext cx="64008" cy="64008"/>
          </a:xfrm>
          <a:prstGeom prst="rect">
            <a:avLst/>
          </a:prstGeom>
          <a:solidFill>
            <a:srgbClr val="C3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042416" y="5563666"/>
            <a:ext cx="5815584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0C1726"/>
                </a:solidFill>
                <a:latin typeface="Calibri"/>
              </a:rPr>
              <a:t>Minor failures occur frequently.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7315200" y="2121408"/>
            <a:ext cx="4309567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7315200" y="2139696"/>
            <a:ext cx="45720" cy="1133856"/>
          </a:xfrm>
          <a:prstGeom prst="rect">
            <a:avLst/>
          </a:prstGeom>
          <a:solidFill>
            <a:srgbClr val="BD7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7552944" y="2231136"/>
            <a:ext cx="3852367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50" b="1" i="0">
                <a:solidFill>
                  <a:srgbClr val="0C1726"/>
                </a:solidFill>
                <a:latin typeface="Calibri"/>
              </a:rPr>
              <a:t>N+1 only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552944" y="2542032"/>
            <a:ext cx="3852367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6616F"/>
                </a:solidFill>
                <a:latin typeface="Calibri"/>
              </a:rPr>
              <a:t>All other promo activity types are not supported.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7315200" y="3429000"/>
            <a:ext cx="4309567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7315200" y="3447288"/>
            <a:ext cx="45720" cy="1133856"/>
          </a:xfrm>
          <a:prstGeom prst="rect">
            <a:avLst/>
          </a:prstGeom>
          <a:solidFill>
            <a:srgbClr val="BD7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552944" y="3538728"/>
            <a:ext cx="3852367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50" b="1" i="0">
                <a:solidFill>
                  <a:srgbClr val="0C1726"/>
                </a:solidFill>
                <a:latin typeface="Calibri"/>
              </a:rPr>
              <a:t>Manual selection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552944" y="3849624"/>
            <a:ext cx="3852367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6616F"/>
                </a:solidFill>
                <a:latin typeface="Calibri"/>
              </a:rPr>
              <a:t>The Sales Systems communication specialist picks promo activities for mailing by hand.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7315200" y="4736592"/>
            <a:ext cx="4309567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7315200" y="4754879"/>
            <a:ext cx="45720" cy="1133856"/>
          </a:xfrm>
          <a:prstGeom prst="rect">
            <a:avLst/>
          </a:prstGeom>
          <a:solidFill>
            <a:srgbClr val="BD7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7552944" y="4846320"/>
            <a:ext cx="3852367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50" b="1" i="0">
                <a:solidFill>
                  <a:srgbClr val="0C1726"/>
                </a:solidFill>
                <a:latin typeface="Calibri"/>
              </a:rPr>
              <a:t>Quota changes only — automatic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552944" y="5157216"/>
            <a:ext cx="3852367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6616F"/>
                </a:solidFill>
                <a:latin typeface="Calibri"/>
              </a:rPr>
              <a:t>Notifications about period or product changes have to be sent to partners manually.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5" name="Shape 125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6" name="Image 8" descr="/Users/asetseksenali/Downloads/efes/assets/efes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137" name="Text 126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138" name="Text 127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  <p:sp>
        <p:nvSpPr>
          <p:cNvPr id="139" name="Rectangle 138"/>
          <p:cNvSpPr/>
          <p:nvPr/>
        </p:nvSpPr>
        <p:spPr>
          <a:xfrm>
            <a:off x="566928" y="589788"/>
            <a:ext cx="155448" cy="29260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 i="0" spc="200">
                <a:solidFill>
                  <a:srgbClr val="1166A8"/>
                </a:solidFill>
                <a:latin typeface="Calibri"/>
              </a:rPr>
              <a:t>THE TEAM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900" b="1" i="0">
                <a:solidFill>
                  <a:srgbClr val="0C1726"/>
                </a:solidFill>
                <a:latin typeface="Calibri"/>
              </a:rPr>
              <a:t>Who builds Efes Nexus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66928" y="1426464"/>
            <a:ext cx="1088136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6616F"/>
                </a:solidFill>
                <a:latin typeface="Calibri"/>
              </a:rPr>
              <a:t>The platform is built by a team of five engineers led by the founding engineer of the project.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66928" y="2121408"/>
            <a:ext cx="4114800" cy="3785616"/>
          </a:xfrm>
          <a:prstGeom prst="roundRect">
            <a:avLst>
              <a:gd name="adj" fmla="val 2173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85216" y="2121408"/>
            <a:ext cx="4078224" cy="45720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1847088" y="2505456"/>
            <a:ext cx="1554480" cy="1554480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 w="12700">
            <a:solidFill>
              <a:srgbClr val="9CC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847088" y="2505456"/>
            <a:ext cx="1554480" cy="1554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4600" b="1" i="0">
                <a:solidFill>
                  <a:srgbClr val="004C8D"/>
                </a:solidFill>
                <a:latin typeface="Calibri"/>
              </a:rPr>
              <a:t>AS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86968" y="4315968"/>
            <a:ext cx="347472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2200" b="1" i="0">
                <a:solidFill>
                  <a:srgbClr val="0C1726"/>
                </a:solidFill>
                <a:latin typeface="Calibri"/>
              </a:rPr>
              <a:t>Aset Seksenali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86968" y="4727448"/>
            <a:ext cx="347472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300" b="1" i="0">
                <a:solidFill>
                  <a:srgbClr val="1166A8"/>
                </a:solidFill>
                <a:latin typeface="Calibri"/>
              </a:rPr>
              <a:t>Founding engineer · team lead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389888" y="5193792"/>
            <a:ext cx="2468880" cy="12801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86968" y="5303520"/>
            <a:ext cx="347472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0" i="0">
                <a:solidFill>
                  <a:srgbClr val="56616F"/>
                </a:solidFill>
                <a:latin typeface="Calibri"/>
              </a:rPr>
              <a:t>asetseksenali@gmail.com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901184" y="2121408"/>
            <a:ext cx="6723583" cy="1127760"/>
          </a:xfrm>
          <a:prstGeom prst="roundRect">
            <a:avLst>
              <a:gd name="adj" fmla="val 7297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4901184" y="2139696"/>
            <a:ext cx="45720" cy="1091184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5193792" y="2286000"/>
            <a:ext cx="6174943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50" b="1" i="0" spc="80">
                <a:solidFill>
                  <a:srgbClr val="1166A8"/>
                </a:solidFill>
                <a:latin typeface="Calibri"/>
              </a:rPr>
              <a:t>ROLE ON THE PROJECT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193792" y="2560320"/>
            <a:ext cx="6156655" cy="5608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16F"/>
                </a:solidFill>
                <a:latin typeface="Calibri"/>
              </a:rPr>
              <a:t>Founding and lead engineer of Efes Nexus. Owns the platform architecture, the process model and the Panorama and 1C integrations.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4901184" y="3450336"/>
            <a:ext cx="6723583" cy="1127760"/>
          </a:xfrm>
          <a:prstGeom prst="roundRect">
            <a:avLst>
              <a:gd name="adj" fmla="val 7297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4901184" y="3468624"/>
            <a:ext cx="45720" cy="1091184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193792" y="3614928"/>
            <a:ext cx="6174943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50" b="1" i="0" spc="80">
                <a:solidFill>
                  <a:srgbClr val="1166A8"/>
                </a:solidFill>
                <a:latin typeface="Calibri"/>
              </a:rPr>
              <a:t>THE TEAM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193792" y="3889248"/>
            <a:ext cx="6156655" cy="5608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16F"/>
                </a:solidFill>
                <a:latin typeface="Calibri"/>
              </a:rPr>
              <a:t>Team lead of four developers: frontend, backend, integrations and rollout. All development is done in-house, with no subcontractors.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4901184" y="4779264"/>
            <a:ext cx="6723583" cy="1127760"/>
          </a:xfrm>
          <a:prstGeom prst="roundRect">
            <a:avLst>
              <a:gd name="adj" fmla="val 7297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4901184" y="4797551"/>
            <a:ext cx="45720" cy="1091184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5193792" y="4943856"/>
            <a:ext cx="6174943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50" b="1" i="0" spc="80">
                <a:solidFill>
                  <a:srgbClr val="1166A8"/>
                </a:solidFill>
                <a:latin typeface="Calibri"/>
              </a:rPr>
              <a:t>WHAT IS ALREADY DONE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193792" y="5218176"/>
            <a:ext cx="6156655" cy="5608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16F"/>
                </a:solidFill>
                <a:latin typeface="Calibri"/>
              </a:rPr>
              <a:t>Three promo-activity BPMN processes modelled, the limits of KZPromotion mapped, and a working platform built and running.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5" name="Shape 125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6" name="Image 8" descr="/Users/asetseksenali/Downloads/efes/assets/efes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137" name="Text 126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138" name="Text 127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  <p:sp>
        <p:nvSpPr>
          <p:cNvPr id="139" name="Rectangle 138"/>
          <p:cNvSpPr/>
          <p:nvPr/>
        </p:nvSpPr>
        <p:spPr>
          <a:xfrm>
            <a:off x="566928" y="589788"/>
            <a:ext cx="155448" cy="29260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 i="0" spc="200">
                <a:solidFill>
                  <a:srgbClr val="1166A8"/>
                </a:solidFill>
                <a:latin typeface="Calibri"/>
              </a:rPr>
              <a:t>COMMERCIAL PROPOSAL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900" b="1" i="0">
                <a:solidFill>
                  <a:srgbClr val="0C1726"/>
                </a:solidFill>
                <a:latin typeface="Calibri"/>
              </a:rPr>
              <a:t>Pricing and phases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66928" y="1389888"/>
            <a:ext cx="1088136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6616F"/>
                </a:solidFill>
                <a:latin typeface="Calibri"/>
              </a:rPr>
              <a:t>The platform is deployed on the Efes Kazakhstan server — no separate infrastructure is needed. Phase 1 covers everything shown in this deck; phase 2 is taken up at the client’s discretion.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66928" y="2121408"/>
            <a:ext cx="5419191" cy="3419856"/>
          </a:xfrm>
          <a:prstGeom prst="roundRect">
            <a:avLst>
              <a:gd name="adj" fmla="val 2406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85216" y="2121408"/>
            <a:ext cx="5382615" cy="45720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50976" y="2359152"/>
            <a:ext cx="4687671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1" i="0" spc="100">
                <a:solidFill>
                  <a:srgbClr val="1166A8"/>
                </a:solidFill>
                <a:latin typeface="Calibri"/>
              </a:rPr>
              <a:t>PHASE 1 · PLATFORM ROLLOUT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50976" y="2670048"/>
            <a:ext cx="4687671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4000" b="1" i="0">
                <a:solidFill>
                  <a:srgbClr val="004C8D"/>
                </a:solidFill>
                <a:latin typeface="Calibri"/>
              </a:rPr>
              <a:t>5,000,000 KZT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69264" y="3419856"/>
            <a:ext cx="4687671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00" b="0" i="1">
                <a:solidFill>
                  <a:srgbClr val="8B94A2"/>
                </a:solidFill>
                <a:latin typeface="Calibri"/>
              </a:rPr>
              <a:t>everything shown in this deck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950976" y="3785615"/>
            <a:ext cx="4651095" cy="12801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969264" y="3995928"/>
            <a:ext cx="77724" cy="77724"/>
          </a:xfrm>
          <a:prstGeom prst="roundRect">
            <a:avLst>
              <a:gd name="adj" fmla="val 50000"/>
            </a:avLst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207007" y="3895344"/>
            <a:ext cx="4413351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50" b="0" i="0">
                <a:solidFill>
                  <a:srgbClr val="56616F"/>
                </a:solidFill>
                <a:latin typeface="Calibri"/>
              </a:rPr>
              <a:t>Creating, changing and closing promo activities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69264" y="4311396"/>
            <a:ext cx="77724" cy="77724"/>
          </a:xfrm>
          <a:prstGeom prst="roundRect">
            <a:avLst>
              <a:gd name="adj" fmla="val 50000"/>
            </a:avLst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207007" y="4210812"/>
            <a:ext cx="4413351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50" b="0" i="0">
                <a:solidFill>
                  <a:srgbClr val="56616F"/>
                </a:solidFill>
                <a:latin typeface="Calibri"/>
              </a:rPr>
              <a:t>Partner notifications and Panorama synchronisation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969264" y="4626864"/>
            <a:ext cx="77724" cy="77724"/>
          </a:xfrm>
          <a:prstGeom prst="roundRect">
            <a:avLst>
              <a:gd name="adj" fmla="val 50000"/>
            </a:avLst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207007" y="4526279"/>
            <a:ext cx="4413351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50" b="0" i="0">
                <a:solidFill>
                  <a:srgbClr val="56616F"/>
                </a:solidFill>
                <a:latin typeface="Calibri"/>
              </a:rPr>
              <a:t>Compensation calculations and report exports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969264" y="4942332"/>
            <a:ext cx="77724" cy="77724"/>
          </a:xfrm>
          <a:prstGeom prst="roundRect">
            <a:avLst>
              <a:gd name="adj" fmla="val 50000"/>
            </a:avLst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207007" y="4841748"/>
            <a:ext cx="4413351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50" b="0" i="0">
                <a:solidFill>
                  <a:srgbClr val="56616F"/>
                </a:solidFill>
                <a:latin typeface="Calibri"/>
              </a:rPr>
              <a:t>Partner stock checks and promo pre-calculations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969264" y="5257800"/>
            <a:ext cx="77724" cy="77724"/>
          </a:xfrm>
          <a:prstGeom prst="roundRect">
            <a:avLst>
              <a:gd name="adj" fmla="val 50000"/>
            </a:avLst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207007" y="5157216"/>
            <a:ext cx="4413351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50" b="0" i="0">
                <a:solidFill>
                  <a:srgbClr val="56616F"/>
                </a:solidFill>
                <a:latin typeface="Calibri"/>
              </a:rPr>
              <a:t>Deployment on the Efes Kazakhstan server, team training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6205575" y="2121408"/>
            <a:ext cx="5419191" cy="3419856"/>
          </a:xfrm>
          <a:prstGeom prst="roundRect">
            <a:avLst>
              <a:gd name="adj" fmla="val 2406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223863" y="2121408"/>
            <a:ext cx="5382615" cy="45720"/>
          </a:xfrm>
          <a:prstGeom prst="rect">
            <a:avLst/>
          </a:prstGeom>
          <a:solidFill>
            <a:srgbClr val="9CC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589623" y="2359152"/>
            <a:ext cx="4687671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1" i="0" spc="100">
                <a:solidFill>
                  <a:srgbClr val="8B94A2"/>
                </a:solidFill>
                <a:latin typeface="Calibri"/>
              </a:rPr>
              <a:t>PHASE 2 · OPTIONAL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589623" y="2670048"/>
            <a:ext cx="4687671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4000" b="1" i="0">
                <a:solidFill>
                  <a:srgbClr val="56616F"/>
                </a:solidFill>
                <a:latin typeface="Calibri"/>
              </a:rPr>
              <a:t>+ 5,000,000 KZT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607911" y="3419856"/>
            <a:ext cx="4687671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00" b="0" i="1">
                <a:solidFill>
                  <a:srgbClr val="8B94A2"/>
                </a:solidFill>
                <a:latin typeface="Calibri"/>
              </a:rPr>
              <a:t>further development possibilities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589623" y="3785615"/>
            <a:ext cx="4651095" cy="12801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ounded Rectangle 164"/>
          <p:cNvSpPr/>
          <p:nvPr/>
        </p:nvSpPr>
        <p:spPr>
          <a:xfrm>
            <a:off x="6607911" y="3995928"/>
            <a:ext cx="77724" cy="77724"/>
          </a:xfrm>
          <a:prstGeom prst="roundRect">
            <a:avLst>
              <a:gd name="adj" fmla="val 50000"/>
            </a:avLst>
          </a:prstGeom>
          <a:solidFill>
            <a:srgbClr val="9CC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845655" y="3895344"/>
            <a:ext cx="4413351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50" b="0" i="0">
                <a:solidFill>
                  <a:srgbClr val="56616F"/>
                </a:solidFill>
                <a:latin typeface="Calibri"/>
              </a:rPr>
              <a:t>AI Search &amp; Knowledge Base — search across promo history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6607911" y="4311396"/>
            <a:ext cx="77724" cy="77724"/>
          </a:xfrm>
          <a:prstGeom prst="roundRect">
            <a:avLst>
              <a:gd name="adj" fmla="val 50000"/>
            </a:avLst>
          </a:prstGeom>
          <a:solidFill>
            <a:srgbClr val="9CC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845655" y="4210812"/>
            <a:ext cx="4413351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50" b="0" i="0">
                <a:solidFill>
                  <a:srgbClr val="56616F"/>
                </a:solidFill>
                <a:latin typeface="Calibri"/>
              </a:rPr>
              <a:t>1C Invoice Validation — checking exports and invoices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607911" y="4626864"/>
            <a:ext cx="77724" cy="77724"/>
          </a:xfrm>
          <a:prstGeom prst="roundRect">
            <a:avLst>
              <a:gd name="adj" fmla="val 50000"/>
            </a:avLst>
          </a:prstGeom>
          <a:solidFill>
            <a:srgbClr val="9CC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845655" y="4526279"/>
            <a:ext cx="4413351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50" b="0" i="0">
                <a:solidFill>
                  <a:srgbClr val="56616F"/>
                </a:solidFill>
                <a:latin typeface="Calibri"/>
              </a:rPr>
              <a:t>Scaling calculations to other compensation types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6607911" y="4942332"/>
            <a:ext cx="77724" cy="77724"/>
          </a:xfrm>
          <a:prstGeom prst="roundRect">
            <a:avLst>
              <a:gd name="adj" fmla="val 50000"/>
            </a:avLst>
          </a:prstGeom>
          <a:solidFill>
            <a:srgbClr val="9CC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845655" y="4841748"/>
            <a:ext cx="4413351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50" b="0" i="0">
                <a:solidFill>
                  <a:srgbClr val="56616F"/>
                </a:solidFill>
                <a:latin typeface="Calibri"/>
              </a:rPr>
              <a:t>Historical promo activity calendar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6607911" y="5138928"/>
            <a:ext cx="4596231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00" b="0" i="1">
                <a:solidFill>
                  <a:srgbClr val="8B94A2"/>
                </a:solidFill>
                <a:latin typeface="Calibri"/>
              </a:rPr>
              <a:t>Taken up separately, after phase 1 goes live.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566928" y="5687568"/>
            <a:ext cx="11057839" cy="475488"/>
          </a:xfrm>
          <a:prstGeom prst="roundRect">
            <a:avLst>
              <a:gd name="adj" fmla="val 19230"/>
            </a:avLst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5" name="Picture 174" descr="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5824728"/>
            <a:ext cx="201168" cy="201168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1225295" y="5687568"/>
            <a:ext cx="10143439" cy="4754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Phase 1 — 5,000,000 KZT for a working platform on the client’s own server. Phase 2 is optional and is paid for only if Efes decides to start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950</Words>
  <Application>Microsoft Office PowerPoint</Application>
  <PresentationFormat>Widescreen</PresentationFormat>
  <Paragraphs>202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Efes Nexus — business case</dc:title>
  <dc:subject>PptxGenJS Presentation</dc:subject>
  <dc:creator>Efes Kazakhstan</dc:creator>
  <cp:lastModifiedBy>Aset Seksenali</cp:lastModifiedBy>
  <cp:revision>5</cp:revision>
  <dcterms:created xsi:type="dcterms:W3CDTF">2026-05-31T08:54:41Z</dcterms:created>
  <dcterms:modified xsi:type="dcterms:W3CDTF">2026-06-12T13:52:26Z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6fda2e-cb39-40eb-9c23-082a57943f2a_Enabled">
    <vt:lpwstr>true</vt:lpwstr>
  </property>
  <property fmtid="{D5CDD505-2E9C-101B-9397-08002B2CF9AE}" pid="3" name="MSIP_Label_e86fda2e-cb39-40eb-9c23-082a57943f2a_SetDate">
    <vt:lpwstr>2026-06-03T05:47:32Z</vt:lpwstr>
  </property>
  <property fmtid="{D5CDD505-2E9C-101B-9397-08002B2CF9AE}" pid="4" name="MSIP_Label_e86fda2e-cb39-40eb-9c23-082a57943f2a_Method">
    <vt:lpwstr>Privileged</vt:lpwstr>
  </property>
  <property fmtid="{D5CDD505-2E9C-101B-9397-08002B2CF9AE}" pid="5" name="MSIP_Label_e86fda2e-cb39-40eb-9c23-082a57943f2a_Name">
    <vt:lpwstr>Публичные данные</vt:lpwstr>
  </property>
  <property fmtid="{D5CDD505-2E9C-101B-9397-08002B2CF9AE}" pid="6" name="MSIP_Label_e86fda2e-cb39-40eb-9c23-082a57943f2a_SiteId">
    <vt:lpwstr>e763b98e-4b7c-41f7-9105-0ab753568526</vt:lpwstr>
  </property>
  <property fmtid="{D5CDD505-2E9C-101B-9397-08002B2CF9AE}" pid="7" name="MSIP_Label_e86fda2e-cb39-40eb-9c23-082a57943f2a_ActionId">
    <vt:lpwstr>6609c51b-9195-442a-b398-3174045bb277</vt:lpwstr>
  </property>
  <property fmtid="{D5CDD505-2E9C-101B-9397-08002B2CF9AE}" pid="8" name="MSIP_Label_e86fda2e-cb39-40eb-9c23-082a57943f2a_ContentBits">
    <vt:lpwstr>0</vt:lpwstr>
  </property>
  <property fmtid="{D5CDD505-2E9C-101B-9397-08002B2CF9AE}" pid="9" name="MSIP_Label_e86fda2e-cb39-40eb-9c23-082a57943f2a_Tag">
    <vt:lpwstr>10, 0, 1, 1</vt:lpwstr>
  </property>
</Properties>
</file>