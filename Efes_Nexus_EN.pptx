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7" r:id="rId15"/>
    <p:sldId id="259" r:id="rId6"/>
    <p:sldId id="266" r:id="rId14"/>
    <p:sldId id="257" r:id="rId4"/>
    <p:sldId id="261" r:id="rId5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microsoft.com/office/2007/relationships/media" Target="../media/media1.mp4"/><Relationship Id="rId6" Type="http://schemas.openxmlformats.org/officeDocument/2006/relationships/video" Target="../media/media1.mp4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20039"/>
            <a:ext cx="548640" cy="4424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603504"/>
            <a:ext cx="0" cy="475488"/>
          </a:xfrm>
          <a:prstGeom prst="line">
            <a:avLst/>
          </a:prstGeom>
          <a:noFill/>
          <a:ln w="12700">
            <a:solidFill>
              <a:srgbClr val="33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26464" y="54864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Department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19913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2075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· AUTOMATION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66928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Management Platform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replaces manual work in Excel and Outlook with end-to-end digital processes, automated notifications and AI verification of partner requests.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5285232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1565" y="5285232"/>
            <a:ext cx="1814170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6157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4173" y="5285232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business processes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Users/asetseksenali/Downloads/efes/assets/efes-badge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business case for the Head of Sales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TODAY — WITHOUT THE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activity lifecycle — today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Steps of the BPMN diagram and the responsible roles — how the process works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promo activity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14323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14323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60627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60627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34947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MARKETING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7203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Channel, partner, products,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098216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409112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409112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555416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555416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829736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591992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Assigning PR-##### code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checking for duplicates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993005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5303901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303901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5450205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450205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724525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5486781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the promo Excel file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6887794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7198690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7198690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7344994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7344994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7619314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7381570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promo activity in Panorama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8782583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9093479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9093479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9239783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9239783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9514103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9276359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Auto-notifying partners by email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promo activity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882341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quota, period or product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77130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the Excel file with changes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71920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promo activity in Panorama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66709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and partner notification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closing and calculation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29736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«Request»: liters sold under the promo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24525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∑(liters × period price)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19314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» and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functionality – N+1, N+KZT</a:t>
            </a:r>
            <a:endParaRPr lang="en-US" sz="2900" dirty="0"/>
          </a:p>
        </p:txBody>
      </p:sp>
      <p:sp>
        <p:nvSpPr>
          <p:cNvPr id="5" name="Card Before"/>
          <p:cNvSpPr/>
          <p:nvPr/>
        </p:nvSpPr>
        <p:spPr>
          <a:xfrm>
            <a:off x="566928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Card After"/>
          <p:cNvSpPr/>
          <p:nvPr/>
        </p:nvSpPr>
        <p:spPr>
          <a:xfrm>
            <a:off x="6376111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rrow Circle"/>
          <p:cNvSpPr/>
          <p:nvPr/>
        </p:nvSpPr>
        <p:spPr>
          <a:xfrm>
            <a:off x="5839816" y="3474720"/>
            <a:ext cx="512064" cy="512064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rrow"/>
          <p:cNvSpPr/>
          <p:nvPr/>
        </p:nvSpPr>
        <p:spPr>
          <a:xfrm>
            <a:off x="5839816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Lab BG"/>
          <p:cNvSpPr/>
          <p:nvPr/>
        </p:nvSpPr>
        <p:spPr>
          <a:xfrm>
            <a:off x="877824" y="1865376"/>
            <a:ext cx="1083564" cy="329184"/>
          </a:xfrm>
          <a:prstGeom prst="roundRect">
            <a:avLst>
              <a:gd name="adj" fmla="val 46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ab"/>
          <p:cNvSpPr/>
          <p:nvPr/>
        </p:nvSpPr>
        <p:spPr>
          <a:xfrm>
            <a:off x="877824" y="186537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250" dirty="0"/>
          </a:p>
        </p:txBody>
      </p:sp>
      <p:sp>
        <p:nvSpPr>
          <p:cNvPr id="11" name="Item"/>
          <p:cNvSpPr/>
          <p:nvPr/>
        </p:nvSpPr>
        <p:spPr>
          <a:xfrm>
            <a:off x="877824" y="246888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Excel files and email communication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single source of data, with communication run over email → Trade-marketing specialist – SSC specialist – CRM specialist – SSC specialist – Partners)</a:t>
            </a:r>
          </a:p>
        </p:txBody>
      </p:sp>
      <p:sp>
        <p:nvSpPr>
          <p:cNvPr id="12" name="Div"/>
          <p:cNvSpPr/>
          <p:nvPr/>
        </p:nvSpPr>
        <p:spPr>
          <a:xfrm>
            <a:off x="877824" y="3276524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tem"/>
          <p:cNvSpPr/>
          <p:nvPr/>
        </p:nvSpPr>
        <p:spPr>
          <a:xfrm>
            <a:off x="877824" y="3438601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Status reports are created manually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significant time burden on the employee)</a:t>
            </a:r>
          </a:p>
        </p:txBody>
      </p:sp>
      <p:sp>
        <p:nvSpPr>
          <p:cNvPr id="14" name="Div"/>
          <p:cNvSpPr/>
          <p:nvPr/>
        </p:nvSpPr>
        <p:spPr>
          <a:xfrm>
            <a:off x="877824" y="396826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tem"/>
          <p:cNvSpPr/>
          <p:nvPr/>
        </p:nvSpPr>
        <p:spPr>
          <a:xfrm>
            <a:off x="877824" y="4130345"/>
            <a:ext cx="462686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assignment, compensation calculation and verification of a large volume of requests in a non-automated process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of duplicates, overpayments and distortions in reports)</a:t>
            </a:r>
          </a:p>
        </p:txBody>
      </p:sp>
      <p:sp>
        <p:nvSpPr>
          <p:cNvPr id="16" name="Div"/>
          <p:cNvSpPr/>
          <p:nvPr/>
        </p:nvSpPr>
        <p:spPr>
          <a:xfrm>
            <a:off x="877824" y="483374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tem"/>
          <p:cNvSpPr/>
          <p:nvPr/>
        </p:nvSpPr>
        <p:spPr>
          <a:xfrm>
            <a:off x="877824" y="4995824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the human factor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(300+ promos per month)</a:t>
            </a:r>
          </a:p>
        </p:txBody>
      </p:sp>
      <p:sp>
        <p:nvSpPr>
          <p:cNvPr id="18" name="Lab BG"/>
          <p:cNvSpPr/>
          <p:nvPr/>
        </p:nvSpPr>
        <p:spPr>
          <a:xfrm>
            <a:off x="6687007" y="1865376"/>
            <a:ext cx="1161288" cy="329184"/>
          </a:xfrm>
          <a:prstGeom prst="roundRect">
            <a:avLst>
              <a:gd name="adj" fmla="val 46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ab"/>
          <p:cNvSpPr/>
          <p:nvPr/>
        </p:nvSpPr>
        <p:spPr>
          <a:xfrm>
            <a:off x="6687007" y="1865376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250" dirty="0"/>
          </a:p>
        </p:txBody>
      </p:sp>
      <p:sp>
        <p:nvSpPr>
          <p:cNvPr id="20" name="Item"/>
          <p:cNvSpPr/>
          <p:nvPr/>
        </p:nvSpPr>
        <p:spPr>
          <a:xfrm>
            <a:off x="6687007" y="2468880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 to manage promo processes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single registry and all communication in one space → full transparency, instant synchronization and no loss of information)</a:t>
            </a:r>
          </a:p>
        </p:txBody>
      </p:sp>
      <p:sp>
        <p:nvSpPr>
          <p:cNvPr id="21" name="Div"/>
          <p:cNvSpPr/>
          <p:nvPr/>
        </p:nvSpPr>
        <p:spPr>
          <a:xfrm>
            <a:off x="6687007" y="3107131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tem"/>
          <p:cNvSpPr/>
          <p:nvPr/>
        </p:nvSpPr>
        <p:spPr>
          <a:xfrm>
            <a:off x="6687007" y="3238805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(Reports generated and sent in seconds → real-time analytics and fast decisions)</a:t>
            </a:r>
          </a:p>
        </p:txBody>
      </p:sp>
      <p:sp>
        <p:nvSpPr>
          <p:cNvPr id="23" name="Div"/>
          <p:cNvSpPr/>
          <p:nvPr/>
        </p:nvSpPr>
        <p:spPr>
          <a:xfrm>
            <a:off x="6687007" y="3877056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tem"/>
          <p:cNvSpPr/>
          <p:nvPr/>
        </p:nvSpPr>
        <p:spPr>
          <a:xfrm>
            <a:off x="6687007" y="400873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calculation and coding algorithms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system assigns the code itself, checking for duplicates and product availability in the distributor's warehouse, and calculates the compensation by reconciling it against partner requests)</a:t>
            </a:r>
          </a:p>
        </p:txBody>
      </p:sp>
      <p:sp>
        <p:nvSpPr>
          <p:cNvPr id="25" name="Div"/>
          <p:cNvSpPr/>
          <p:nvPr/>
        </p:nvSpPr>
        <p:spPr>
          <a:xfrm>
            <a:off x="6687007" y="4785970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tem"/>
          <p:cNvSpPr/>
          <p:nvPr/>
        </p:nvSpPr>
        <p:spPr>
          <a:xfrm>
            <a:off x="6687007" y="4917643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the human factor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standardized and transparent process → predictable results and lower risks)</a:t>
            </a:r>
          </a:p>
        </p:txBody>
      </p:sp>
      <p:sp>
        <p:nvSpPr>
          <p:cNvPr id="27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Badge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29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0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37" name="Rectangle 36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THE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The promo dashboard</a:t>
            </a:r>
          </a:p>
        </p:txBody>
      </p:sp>
      <p:pic>
        <p:nvPicPr>
          <p:cNvPr id="40" name="Picture 39" descr="qu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554480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32688" y="1481328"/>
            <a:ext cx="10600639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13203A"/>
                </a:solidFill>
                <a:latin typeface="Calibri"/>
              </a:rPr>
              <a:t>“A single window for the entire promo-activity lifecycle — from the partner’s request to the compensation calculation.”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05729" y="2157984"/>
            <a:ext cx="6780236" cy="4059935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video_small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815457" y="2267712"/>
            <a:ext cx="6560780" cy="34930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815457" y="5833872"/>
            <a:ext cx="656078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56616F"/>
                </a:solidFill>
                <a:latin typeface="Calibri"/>
              </a:rPr>
              <a:t>Live recording of the platform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57" name="Rectangle 56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THE RESULT IN NUMBERS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The main effect — time returned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Promo volume grew almost 5× with the same team. The platform gives specialists their working time back by taking over the routine.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2121408"/>
            <a:ext cx="6400800" cy="3785616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5216" y="2121408"/>
            <a:ext cx="6364224" cy="45720"/>
          </a:xfrm>
          <a:prstGeom prst="rect">
            <a:avLst/>
          </a:prstGeom>
          <a:solidFill>
            <a:srgbClr val="15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24128" y="2578608"/>
            <a:ext cx="658368" cy="658368"/>
          </a:xfrm>
          <a:prstGeom prst="roundRect">
            <a:avLst>
              <a:gd name="adj" fmla="val 27777"/>
            </a:avLst>
          </a:prstGeom>
          <a:solidFill>
            <a:srgbClr val="E7F5EC"/>
          </a:solidFill>
          <a:ln w="12700">
            <a:solidFill>
              <a:srgbClr val="BB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lock_dk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2734056"/>
            <a:ext cx="347472" cy="3474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24128" y="3383279"/>
            <a:ext cx="5486400" cy="10972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6600" b="1" i="0">
                <a:solidFill>
                  <a:srgbClr val="15924F"/>
                </a:solidFill>
                <a:latin typeface="Calibri"/>
              </a:rPr>
              <a:t>158 h/mo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6" y="4517136"/>
            <a:ext cx="548640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0" i="0">
                <a:solidFill>
                  <a:srgbClr val="56616F"/>
                </a:solidFill>
                <a:latin typeface="Calibri"/>
              </a:rPr>
              <a:t>of working time returned · Year 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42416" y="5010912"/>
            <a:ext cx="5449824" cy="12801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42416" y="523036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6" y="5230368"/>
            <a:ext cx="210312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15924F"/>
                </a:solidFill>
                <a:latin typeface="Calibri"/>
              </a:rPr>
              <a:t>28% of routine automated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32320" y="2121408"/>
            <a:ext cx="4492447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132320" y="2139696"/>
            <a:ext cx="45720" cy="813816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88352" y="2221991"/>
            <a:ext cx="4035247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PROMOS / YEAR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88352" y="2395727"/>
            <a:ext cx="237744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04C8D"/>
                </a:solidFill>
                <a:latin typeface="Calibri"/>
              </a:rPr>
              <a:t>×4.6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88352" y="2697479"/>
            <a:ext cx="4035247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6E7885"/>
                </a:solidFill>
                <a:latin typeface="Calibri"/>
              </a:rPr>
              <a:t>2,187 → 10,112  </a:t>
            </a:r>
            <a:r>
              <a:rPr sz="1100" b="1" i="0">
                <a:solidFill>
                  <a:srgbClr val="15924F"/>
                </a:solidFill>
                <a:latin typeface="Calibri"/>
              </a:rPr>
              <a:t>+362%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132320" y="3099816"/>
            <a:ext cx="4492447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132320" y="3118104"/>
            <a:ext cx="45720" cy="813816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8352" y="3200400"/>
            <a:ext cx="4035247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PARTNERS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88352" y="3374136"/>
            <a:ext cx="237744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04C8D"/>
                </a:solidFill>
                <a:latin typeface="Calibri"/>
              </a:rPr>
              <a:t>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88352" y="3675888"/>
            <a:ext cx="4035247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6E7885"/>
                </a:solidFill>
                <a:latin typeface="Calibri"/>
              </a:rPr>
              <a:t>31 → 33 · in 6 mo  </a:t>
            </a:r>
            <a:r>
              <a:rPr sz="1100" b="1" i="0">
                <a:solidFill>
                  <a:srgbClr val="15924F"/>
                </a:solidFill>
                <a:latin typeface="Calibri"/>
              </a:rPr>
              <a:t>+6.5%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32320" y="4078224"/>
            <a:ext cx="4492447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32320" y="4096512"/>
            <a:ext cx="45720" cy="813816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88352" y="4178808"/>
            <a:ext cx="4035247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PRODUCTS ·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88352" y="4352544"/>
            <a:ext cx="237744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04C8D"/>
                </a:solidFill>
                <a:latin typeface="Calibri"/>
              </a:rPr>
              <a:t>105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88352" y="4654296"/>
            <a:ext cx="4035247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6E7885"/>
                </a:solidFill>
                <a:latin typeface="Calibri"/>
              </a:rPr>
              <a:t>78 → 105 · in 6 mo  </a:t>
            </a:r>
            <a:r>
              <a:rPr sz="1100" b="1" i="0">
                <a:solidFill>
                  <a:srgbClr val="15924F"/>
                </a:solidFill>
                <a:latin typeface="Calibri"/>
              </a:rPr>
              <a:t>+35%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32320" y="5056632"/>
            <a:ext cx="4492447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132320" y="5074920"/>
            <a:ext cx="45720" cy="813816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88352" y="5157216"/>
            <a:ext cx="4035247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PROMO TOTAL / YEAR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8352" y="5330952"/>
            <a:ext cx="237744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04C8D"/>
                </a:solidFill>
                <a:latin typeface="Calibri"/>
              </a:rPr>
              <a:t>2.41 bln 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88352" y="5632704"/>
            <a:ext cx="4035247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6E7885"/>
                </a:solidFill>
                <a:latin typeface="Calibri"/>
              </a:rPr>
              <a:t>1.00 → 2.41 · 2023–2025  </a:t>
            </a:r>
            <a:r>
              <a:rPr sz="1100" b="1" i="0">
                <a:solidFill>
                  <a:srgbClr val="15924F"/>
                </a:solidFill>
                <a:latin typeface="Calibri"/>
              </a:rPr>
              <a:t>+140%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Badge" descr="x"/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27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29" name="Rectangle 2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5CA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9CC6E8"/>
                </a:solidFill>
                <a:latin typeface="Calibri"/>
              </a:rPr>
              <a:t>WHAT'S 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EEF2F7"/>
                </a:solidFill>
                <a:latin typeface="Calibri"/>
              </a:rPr>
              <a:t>Future development possibilities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426464"/>
            <a:ext cx="1088136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9BF"/>
                </a:solidFill>
                <a:latin typeface="Calibri"/>
              </a:rPr>
              <a:t>The platform is already live — the next steps extend it: from AI search over promo history to 1C invoice validation and new calculation types.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44" y="2614452"/>
            <a:ext cx="275783" cy="27578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AI Search &amp; Knowledge 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Search and answers to questions about current and historical promo activities.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Example: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“Which promos ran for Ulba in July 2024, 2025 and 2026?”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95395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51427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2C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n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8712" y="2614452"/>
            <a:ext cx="275783" cy="27578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51427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1C Invoice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1427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Automatic validation of exports and invoices from 1C.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96563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24579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Effect: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−30% of trade &amp; sales-controlling specialists’ time; checking 1C from every point manually — ∞ hours.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3863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79895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03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cal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180" y="2614452"/>
            <a:ext cx="275783" cy="27578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79895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Scaling the calculations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9895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Extending calculations to other compensation types — e.g. the Kega Boom calculation.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25031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3047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Foundation ready: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shared quota, price and period logic is already in the system.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331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308363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alend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5647" y="2614452"/>
            <a:ext cx="275783" cy="27578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308363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Historical Promo Calendar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08363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A calendar of all current and historical promo activities.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53499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81515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How it works: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clicking a date shows the activities that were active in that period.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5687568"/>
            <a:ext cx="11057839" cy="530352"/>
          </a:xfrm>
          <a:prstGeom prst="roundRect">
            <a:avLst>
              <a:gd name="adj" fmla="val 15517"/>
            </a:avLst>
          </a:prstGeom>
          <a:solidFill>
            <a:srgbClr val="0C3F77"/>
          </a:solidFill>
          <a:ln w="12700">
            <a:solidFill>
              <a:srgbClr val="2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bol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5833872"/>
            <a:ext cx="237744" cy="23774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61872" y="5687568"/>
            <a:ext cx="10051999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New promo mechanics plug straight into the platform — partners are notified the instant they go live.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WHAT THE SYSTEM AUTOMATES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activity lifecycle — with Nexus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Steps of the BPMN diagram. </a:t>
            </a: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marks what the system does; </a:t>
            </a: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human actions and decisions.</a:t>
            </a:r>
            <a:endParaRPr lang="en-US" sz="1200" dirty="0"/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b="1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Red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a new step that does not exist today.</a:t>
            </a:r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promo activity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MARKETING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Channel, partner, products,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821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1717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1717" y="2121408"/>
            <a:ext cx="50292" cy="731520"/>
          </a:xfrm>
          <a:prstGeom prst="rect">
            <a:avLst/>
          </a:prstGeom>
          <a:solidFill>
            <a:srgbClr val="C33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8021" y="2157984"/>
            <a:ext cx="228600" cy="228600"/>
          </a:xfrm>
          <a:prstGeom prst="ellipse">
            <a:avLst/>
          </a:prstGeom>
          <a:solidFill>
            <a:srgbClr val="C33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8021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0629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3875" y="2432304"/>
            <a:ext cx="1391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Checking product availability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distributor's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warehouse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644597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step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04561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650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5650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0281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0281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9541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3938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Assigning PR-##### code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checking for duplicates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86" y="2761488"/>
            <a:ext cx="109728" cy="1097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569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94040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5129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25129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39760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976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9020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3417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the promo Excel file</a:t>
            </a:r>
            <a:endParaRPr lang="en-US" sz="8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76" y="2761488"/>
            <a:ext cx="109728" cy="10972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8048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835189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146085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8146085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8292389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92389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584997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8965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promo activity in Panorama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338109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466125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729978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10040874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10040874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10187178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10187178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10479786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223754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Auto-notifying partners by email</a:t>
            </a:r>
            <a:endParaRPr lang="en-US" sz="85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754" y="2761488"/>
            <a:ext cx="109728" cy="1097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37005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promo activity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900629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quota, period or product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2653741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2781757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9541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the Excel file with changes</a:t>
            </a:r>
            <a:endParaRPr lang="en-US" sz="85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86" y="4151376"/>
            <a:ext cx="109728" cy="109728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68569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9020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promo activity in Panorama</a:t>
            </a:r>
            <a:endParaRPr lang="en-US" sz="850" dirty="0"/>
          </a:p>
        </p:txBody>
      </p:sp>
      <p:sp>
        <p:nvSpPr>
          <p:cNvPr id="89" name="Shape 82"/>
          <p:cNvSpPr/>
          <p:nvPr/>
        </p:nvSpPr>
        <p:spPr>
          <a:xfrm>
            <a:off x="6443320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6571336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84997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and partner notification</a:t>
            </a:r>
            <a:endParaRPr lang="en-US" sz="850" dirty="0"/>
          </a:p>
        </p:txBody>
      </p:sp>
      <p:pic>
        <p:nvPicPr>
          <p:cNvPr id="9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965" y="4151376"/>
            <a:ext cx="109728" cy="109728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8475269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closing and calculation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48024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«Request»: liters sold under the promo</a:t>
            </a:r>
            <a:endParaRPr lang="en-US" sz="850" dirty="0"/>
          </a:p>
        </p:txBody>
      </p:sp>
      <p:sp>
        <p:nvSpPr>
          <p:cNvPr id="109" name="Shape 101"/>
          <p:cNvSpPr/>
          <p:nvPr/>
        </p:nvSpPr>
        <p:spPr>
          <a:xfrm>
            <a:off x="3601136" y="5559552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/>
          <p:nvPr/>
        </p:nvSpPr>
        <p:spPr>
          <a:xfrm>
            <a:off x="3729152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42813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∑(liters × period price)</a:t>
            </a:r>
            <a:endParaRPr lang="en-US" sz="850" dirty="0"/>
          </a:p>
        </p:txBody>
      </p:sp>
      <p:pic>
        <p:nvPicPr>
          <p:cNvPr id="118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781" y="5541264"/>
            <a:ext cx="109728" cy="10972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633085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37602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212080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» and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127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570" y="5541264"/>
            <a:ext cx="109728" cy="109728"/>
          </a:xfrm>
          <a:prstGeom prst="rect">
            <a:avLst/>
          </a:prstGeom>
        </p:spPr>
      </p:pic>
      <p:sp>
        <p:nvSpPr>
          <p:cNvPr id="128" name="Text 118"/>
          <p:cNvSpPr/>
          <p:nvPr/>
        </p:nvSpPr>
        <p:spPr>
          <a:xfrm>
            <a:off x="7527874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66928" y="5952744"/>
            <a:ext cx="201168" cy="146304"/>
          </a:xfrm>
          <a:prstGeom prst="rect">
            <a:avLst/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841248" y="5907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by the system</a:t>
            </a:r>
            <a:endParaRPr lang="en-US" sz="950" dirty="0"/>
          </a:p>
        </p:txBody>
      </p:sp>
      <p:sp>
        <p:nvSpPr>
          <p:cNvPr id="131" name="Shape 121"/>
          <p:cNvSpPr/>
          <p:nvPr/>
        </p:nvSpPr>
        <p:spPr>
          <a:xfrm>
            <a:off x="3218688" y="595274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2"/>
          <p:cNvSpPr/>
          <p:nvPr/>
        </p:nvSpPr>
        <p:spPr>
          <a:xfrm>
            <a:off x="3493008" y="5907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action / decision</a:t>
            </a:r>
            <a:endParaRPr lang="en-US" sz="950" dirty="0"/>
          </a:p>
        </p:txBody>
      </p:sp>
      <p:sp>
        <p:nvSpPr>
          <p:cNvPr id="133" name="Shape 123"/>
          <p:cNvSpPr/>
          <p:nvPr/>
        </p:nvSpPr>
        <p:spPr>
          <a:xfrm>
            <a:off x="6949440" y="5760720"/>
            <a:ext cx="4675327" cy="548640"/>
          </a:xfrm>
          <a:prstGeom prst="roundRect">
            <a:avLst>
              <a:gd name="adj" fmla="val 19048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/>
          <p:nvPr/>
        </p:nvSpPr>
        <p:spPr>
          <a:xfrm>
            <a:off x="7086600" y="5760720"/>
            <a:ext cx="4474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4C8D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Not just automation:</a:t>
            </a:r>
            <a:r>
              <a:rPr lang="en-US" sz="950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new steps are added — partner stock checks and promo pre-calculations, so partners send correct requests.</a:t>
            </a:r>
            <a:endParaRPr lang="en-US" sz="9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440680" y="5952744"/>
            <a:ext cx="201168" cy="146304"/>
          </a:xfrm>
          <a:prstGeom prst="rect">
            <a:avLst/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5715000" y="5907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 step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139" name="Rectangle 13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CURRENT TOOLING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The current KZPromotion system — and its limits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Today partner notifications for N+1 promos are sent by KZPromotion. It covers only a small part of the process and still requires constant manual work.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2121408"/>
            <a:ext cx="6583680" cy="241813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kzpro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304288"/>
            <a:ext cx="6144768" cy="1814626"/>
          </a:xfrm>
          <a:prstGeom prst="rect">
            <a:avLst/>
          </a:prstGeom>
          <a:ln w="9525">
            <a:solidFill>
              <a:srgbClr val="E2E7EE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786384" y="4155490"/>
            <a:ext cx="614476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56616F"/>
                </a:solidFill>
                <a:latin typeface="Calibri"/>
              </a:rPr>
              <a:t>KZPromotion — partner notification mailing for N+1 promos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66928" y="4704130"/>
            <a:ext cx="6583680" cy="1202893"/>
          </a:xfrm>
          <a:prstGeom prst="roundRect">
            <a:avLst>
              <a:gd name="adj" fmla="val 7601"/>
            </a:avLst>
          </a:prstGeom>
          <a:solidFill>
            <a:srgbClr val="FBE9E7"/>
          </a:solidFill>
          <a:ln w="12700">
            <a:solidFill>
              <a:srgbClr val="F0C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41247" y="4813858"/>
            <a:ext cx="6035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 spc="100">
                <a:solidFill>
                  <a:srgbClr val="C33A30"/>
                </a:solidFill>
                <a:latin typeface="Calibri"/>
              </a:rPr>
              <a:t>OPERATIONAL ISSUES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59536" y="5188762"/>
            <a:ext cx="64008" cy="64008"/>
          </a:xfrm>
          <a:prstGeom prst="rect">
            <a:avLst/>
          </a:prstGeom>
          <a:solidFill>
            <a:srgbClr val="C3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42416" y="5106466"/>
            <a:ext cx="58155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C1726"/>
                </a:solidFill>
                <a:latin typeface="Calibri"/>
              </a:rPr>
              <a:t>Microsoft changed its internal policies — emails stopped going out, and notifications had to be sent manually.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9536" y="5645962"/>
            <a:ext cx="64008" cy="64008"/>
          </a:xfrm>
          <a:prstGeom prst="rect">
            <a:avLst/>
          </a:prstGeom>
          <a:solidFill>
            <a:srgbClr val="C3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42416" y="5563666"/>
            <a:ext cx="58155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C1726"/>
                </a:solidFill>
                <a:latin typeface="Calibri"/>
              </a:rPr>
              <a:t>Minor failures occur frequently.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315200" y="2121408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315200" y="2139696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552944" y="2231136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N+1 only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552944" y="2542032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All other promo activity types are not supported.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315200" y="3429000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315200" y="3447288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552944" y="3538728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Manual selection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52944" y="3849624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The Sales Systems communication specialist picks promo activities for mailing by hand.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15200" y="4736592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315200" y="4754879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552944" y="4846320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Quota changes only — automatic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552944" y="5157216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Notifications about period or product changes have to be sent to partners manually.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950</Words>
  <Application>Microsoft Office PowerPoint</Application>
  <PresentationFormat>Widescreen</PresentationFormat>
  <Paragraphs>202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Efes Nexus — business case</dc:title>
  <dc:subject>PptxGenJS Presentation</dc:subject>
  <dc:creator>Efes Kazakhstan</dc:creator>
  <cp:lastModifiedBy>Aset Seksenali</cp:lastModifiedBy>
  <cp:revision>5</cp:revision>
  <dcterms:created xsi:type="dcterms:W3CDTF">2026-05-31T08:54:41Z</dcterms:created>
  <dcterms:modified xsi:type="dcterms:W3CDTF">2026-06-12T13:52:26Z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6fda2e-cb39-40eb-9c23-082a57943f2a_Enabled">
    <vt:lpwstr>true</vt:lpwstr>
  </property>
  <property fmtid="{D5CDD505-2E9C-101B-9397-08002B2CF9AE}" pid="3" name="MSIP_Label_e86fda2e-cb39-40eb-9c23-082a57943f2a_SetDate">
    <vt:lpwstr>2026-06-03T05:47:32Z</vt:lpwstr>
  </property>
  <property fmtid="{D5CDD505-2E9C-101B-9397-08002B2CF9AE}" pid="4" name="MSIP_Label_e86fda2e-cb39-40eb-9c23-082a57943f2a_Method">
    <vt:lpwstr>Privileged</vt:lpwstr>
  </property>
  <property fmtid="{D5CDD505-2E9C-101B-9397-08002B2CF9AE}" pid="5" name="MSIP_Label_e86fda2e-cb39-40eb-9c23-082a57943f2a_Name">
    <vt:lpwstr>Публичные данные</vt:lpwstr>
  </property>
  <property fmtid="{D5CDD505-2E9C-101B-9397-08002B2CF9AE}" pid="6" name="MSIP_Label_e86fda2e-cb39-40eb-9c23-082a57943f2a_SiteId">
    <vt:lpwstr>e763b98e-4b7c-41f7-9105-0ab753568526</vt:lpwstr>
  </property>
  <property fmtid="{D5CDD505-2E9C-101B-9397-08002B2CF9AE}" pid="7" name="MSIP_Label_e86fda2e-cb39-40eb-9c23-082a57943f2a_ActionId">
    <vt:lpwstr>6609c51b-9195-442a-b398-3174045bb277</vt:lpwstr>
  </property>
  <property fmtid="{D5CDD505-2E9C-101B-9397-08002B2CF9AE}" pid="8" name="MSIP_Label_e86fda2e-cb39-40eb-9c23-082a57943f2a_ContentBits">
    <vt:lpwstr>0</vt:lpwstr>
  </property>
  <property fmtid="{D5CDD505-2E9C-101B-9397-08002B2CF9AE}" pid="9" name="MSIP_Label_e86fda2e-cb39-40eb-9c23-082a57943f2a_Tag">
    <vt:lpwstr>10, 0, 1, 1</vt:lpwstr>
  </property>
</Properties>
</file>