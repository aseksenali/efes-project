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61" r:id="rId5"/>
    <p:sldId id="259" r:id="rId6"/>
    <p:sldId id="264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66928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Department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· AUTOMATION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Activity Manager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replaces manual work in Excel and Outlook with end-to-end digital processes, automated notifications and AI verification of partner requests.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business processes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business case for the Head of Sales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PROCESSES 01–03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activity lifecycle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Steps of the BPMN diagram.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marks what the system does;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human actions and decisions.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promo activity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MARKETING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Channel, partner, products,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63875" y="2432304"/>
            <a:ext cx="1391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Checking product availability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distributor's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warehouse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597" y="2761488"/>
            <a:ext cx="109728" cy="1097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790901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Assigning PR-##### code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checking for duplicates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promo Excel file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promo activity in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Auto-notifying partners by email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promo activity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quota, period or product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Excel file with changes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SPECIALIST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promo activity in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and partner notification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 and calculation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«Request»: liters sold under the promo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∑(liters × period price)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73446" y="5212080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«</a:t>
            </a:r>
            <a:r>
              <a:rPr lang="en-US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ru-RU" sz="850" dirty="0" err="1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» and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</a:p>
          <a:p>
            <a:pPr marL="0" indent="0">
              <a:lnSpc>
                <a:spcPct val="102000"/>
              </a:lnSpc>
              <a:buNone/>
            </a:pP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by the system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action / decision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843016"/>
            <a:ext cx="4675327" cy="384048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843016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of 13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steps are done by the system — people only handle promo entry and its creation in Panorama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functionality – N+1, N+KZT</a:t>
            </a:r>
            <a:endParaRPr lang="en-US" sz="2900" dirty="0"/>
          </a:p>
        </p:txBody>
      </p:sp>
      <p:sp>
        <p:nvSpPr>
          <p:cNvPr id="5" name="Card Before"/>
          <p:cNvSpPr/>
          <p:nvPr/>
        </p:nvSpPr>
        <p:spPr>
          <a:xfrm>
            <a:off x="566928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Card After"/>
          <p:cNvSpPr/>
          <p:nvPr/>
        </p:nvSpPr>
        <p:spPr>
          <a:xfrm>
            <a:off x="6376111" y="1572768"/>
            <a:ext cx="5248656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rrow Circle"/>
          <p:cNvSpPr/>
          <p:nvPr/>
        </p:nvSpPr>
        <p:spPr>
          <a:xfrm>
            <a:off x="5839816" y="3474720"/>
            <a:ext cx="512064" cy="512064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Arrow"/>
          <p:cNvSpPr/>
          <p:nvPr/>
        </p:nvSpPr>
        <p:spPr>
          <a:xfrm>
            <a:off x="5839816" y="3456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Lab BG"/>
          <p:cNvSpPr/>
          <p:nvPr/>
        </p:nvSpPr>
        <p:spPr>
          <a:xfrm>
            <a:off x="877824" y="1865376"/>
            <a:ext cx="1083564" cy="329184"/>
          </a:xfrm>
          <a:prstGeom prst="roundRect">
            <a:avLst>
              <a:gd name="adj" fmla="val 46000"/>
            </a:avLst>
          </a:prstGeom>
          <a:solidFill>
            <a:srgbClr val="FBE9E7"/>
          </a:solidFill>
          <a:ln w="12700">
            <a:solidFill>
              <a:srgbClr val="F0C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ab"/>
          <p:cNvSpPr/>
          <p:nvPr/>
        </p:nvSpPr>
        <p:spPr>
          <a:xfrm>
            <a:off x="877824" y="186537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C3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50" dirty="0"/>
          </a:p>
        </p:txBody>
      </p:sp>
      <p:sp>
        <p:nvSpPr>
          <p:cNvPr id="11" name="Item"/>
          <p:cNvSpPr/>
          <p:nvPr/>
        </p:nvSpPr>
        <p:spPr>
          <a:xfrm>
            <a:off x="877824" y="246888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Excel files and email communication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single source of data, with communication run over email → Trade-marketing specialist – SSC specialist – CRM specialist – SSC specialist – Partners)</a:t>
            </a:r>
          </a:p>
        </p:txBody>
      </p:sp>
      <p:sp>
        <p:nvSpPr>
          <p:cNvPr id="12" name="Div"/>
          <p:cNvSpPr/>
          <p:nvPr/>
        </p:nvSpPr>
        <p:spPr>
          <a:xfrm>
            <a:off x="877824" y="3276524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tem"/>
          <p:cNvSpPr/>
          <p:nvPr/>
        </p:nvSpPr>
        <p:spPr>
          <a:xfrm>
            <a:off x="877824" y="3438601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Status reports are created manually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significant time burden on the employee)</a:t>
            </a:r>
          </a:p>
        </p:txBody>
      </p:sp>
      <p:sp>
        <p:nvSpPr>
          <p:cNvPr id="14" name="Div"/>
          <p:cNvSpPr/>
          <p:nvPr/>
        </p:nvSpPr>
        <p:spPr>
          <a:xfrm>
            <a:off x="877824" y="396826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tem"/>
          <p:cNvSpPr/>
          <p:nvPr/>
        </p:nvSpPr>
        <p:spPr>
          <a:xfrm>
            <a:off x="877824" y="4130345"/>
            <a:ext cx="4626864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assignment, compensation calculation and verification of a large volume of requests in a non-automated process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of duplicates, overpayments and distortions in reports)</a:t>
            </a:r>
          </a:p>
        </p:txBody>
      </p:sp>
      <p:sp>
        <p:nvSpPr>
          <p:cNvPr id="16" name="Div"/>
          <p:cNvSpPr/>
          <p:nvPr/>
        </p:nvSpPr>
        <p:spPr>
          <a:xfrm>
            <a:off x="877824" y="4833747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tem"/>
          <p:cNvSpPr/>
          <p:nvPr/>
        </p:nvSpPr>
        <p:spPr>
          <a:xfrm>
            <a:off x="877824" y="4995824"/>
            <a:ext cx="4626864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the human factor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(300+ promos per month)</a:t>
            </a:r>
          </a:p>
        </p:txBody>
      </p:sp>
      <p:sp>
        <p:nvSpPr>
          <p:cNvPr id="18" name="Lab BG"/>
          <p:cNvSpPr/>
          <p:nvPr/>
        </p:nvSpPr>
        <p:spPr>
          <a:xfrm>
            <a:off x="6687007" y="1865376"/>
            <a:ext cx="1161288" cy="329184"/>
          </a:xfrm>
          <a:prstGeom prst="roundRect">
            <a:avLst>
              <a:gd name="adj" fmla="val 46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Lab"/>
          <p:cNvSpPr/>
          <p:nvPr/>
        </p:nvSpPr>
        <p:spPr>
          <a:xfrm>
            <a:off x="6687007" y="1865376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250" dirty="0"/>
          </a:p>
        </p:txBody>
      </p:sp>
      <p:sp>
        <p:nvSpPr>
          <p:cNvPr id="20" name="Item"/>
          <p:cNvSpPr/>
          <p:nvPr/>
        </p:nvSpPr>
        <p:spPr>
          <a:xfrm>
            <a:off x="6687007" y="2468880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to manage promo processes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single registry and all communication in one space → full transparency, instant synchronization and no loss of information)</a:t>
            </a:r>
          </a:p>
        </p:txBody>
      </p:sp>
      <p:sp>
        <p:nvSpPr>
          <p:cNvPr id="21" name="Div"/>
          <p:cNvSpPr/>
          <p:nvPr/>
        </p:nvSpPr>
        <p:spPr>
          <a:xfrm>
            <a:off x="6687007" y="3107131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tem"/>
          <p:cNvSpPr/>
          <p:nvPr/>
        </p:nvSpPr>
        <p:spPr>
          <a:xfrm>
            <a:off x="6687007" y="3238805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(Reports generated and sent in seconds → real-time analytics and fast decisions)</a:t>
            </a:r>
          </a:p>
        </p:txBody>
      </p:sp>
      <p:sp>
        <p:nvSpPr>
          <p:cNvPr id="23" name="Div"/>
          <p:cNvSpPr/>
          <p:nvPr/>
        </p:nvSpPr>
        <p:spPr>
          <a:xfrm>
            <a:off x="6687007" y="3877056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tem"/>
          <p:cNvSpPr/>
          <p:nvPr/>
        </p:nvSpPr>
        <p:spPr>
          <a:xfrm>
            <a:off x="6687007" y="4008730"/>
            <a:ext cx="4626864" cy="8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calculation and coding algorithms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system assigns the code itself, checking for duplicates and product availability in the distributor's warehouse, and calculates the compensation by reconciling it against partner requests)</a:t>
            </a:r>
          </a:p>
        </p:txBody>
      </p:sp>
      <p:sp>
        <p:nvSpPr>
          <p:cNvPr id="25" name="Div"/>
          <p:cNvSpPr/>
          <p:nvPr/>
        </p:nvSpPr>
        <p:spPr>
          <a:xfrm>
            <a:off x="6687007" y="4785970"/>
            <a:ext cx="4626864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tem"/>
          <p:cNvSpPr/>
          <p:nvPr/>
        </p:nvSpPr>
        <p:spPr>
          <a:xfrm>
            <a:off x="6687007" y="4917643"/>
            <a:ext cx="4626864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kern="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the human factor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en-US" sz="950" i="1" kern="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standardized and transparent process → predictable results and lower risks)</a:t>
            </a:r>
          </a:p>
        </p:txBody>
      </p:sp>
      <p:sp>
        <p:nvSpPr>
          <p:cNvPr id="27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Badge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29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0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business processes — in one system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is described in BPMN notation. The diagram shows which steps the system takes 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83738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3738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promo activity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from Trade marketing or On-trade → code assignment → record in Panorama → partner notification.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4794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7402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91605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91605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402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a promo activity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7402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quota or period, adding a product or outlet → edit in Panorama → synchronization and notification.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2661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75269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399471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99471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75269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 and calculation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75269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sends a «Request» → calculation ∑(liters × period price) → AI check → handover to Controlling.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0235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1F6FB"/>
          </a:solidFill>
          <a:ln w="12700">
            <a:solidFill>
              <a:srgbClr val="E3EEF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6112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39312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24248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4248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&amp; changes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67448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52383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4C8D"/>
          </a:solidFill>
          <a:ln w="12700">
            <a:solidFill>
              <a:srgbClr val="004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52383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grows faster than hands can keep up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three years the number of promo activities grew almost 5×, while the annual promo budget grew 2.4×. With an almost unchanged number of partners, volume is growing faster than manual processes can handle.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0125" y="2318004"/>
            <a:ext cx="5486400" cy="3584448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25877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activities by 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promos created per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3372" y="3380293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9092" y="3380293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</a:t>
            </a:r>
            <a:endParaRPr lang="en-US" sz="1000" dirty="0"/>
          </a:p>
        </p:txBody>
      </p:sp>
      <p:sp>
        <p:nvSpPr>
          <p:cNvPr id="60" name="Bar 2023"/>
          <p:cNvSpPr/>
          <p:nvPr/>
        </p:nvSpPr>
        <p:spPr>
          <a:xfrm>
            <a:off x="1119000" y="4906390"/>
            <a:ext cx="762000" cy="442850"/>
          </a:xfrm>
          <a:prstGeom prst="rect">
            <a:avLst/>
          </a:prstGeom>
          <a:solidFill>
            <a:srgbClr val="B7C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Val 2023"/>
          <p:cNvSpPr/>
          <p:nvPr/>
        </p:nvSpPr>
        <p:spPr>
          <a:xfrm>
            <a:off x="950000" y="4573598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2,084</a:t>
            </a:r>
            <a:endParaRPr lang="en-US" sz="1300" dirty="0"/>
          </a:p>
        </p:txBody>
      </p:sp>
      <p:sp>
        <p:nvSpPr>
          <p:cNvPr id="62" name="Yr 2023"/>
          <p:cNvSpPr/>
          <p:nvPr/>
        </p:nvSpPr>
        <p:spPr>
          <a:xfrm>
            <a:off x="95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9000" y="4884494"/>
            <a:ext cx="762000" cy="464746"/>
          </a:xfrm>
          <a:prstGeom prst="rect">
            <a:avLst/>
          </a:prstGeom>
          <a:solidFill>
            <a:srgbClr val="B7C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00000" y="4573598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2,187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0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9000" y="3205998"/>
            <a:ext cx="762000" cy="214884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3372" y="2843784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10,112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7769" y="5413248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91982" y="3618225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×4.6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4681728" y="4205960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00" y="4202461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+362%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64224" y="2546604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0256" y="2656332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253167" y="2656332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6 mo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0256" y="29123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35824" y="291236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38744" y="28757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545775" y="293065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45775" y="29306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64224" y="3717036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0256" y="3826764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SKU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253167" y="3826764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6 mo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0256" y="408279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35824" y="40827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38744" y="40462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545775" y="410108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45775" y="41010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64223" y="4887804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09348" y="4952558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TOTAL / YEAR · BLN ₸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245394" y="5035601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→ 2025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29400" y="5254643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754112" y="5226877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02753" y="5208589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2.41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0481766" y="5319957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513771" y="531874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+140%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larger the volume — the higher the automation</a:t>
            </a:r>
            <a:endParaRPr lang="en-US" sz="2900" dirty="0"/>
          </a:p>
        </p:txBody>
      </p:sp>
      <p:sp>
        <p:nvSpPr>
          <p:cNvPr id="5" name="Sub"/>
          <p:cNvSpPr/>
          <p:nvPr/>
        </p:nvSpPr>
        <p:spPr>
          <a:xfrm>
            <a:off x="566928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steps — notifications, calculations, Excel, AI checks, synchronization — take almost no time per new promo. Manual steps are fixed. So as volume grows, the share of automation rises toward the structural ceiling of 8 of 13 steps (≈ 62%).</a:t>
            </a:r>
            <a:endParaRPr lang="en-US" sz="1250" dirty="0"/>
          </a:p>
        </p:txBody>
      </p:sp>
      <p:sp>
        <p:nvSpPr>
          <p:cNvPr id="6" name="Auto Card"/>
          <p:cNvSpPr/>
          <p:nvPr/>
        </p:nvSpPr>
        <p:spPr>
          <a:xfrm>
            <a:off x="566928" y="2139696"/>
            <a:ext cx="5486400" cy="2139696"/>
          </a:xfrm>
          <a:prstGeom prst="roundRect">
            <a:avLst>
              <a:gd name="adj" fmla="val 4274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God Pill"/>
          <p:cNvSpPr/>
          <p:nvPr/>
        </p:nvSpPr>
        <p:spPr>
          <a:xfrm>
            <a:off x="877824" y="24140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od Lbl"/>
          <p:cNvSpPr/>
          <p:nvPr/>
        </p:nvSpPr>
        <p:spPr>
          <a:xfrm>
            <a:off x="877824" y="2404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9" name="Pct"/>
          <p:cNvSpPr/>
          <p:nvPr/>
        </p:nvSpPr>
        <p:spPr>
          <a:xfrm>
            <a:off x="4462272" y="23591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200" dirty="0"/>
          </a:p>
        </p:txBody>
      </p:sp>
      <p:sp>
        <p:nvSpPr>
          <p:cNvPr id="10" name="AutoLab"/>
          <p:cNvSpPr/>
          <p:nvPr/>
        </p:nvSpPr>
        <p:spPr>
          <a:xfrm>
            <a:off x="4462272" y="27432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50" dirty="0"/>
          </a:p>
        </p:txBody>
      </p:sp>
      <p:sp>
        <p:nvSpPr>
          <p:cNvPr id="11" name="Meter Track"/>
          <p:cNvSpPr/>
          <p:nvPr/>
        </p:nvSpPr>
        <p:spPr>
          <a:xfrm>
            <a:off x="877824" y="3218688"/>
            <a:ext cx="4864608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Meter Fill"/>
          <p:cNvSpPr/>
          <p:nvPr/>
        </p:nvSpPr>
        <p:spPr>
          <a:xfrm>
            <a:off x="877824" y="3218688"/>
            <a:ext cx="136209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Hrs"/>
          <p:cNvSpPr/>
          <p:nvPr/>
        </p:nvSpPr>
        <p:spPr>
          <a:xfrm>
            <a:off x="877824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158 h/mo  </a:t>
            </a:r>
            <a:endParaRPr lang="en-US" sz="1900" dirty="0"/>
          </a:p>
        </p:txBody>
      </p:sp>
      <p:sp>
        <p:nvSpPr>
          <p:cNvPr id="14" name="Desc"/>
          <p:cNvSpPr/>
          <p:nvPr/>
        </p:nvSpPr>
        <p:spPr>
          <a:xfrm>
            <a:off x="877824" y="3822192"/>
            <a:ext cx="4864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launch. A single source of data instead of scattered Excel files.</a:t>
            </a:r>
            <a:endParaRPr lang="en-US" sz="1100" dirty="0"/>
          </a:p>
        </p:txBody>
      </p:sp>
      <p:sp>
        <p:nvSpPr>
          <p:cNvPr id="15" name="Acc Card"/>
          <p:cNvSpPr/>
          <p:nvPr/>
        </p:nvSpPr>
        <p:spPr>
          <a:xfrm>
            <a:off x="6364224" y="2139696"/>
            <a:ext cx="5260543" cy="2139696"/>
          </a:xfrm>
          <a:prstGeom prst="roundRect">
            <a:avLst>
              <a:gd name="adj" fmla="val 4274"/>
            </a:avLst>
          </a:prstGeom>
          <a:gradFill rotWithShape="1">
            <a:gsLst>
              <a:gs pos="0">
                <a:srgbClr val="143A28"/>
              </a:gs>
              <a:gs pos="100000">
                <a:srgbClr val="0A1D14"/>
              </a:gs>
            </a:gsLst>
            <a:lin ang="5400000" scaled="0"/>
          </a:gradFill>
          <a:ln w="12700">
            <a:solidFill>
              <a:srgbClr val="2F7A50"/>
            </a:solidFill>
            <a:prstDash val="solid"/>
          </a:ln>
          <a:effectLst>
            <a:outerShdw blurRad="101600" dir="5400000" rotWithShape="0">
              <a:srgbClr val="2FB46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 Lbl"/>
          <p:cNvSpPr/>
          <p:nvPr/>
        </p:nvSpPr>
        <p:spPr>
          <a:xfrm>
            <a:off x="6364224" y="2706624"/>
            <a:ext cx="5260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effect  h/year</a:t>
            </a:r>
            <a:endParaRPr lang="en-US" sz="1100" dirty="0"/>
          </a:p>
        </p:txBody>
      </p:sp>
      <p:sp>
        <p:nvSpPr>
          <p:cNvPr id="17" name="Acc Val"/>
          <p:cNvSpPr/>
          <p:nvPr/>
        </p:nvSpPr>
        <p:spPr>
          <a:xfrm>
            <a:off x="6364224" y="3054096"/>
            <a:ext cx="526054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7,000 h</a:t>
            </a:r>
            <a:endParaRPr lang="en-US" sz="3800" dirty="0"/>
          </a:p>
        </p:txBody>
      </p:sp>
      <p:sp>
        <p:nvSpPr>
          <p:cNvPr id="18" name="Check Card"/>
          <p:cNvSpPr/>
          <p:nvPr/>
        </p:nvSpPr>
        <p:spPr>
          <a:xfrm>
            <a:off x="566928" y="4498848"/>
            <a:ext cx="11057839" cy="137160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Check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40580"/>
            <a:ext cx="173736" cy="173736"/>
          </a:xfrm>
          <a:prstGeom prst="rect">
            <a:avLst/>
          </a:prstGeom>
        </p:spPr>
      </p:pic>
      <p:sp>
        <p:nvSpPr>
          <p:cNvPr id="20" name="ChkT"/>
          <p:cNvSpPr/>
          <p:nvPr/>
        </p:nvSpPr>
        <p:spPr>
          <a:xfrm>
            <a:off x="1225296" y="45811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focused on analytics and generating new ideas instead of manual routine</a:t>
            </a:r>
            <a:endParaRPr lang="en-US" sz="1150" dirty="0"/>
          </a:p>
        </p:txBody>
      </p:sp>
      <p:pic>
        <p:nvPicPr>
          <p:cNvPr id="21" name="Check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097780"/>
            <a:ext cx="173736" cy="173736"/>
          </a:xfrm>
          <a:prstGeom prst="rect">
            <a:avLst/>
          </a:prstGeom>
        </p:spPr>
      </p:pic>
      <p:sp>
        <p:nvSpPr>
          <p:cNvPr id="22" name="ChkT"/>
          <p:cNvSpPr/>
          <p:nvPr/>
        </p:nvSpPr>
        <p:spPr>
          <a:xfrm>
            <a:off x="1225296" y="50383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tech-forward brand — strong PR and the ability to scale the system across all departments </a:t>
            </a:r>
            <a:endParaRPr lang="en-US" sz="1150" dirty="0"/>
          </a:p>
        </p:txBody>
      </p:sp>
      <p:pic>
        <p:nvPicPr>
          <p:cNvPr id="23" name="Check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554980"/>
            <a:ext cx="173736" cy="173736"/>
          </a:xfrm>
          <a:prstGeom prst="rect">
            <a:avLst/>
          </a:prstGeom>
        </p:spPr>
      </p:pic>
      <p:sp>
        <p:nvSpPr>
          <p:cNvPr id="24" name="ChkT"/>
          <p:cNvSpPr/>
          <p:nvPr/>
        </p:nvSpPr>
        <p:spPr>
          <a:xfrm>
            <a:off x="1225296" y="54955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over competitors in speed, accuracy and process scale</a:t>
            </a:r>
            <a:endParaRPr lang="en-US" sz="1150" dirty="0"/>
          </a:p>
        </p:txBody>
      </p:sp>
      <p:sp>
        <p:nvSpPr>
          <p:cNvPr id="25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Badge" descr="x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27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 Sq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Kicker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50" dirty="0"/>
          </a:p>
        </p:txBody>
      </p:sp>
      <p:sp>
        <p:nvSpPr>
          <p:cNvPr id="4" name="Title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— </a:t>
            </a:r>
            <a:r>
              <a:rPr lang="en-US" sz="2900" b="1" kern="0" dirty="0" err="1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r>
              <a:rPr lang="en-US" sz="290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90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other departments</a:t>
            </a:r>
            <a:endParaRPr lang="en-US" sz="2900" dirty="0"/>
          </a:p>
        </p:txBody>
      </p:sp>
      <p:sp>
        <p:nvSpPr>
          <p:cNvPr id="5" name="Sub"/>
          <p:cNvSpPr/>
          <p:nvPr/>
        </p:nvSpPr>
        <p:spPr>
          <a:xfrm>
            <a:off x="566928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department has already moved to new compensation rules: retro-discounts (RI/BO), one-time accruals (SS/OC), Efes Bonus Club loyalty programs (LP), Rozliv+ (EP) and Kega Boom (KB). Nexus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take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of</a:t>
            </a:r>
            <a:r>
              <a:rPr lang="ru-RU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1C invoices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partners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itself</a:t>
            </a:r>
            <a:r>
              <a:rPr lang="en-US" sz="125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Auto Card"/>
          <p:cNvSpPr/>
          <p:nvPr/>
        </p:nvSpPr>
        <p:spPr>
          <a:xfrm>
            <a:off x="566928" y="2139696"/>
            <a:ext cx="5486400" cy="2139696"/>
          </a:xfrm>
          <a:prstGeom prst="roundRect">
            <a:avLst>
              <a:gd name="adj" fmla="val 4274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God Pill"/>
          <p:cNvSpPr/>
          <p:nvPr/>
        </p:nvSpPr>
        <p:spPr>
          <a:xfrm>
            <a:off x="877824" y="241401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God Lbl"/>
          <p:cNvSpPr/>
          <p:nvPr/>
        </p:nvSpPr>
        <p:spPr>
          <a:xfrm>
            <a:off x="877824" y="2404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Nexus</a:t>
            </a:r>
            <a:endParaRPr lang="en-US" sz="1000" dirty="0"/>
          </a:p>
        </p:txBody>
      </p:sp>
      <p:sp>
        <p:nvSpPr>
          <p:cNvPr id="9" name="Pct"/>
          <p:cNvSpPr/>
          <p:nvPr/>
        </p:nvSpPr>
        <p:spPr>
          <a:xfrm>
            <a:off x="4462272" y="235915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kk-KZ" sz="22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r>
              <a:rPr lang="en-US" sz="2200" b="1" kern="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endParaRPr lang="en-US" sz="2200" dirty="0"/>
          </a:p>
        </p:txBody>
      </p:sp>
      <p:sp>
        <p:nvSpPr>
          <p:cNvPr id="10" name="AutoLab"/>
          <p:cNvSpPr/>
          <p:nvPr/>
        </p:nvSpPr>
        <p:spPr>
          <a:xfrm>
            <a:off x="2816352" y="27432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manual reconciliation per month per specialist</a:t>
            </a:r>
            <a:endParaRPr lang="en-US" sz="850" dirty="0"/>
          </a:p>
        </p:txBody>
      </p:sp>
      <p:sp>
        <p:nvSpPr>
          <p:cNvPr id="11" name="Meter Track"/>
          <p:cNvSpPr/>
          <p:nvPr/>
        </p:nvSpPr>
        <p:spPr>
          <a:xfrm>
            <a:off x="877824" y="3218688"/>
            <a:ext cx="4864608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Meter Fill"/>
          <p:cNvSpPr/>
          <p:nvPr/>
        </p:nvSpPr>
        <p:spPr>
          <a:xfrm>
            <a:off x="877824" y="3218688"/>
            <a:ext cx="1938528" cy="457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Hrs"/>
          <p:cNvSpPr/>
          <p:nvPr/>
        </p:nvSpPr>
        <p:spPr>
          <a:xfrm>
            <a:off x="877824" y="3364992"/>
            <a:ext cx="4864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</a:t>
            </a:r>
            <a:r>
              <a:rPr lang="kk-KZ" sz="1900" b="1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r>
              <a:rPr lang="en-US" sz="1900" b="1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working time</a:t>
            </a:r>
            <a:endParaRPr lang="en-US" sz="1900" dirty="0">
              <a:solidFill>
                <a:schemeClr val="accent6"/>
              </a:solidFill>
            </a:endParaRPr>
          </a:p>
        </p:txBody>
      </p:sp>
      <p:sp>
        <p:nvSpPr>
          <p:cNvPr id="14" name="Desc"/>
          <p:cNvSpPr/>
          <p:nvPr/>
        </p:nvSpPr>
        <p:spPr>
          <a:xfrm>
            <a:off x="877824" y="3776472"/>
            <a:ext cx="48646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partners × 10 min of reconciliation in 1C and Panorama + ~</a:t>
            </a:r>
            <a:r>
              <a:rPr lang="ru-RU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 of correspondence about </a:t>
            </a:r>
            <a:r>
              <a:rPr lang="en-US" sz="1100" kern="0" dirty="0" err="1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errors</a:t>
            </a:r>
            <a:r>
              <a:rPr lang="en-US" sz="11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Acc Card"/>
          <p:cNvSpPr/>
          <p:nvPr/>
        </p:nvSpPr>
        <p:spPr>
          <a:xfrm>
            <a:off x="6364224" y="2139696"/>
            <a:ext cx="5260543" cy="2139696"/>
          </a:xfrm>
          <a:prstGeom prst="roundRect">
            <a:avLst>
              <a:gd name="adj" fmla="val 4274"/>
            </a:avLst>
          </a:prstGeom>
          <a:gradFill rotWithShape="1">
            <a:gsLst>
              <a:gs pos="0">
                <a:srgbClr val="143A28"/>
              </a:gs>
              <a:gs pos="100000">
                <a:srgbClr val="0A1D14"/>
              </a:gs>
            </a:gsLst>
            <a:lin ang="5400000" scaled="0"/>
          </a:gradFill>
          <a:ln w="12700">
            <a:solidFill>
              <a:srgbClr val="2F7A50"/>
            </a:solidFill>
            <a:prstDash val="solid"/>
          </a:ln>
          <a:effectLst>
            <a:outerShdw blurRad="101600" dir="5400000" rotWithShape="0">
              <a:srgbClr val="2FB46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cc Lbl"/>
          <p:cNvSpPr/>
          <p:nvPr/>
        </p:nvSpPr>
        <p:spPr>
          <a:xfrm>
            <a:off x="6364224" y="2706624"/>
            <a:ext cx="5260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control across 10,000+ outlets</a:t>
            </a:r>
            <a:endParaRPr lang="en-US" sz="1100" dirty="0"/>
          </a:p>
        </p:txBody>
      </p:sp>
      <p:sp>
        <p:nvSpPr>
          <p:cNvPr id="17" name="Acc Val"/>
          <p:cNvSpPr/>
          <p:nvPr/>
        </p:nvSpPr>
        <p:spPr>
          <a:xfrm>
            <a:off x="6364224" y="3054096"/>
            <a:ext cx="526054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invoices</a:t>
            </a:r>
            <a:endParaRPr lang="en-US" sz="3800" dirty="0"/>
          </a:p>
        </p:txBody>
      </p:sp>
      <p:sp>
        <p:nvSpPr>
          <p:cNvPr id="29" name="Acc Sub"/>
          <p:cNvSpPr/>
          <p:nvPr/>
        </p:nvSpPr>
        <p:spPr>
          <a:xfrm>
            <a:off x="6510528" y="3776472"/>
            <a:ext cx="49679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00" kern="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sampling up to 10 outlets — higher integrity, and partners cannot manipulate the amounts</a:t>
            </a:r>
            <a:endParaRPr lang="en-US" sz="1000" dirty="0"/>
          </a:p>
        </p:txBody>
      </p:sp>
      <p:sp>
        <p:nvSpPr>
          <p:cNvPr id="18" name="Check Card"/>
          <p:cNvSpPr/>
          <p:nvPr/>
        </p:nvSpPr>
        <p:spPr>
          <a:xfrm>
            <a:off x="566928" y="4498848"/>
            <a:ext cx="11057839" cy="137160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Check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640580"/>
            <a:ext cx="173736" cy="173736"/>
          </a:xfrm>
          <a:prstGeom prst="rect">
            <a:avLst/>
          </a:prstGeom>
        </p:spPr>
      </p:pic>
      <p:sp>
        <p:nvSpPr>
          <p:cNvPr id="20" name="ChkT"/>
          <p:cNvSpPr/>
          <p:nvPr/>
        </p:nvSpPr>
        <p:spPr>
          <a:xfrm>
            <a:off x="1225296" y="45811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 of 1C exports from 33 partners: outlet codes, amounts, breakdown by discount type RI/BO · SS/OC · LP · EP · KB</a:t>
            </a:r>
            <a:endParaRPr lang="en-US" sz="1150" dirty="0"/>
          </a:p>
        </p:txBody>
      </p:sp>
      <p:pic>
        <p:nvPicPr>
          <p:cNvPr id="21" name="Check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097780"/>
            <a:ext cx="173736" cy="173736"/>
          </a:xfrm>
          <a:prstGeom prst="rect">
            <a:avLst/>
          </a:prstGeom>
        </p:spPr>
      </p:pic>
      <p:sp>
        <p:nvSpPr>
          <p:cNvPr id="22" name="ChkT"/>
          <p:cNvSpPr/>
          <p:nvPr/>
        </p:nvSpPr>
        <p:spPr>
          <a:xfrm>
            <a:off x="1225296" y="50383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detects an incorrect format (outlet code and name in one cell) on its own and requests a fix from the partner</a:t>
            </a:r>
            <a:endParaRPr lang="en-US" sz="1150" dirty="0"/>
          </a:p>
        </p:txBody>
      </p:sp>
      <p:pic>
        <p:nvPicPr>
          <p:cNvPr id="23" name="Check" descr="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54980"/>
            <a:ext cx="173736" cy="173736"/>
          </a:xfrm>
          <a:prstGeom prst="rect">
            <a:avLst/>
          </a:prstGeom>
        </p:spPr>
      </p:pic>
      <p:sp>
        <p:nvSpPr>
          <p:cNvPr id="24" name="ChkT"/>
          <p:cNvSpPr/>
          <p:nvPr/>
        </p:nvSpPr>
        <p:spPr>
          <a:xfrm>
            <a:off x="1225296" y="5495544"/>
            <a:ext cx="100519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≈ </a:t>
            </a:r>
            <a:r>
              <a:rPr lang="ru-RU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2,316</a:t>
            </a:r>
            <a:r>
              <a:rPr lang="en-US" sz="1150" b="1" kern="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h/year for a team of 5 specialists — no training in manual reconciliation or correspondence with partners</a:t>
            </a:r>
            <a:endParaRPr lang="en-US" sz="1150" dirty="0"/>
          </a:p>
        </p:txBody>
      </p:sp>
      <p:sp>
        <p:nvSpPr>
          <p:cNvPr id="25" name="Foot Line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Badge" descr="x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27" name="Foot L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Foot R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950</Words>
  <Application>Microsoft Office PowerPoint</Application>
  <PresentationFormat>Widescreen</PresentationFormat>
  <Paragraphs>202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business case</dc:title>
  <dc:subject>PptxGenJS Presentation</dc:subject>
  <dc:creator>Efes Kazakhstan</dc:creator>
  <cp:lastModifiedBy>Aset Seksenali</cp:lastModifiedBy>
  <cp:revision>5</cp:revision>
  <dcterms:created xsi:type="dcterms:W3CDTF">2026-05-31T08:54:41Z</dcterms:created>
  <dcterms:modified xsi:type="dcterms:W3CDTF">2026-06-12T13:52:26Z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6fda2e-cb39-40eb-9c23-082a57943f2a_Enabled">
    <vt:lpwstr>true</vt:lpwstr>
  </property>
  <property fmtid="{D5CDD505-2E9C-101B-9397-08002B2CF9AE}" pid="3" name="MSIP_Label_e86fda2e-cb39-40eb-9c23-082a57943f2a_SetDate">
    <vt:lpwstr>2026-06-03T05:47:32Z</vt:lpwstr>
  </property>
  <property fmtid="{D5CDD505-2E9C-101B-9397-08002B2CF9AE}" pid="4" name="MSIP_Label_e86fda2e-cb39-40eb-9c23-082a57943f2a_Method">
    <vt:lpwstr>Privileged</vt:lpwstr>
  </property>
  <property fmtid="{D5CDD505-2E9C-101B-9397-08002B2CF9AE}" pid="5" name="MSIP_Label_e86fda2e-cb39-40eb-9c23-082a57943f2a_Name">
    <vt:lpwstr>Публичные данные</vt:lpwstr>
  </property>
  <property fmtid="{D5CDD505-2E9C-101B-9397-08002B2CF9AE}" pid="6" name="MSIP_Label_e86fda2e-cb39-40eb-9c23-082a57943f2a_SiteId">
    <vt:lpwstr>e763b98e-4b7c-41f7-9105-0ab753568526</vt:lpwstr>
  </property>
  <property fmtid="{D5CDD505-2E9C-101B-9397-08002B2CF9AE}" pid="7" name="MSIP_Label_e86fda2e-cb39-40eb-9c23-082a57943f2a_ActionId">
    <vt:lpwstr>6609c51b-9195-442a-b398-3174045bb277</vt:lpwstr>
  </property>
  <property fmtid="{D5CDD505-2E9C-101B-9397-08002B2CF9AE}" pid="8" name="MSIP_Label_e86fda2e-cb39-40eb-9c23-082a57943f2a_ContentBits">
    <vt:lpwstr>0</vt:lpwstr>
  </property>
  <property fmtid="{D5CDD505-2E9C-101B-9397-08002B2CF9AE}" pid="9" name="MSIP_Label_e86fda2e-cb39-40eb-9c23-082a57943f2a_Tag">
    <vt:lpwstr>10, 0, 1, 1</vt:lpwstr>
  </property>
</Properties>
</file>