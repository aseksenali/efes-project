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67" r:id="rId15"/>
    <p:sldId id="259" r:id="rId6"/>
    <p:sldId id="266" r:id="rId14"/>
    <p:sldId id="257" r:id="rId4"/>
    <p:sldId id="261" r:id="rId5"/>
    <p:sldId id="264" r:id="rId7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5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microsoft.com/office/2007/relationships/media" Target="../media/media1.mp4"/><Relationship Id="rId6" Type="http://schemas.openxmlformats.org/officeDocument/2006/relationships/video" Target="../media/media1.mp4"/><Relationship Id="rId7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setseksenali/Downloads/efes/assets/efes-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20039"/>
            <a:ext cx="548640" cy="4424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80160" y="603504"/>
            <a:ext cx="0" cy="475488"/>
          </a:xfrm>
          <a:prstGeom prst="line">
            <a:avLst/>
          </a:prstGeom>
          <a:noFill/>
          <a:ln w="12700">
            <a:solidFill>
              <a:srgbClr val="334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426464" y="548640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 продаж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66928" y="2199132"/>
            <a:ext cx="155448" cy="29261"/>
          </a:xfrm>
          <a:prstGeom prst="rect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5528" y="2075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БИЗНЕС-КЕЙС · АВТОМАТИЗАЦИЯ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2395728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566928" y="34564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управления промо-активностями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66928" y="422452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платформа, которая заменяет ручную работу в Excel и Outlook сквозными цифровыми процессами, авто-уведомлениями и AI-проверкой запросов партнёров.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66928" y="5285232"/>
            <a:ext cx="1730045" cy="384048"/>
          </a:xfrm>
          <a:prstGeom prst="roundRect">
            <a:avLst>
              <a:gd name="adj" fmla="val 50000"/>
            </a:avLst>
          </a:prstGeom>
          <a:solidFill>
            <a:srgbClr val="13203A"/>
          </a:solidFill>
          <a:ln w="12700">
            <a:solidFill>
              <a:srgbClr val="2A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5449824"/>
            <a:ext cx="64008" cy="64008"/>
          </a:xfrm>
          <a:prstGeom prst="ellipse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5285232"/>
            <a:ext cx="14008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Промо-активности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61565" y="5285232"/>
            <a:ext cx="1814170" cy="384048"/>
          </a:xfrm>
          <a:prstGeom prst="roundRect">
            <a:avLst>
              <a:gd name="adj" fmla="val 50000"/>
            </a:avLst>
          </a:prstGeom>
          <a:solidFill>
            <a:srgbClr val="13203A"/>
          </a:solidFill>
          <a:ln w="12700">
            <a:solidFill>
              <a:srgbClr val="2A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626157" y="5449824"/>
            <a:ext cx="64008" cy="64008"/>
          </a:xfrm>
          <a:prstGeom prst="ellipse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54173" y="5285232"/>
            <a:ext cx="14849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бизнес-процесса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/Users/asetseksenali/Downloads/efes/assets/efes-badge.png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 · бизнес-кейс для руководителя продаж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4924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· КАК СЕЙЧАС — БЕЗ СИСТЕМЫ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 промо-активности — сегодня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316736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BPMN-диаграммы и ответственные роли — как процесс выглядит сегодня.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0704" y="1719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промо-активности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14323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14323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660627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60627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34947" y="2121408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TRADE-МАРКЕТИНГ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97203" y="2528316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Канал, партнёр, продукты,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квот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098216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409112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3409112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3555416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555416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829736" y="2121408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591992" y="2528316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Присвоение кода PR-#####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проверка на дубли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4993005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5303901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5303901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5450205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5450205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5724525" y="2121408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5486781" y="2528316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Составление Excel-файла промо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6887794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7198690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1"/>
          <p:cNvSpPr/>
          <p:nvPr/>
        </p:nvSpPr>
        <p:spPr>
          <a:xfrm>
            <a:off x="7198690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2"/>
          <p:cNvSpPr/>
          <p:nvPr/>
        </p:nvSpPr>
        <p:spPr>
          <a:xfrm>
            <a:off x="7344994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7344994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7619314" y="2121408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CRM-СПЕЦИАЛИСТ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7381570" y="2528316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промо-активности в Panorama</a:t>
            </a:r>
            <a:endParaRPr lang="en-US" sz="850" dirty="0"/>
          </a:p>
        </p:txBody>
      </p:sp>
      <p:sp>
        <p:nvSpPr>
          <p:cNvPr id="53" name="Text 48"/>
          <p:cNvSpPr/>
          <p:nvPr/>
        </p:nvSpPr>
        <p:spPr>
          <a:xfrm>
            <a:off x="8782583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4" name="Shape 49"/>
          <p:cNvSpPr/>
          <p:nvPr/>
        </p:nvSpPr>
        <p:spPr>
          <a:xfrm>
            <a:off x="9093479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0"/>
          <p:cNvSpPr/>
          <p:nvPr/>
        </p:nvSpPr>
        <p:spPr>
          <a:xfrm>
            <a:off x="9093479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1"/>
          <p:cNvSpPr/>
          <p:nvPr/>
        </p:nvSpPr>
        <p:spPr>
          <a:xfrm>
            <a:off x="9239783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2"/>
          <p:cNvSpPr/>
          <p:nvPr/>
        </p:nvSpPr>
        <p:spPr>
          <a:xfrm>
            <a:off x="9239783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58" name="Text 53"/>
          <p:cNvSpPr/>
          <p:nvPr/>
        </p:nvSpPr>
        <p:spPr>
          <a:xfrm>
            <a:off x="9514103" y="2121408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59" name="Text 54"/>
          <p:cNvSpPr/>
          <p:nvPr/>
        </p:nvSpPr>
        <p:spPr>
          <a:xfrm>
            <a:off x="9276359" y="2528316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Письмо партнёрам вручную</a:t>
            </a:r>
            <a:endParaRPr lang="en-US" sz="850" dirty="0"/>
          </a:p>
        </p:txBody>
      </p:sp>
      <p:sp>
        <p:nvSpPr>
          <p:cNvPr id="62" name="Shape 56"/>
          <p:cNvSpPr/>
          <p:nvPr/>
        </p:nvSpPr>
        <p:spPr>
          <a:xfrm>
            <a:off x="566928" y="3127248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7"/>
          <p:cNvSpPr/>
          <p:nvPr/>
        </p:nvSpPr>
        <p:spPr>
          <a:xfrm>
            <a:off x="566928" y="31272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64" name="Text 58"/>
          <p:cNvSpPr/>
          <p:nvPr/>
        </p:nvSpPr>
        <p:spPr>
          <a:xfrm>
            <a:off x="1060704" y="3108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промо-активности</a:t>
            </a:r>
            <a:endParaRPr lang="en-US" sz="1200" dirty="0"/>
          </a:p>
        </p:txBody>
      </p:sp>
      <p:sp>
        <p:nvSpPr>
          <p:cNvPr id="65" name="Shape 59"/>
          <p:cNvSpPr/>
          <p:nvPr/>
        </p:nvSpPr>
        <p:spPr>
          <a:xfrm>
            <a:off x="2461717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0"/>
          <p:cNvSpPr/>
          <p:nvPr/>
        </p:nvSpPr>
        <p:spPr>
          <a:xfrm>
            <a:off x="2461717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1"/>
          <p:cNvSpPr/>
          <p:nvPr/>
        </p:nvSpPr>
        <p:spPr>
          <a:xfrm>
            <a:off x="2608021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2"/>
          <p:cNvSpPr/>
          <p:nvPr/>
        </p:nvSpPr>
        <p:spPr>
          <a:xfrm>
            <a:off x="2608021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69" name="Text 63"/>
          <p:cNvSpPr/>
          <p:nvPr/>
        </p:nvSpPr>
        <p:spPr>
          <a:xfrm>
            <a:off x="2882341" y="3511296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/ ON-TRADE</a:t>
            </a:r>
            <a:endParaRPr lang="en-US" sz="850" dirty="0"/>
          </a:p>
        </p:txBody>
      </p:sp>
      <p:sp>
        <p:nvSpPr>
          <p:cNvPr id="70" name="Text 64"/>
          <p:cNvSpPr/>
          <p:nvPr/>
        </p:nvSpPr>
        <p:spPr>
          <a:xfrm>
            <a:off x="2644597" y="3918204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Запрос: квота, период или продукт</a:t>
            </a:r>
            <a:endParaRPr lang="en-US" sz="850" dirty="0"/>
          </a:p>
        </p:txBody>
      </p:sp>
      <p:sp>
        <p:nvSpPr>
          <p:cNvPr id="73" name="Text 67"/>
          <p:cNvSpPr/>
          <p:nvPr/>
        </p:nvSpPr>
        <p:spPr>
          <a:xfrm>
            <a:off x="404561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4" name="Shape 68"/>
          <p:cNvSpPr/>
          <p:nvPr/>
        </p:nvSpPr>
        <p:spPr>
          <a:xfrm>
            <a:off x="435650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Shape 69"/>
          <p:cNvSpPr/>
          <p:nvPr/>
        </p:nvSpPr>
        <p:spPr>
          <a:xfrm>
            <a:off x="4356506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0"/>
          <p:cNvSpPr/>
          <p:nvPr/>
        </p:nvSpPr>
        <p:spPr>
          <a:xfrm>
            <a:off x="4502810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1"/>
          <p:cNvSpPr/>
          <p:nvPr/>
        </p:nvSpPr>
        <p:spPr>
          <a:xfrm>
            <a:off x="450281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78" name="Text 72"/>
          <p:cNvSpPr/>
          <p:nvPr/>
        </p:nvSpPr>
        <p:spPr>
          <a:xfrm>
            <a:off x="4777130" y="3511296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79" name="Text 73"/>
          <p:cNvSpPr/>
          <p:nvPr/>
        </p:nvSpPr>
        <p:spPr>
          <a:xfrm>
            <a:off x="4539386" y="3918204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Excel-файла с изменениями</a:t>
            </a:r>
            <a:endParaRPr lang="en-US" sz="850" dirty="0"/>
          </a:p>
        </p:txBody>
      </p:sp>
      <p:sp>
        <p:nvSpPr>
          <p:cNvPr id="82" name="Text 75"/>
          <p:cNvSpPr/>
          <p:nvPr/>
        </p:nvSpPr>
        <p:spPr>
          <a:xfrm>
            <a:off x="594040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3" name="Shape 76"/>
          <p:cNvSpPr/>
          <p:nvPr/>
        </p:nvSpPr>
        <p:spPr>
          <a:xfrm>
            <a:off x="625129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77"/>
          <p:cNvSpPr/>
          <p:nvPr/>
        </p:nvSpPr>
        <p:spPr>
          <a:xfrm>
            <a:off x="6251296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78"/>
          <p:cNvSpPr/>
          <p:nvPr/>
        </p:nvSpPr>
        <p:spPr>
          <a:xfrm>
            <a:off x="6397600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79"/>
          <p:cNvSpPr/>
          <p:nvPr/>
        </p:nvSpPr>
        <p:spPr>
          <a:xfrm>
            <a:off x="639760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87" name="Text 80"/>
          <p:cNvSpPr/>
          <p:nvPr/>
        </p:nvSpPr>
        <p:spPr>
          <a:xfrm>
            <a:off x="6671920" y="3511296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CRM-СПЕЦИАЛИСТ</a:t>
            </a:r>
            <a:endParaRPr lang="en-US" sz="850" dirty="0"/>
          </a:p>
        </p:txBody>
      </p:sp>
      <p:sp>
        <p:nvSpPr>
          <p:cNvPr id="88" name="Text 81"/>
          <p:cNvSpPr/>
          <p:nvPr/>
        </p:nvSpPr>
        <p:spPr>
          <a:xfrm>
            <a:off x="6434176" y="3918204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Правка промо-активности в Panorama</a:t>
            </a:r>
            <a:endParaRPr lang="en-US" sz="850" dirty="0"/>
          </a:p>
        </p:txBody>
      </p:sp>
      <p:sp>
        <p:nvSpPr>
          <p:cNvPr id="91" name="Text 84"/>
          <p:cNvSpPr/>
          <p:nvPr/>
        </p:nvSpPr>
        <p:spPr>
          <a:xfrm>
            <a:off x="7835189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2" name="Shape 85"/>
          <p:cNvSpPr/>
          <p:nvPr/>
        </p:nvSpPr>
        <p:spPr>
          <a:xfrm>
            <a:off x="8146085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Shape 86"/>
          <p:cNvSpPr/>
          <p:nvPr/>
        </p:nvSpPr>
        <p:spPr>
          <a:xfrm>
            <a:off x="8146085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87"/>
          <p:cNvSpPr/>
          <p:nvPr/>
        </p:nvSpPr>
        <p:spPr>
          <a:xfrm>
            <a:off x="8292389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88"/>
          <p:cNvSpPr/>
          <p:nvPr/>
        </p:nvSpPr>
        <p:spPr>
          <a:xfrm>
            <a:off x="8292389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96" name="Text 89"/>
          <p:cNvSpPr/>
          <p:nvPr/>
        </p:nvSpPr>
        <p:spPr>
          <a:xfrm>
            <a:off x="8566709" y="3511296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97" name="Text 90"/>
          <p:cNvSpPr/>
          <p:nvPr/>
        </p:nvSpPr>
        <p:spPr>
          <a:xfrm>
            <a:off x="8328965" y="3918204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и уведомление партнёров</a:t>
            </a:r>
            <a:endParaRPr lang="en-US" sz="850" dirty="0"/>
          </a:p>
        </p:txBody>
      </p:sp>
      <p:sp>
        <p:nvSpPr>
          <p:cNvPr id="100" name="Shape 92"/>
          <p:cNvSpPr/>
          <p:nvPr/>
        </p:nvSpPr>
        <p:spPr>
          <a:xfrm>
            <a:off x="566928" y="4517136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3"/>
          <p:cNvSpPr/>
          <p:nvPr/>
        </p:nvSpPr>
        <p:spPr>
          <a:xfrm>
            <a:off x="566928" y="451713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02" name="Text 94"/>
          <p:cNvSpPr/>
          <p:nvPr/>
        </p:nvSpPr>
        <p:spPr>
          <a:xfrm>
            <a:off x="1060704" y="4498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месяца и расчёт</a:t>
            </a:r>
            <a:endParaRPr lang="en-US" sz="1200" dirty="0"/>
          </a:p>
        </p:txBody>
      </p:sp>
      <p:sp>
        <p:nvSpPr>
          <p:cNvPr id="103" name="Shape 95"/>
          <p:cNvSpPr/>
          <p:nvPr/>
        </p:nvSpPr>
        <p:spPr>
          <a:xfrm>
            <a:off x="3409112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Shape 96"/>
          <p:cNvSpPr/>
          <p:nvPr/>
        </p:nvSpPr>
        <p:spPr>
          <a:xfrm>
            <a:off x="3409112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97"/>
          <p:cNvSpPr/>
          <p:nvPr/>
        </p:nvSpPr>
        <p:spPr>
          <a:xfrm>
            <a:off x="3555416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98"/>
          <p:cNvSpPr/>
          <p:nvPr/>
        </p:nvSpPr>
        <p:spPr>
          <a:xfrm>
            <a:off x="3555416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07" name="Text 99"/>
          <p:cNvSpPr/>
          <p:nvPr/>
        </p:nvSpPr>
        <p:spPr>
          <a:xfrm>
            <a:off x="3829736" y="4901184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</a:t>
            </a:r>
            <a:endParaRPr lang="en-US" sz="850" dirty="0"/>
          </a:p>
        </p:txBody>
      </p:sp>
      <p:sp>
        <p:nvSpPr>
          <p:cNvPr id="108" name="Text 100"/>
          <p:cNvSpPr/>
          <p:nvPr/>
        </p:nvSpPr>
        <p:spPr>
          <a:xfrm>
            <a:off x="3591992" y="5308092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«Запрос»: проданные литры по промо</a:t>
            </a:r>
            <a:endParaRPr lang="en-US" sz="850" dirty="0"/>
          </a:p>
        </p:txBody>
      </p:sp>
      <p:sp>
        <p:nvSpPr>
          <p:cNvPr id="111" name="Text 103"/>
          <p:cNvSpPr/>
          <p:nvPr/>
        </p:nvSpPr>
        <p:spPr>
          <a:xfrm>
            <a:off x="4993005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2" name="Shape 104"/>
          <p:cNvSpPr/>
          <p:nvPr/>
        </p:nvSpPr>
        <p:spPr>
          <a:xfrm>
            <a:off x="5303901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3" name="Shape 105"/>
          <p:cNvSpPr/>
          <p:nvPr/>
        </p:nvSpPr>
        <p:spPr>
          <a:xfrm>
            <a:off x="5303901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06"/>
          <p:cNvSpPr/>
          <p:nvPr/>
        </p:nvSpPr>
        <p:spPr>
          <a:xfrm>
            <a:off x="5450205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07"/>
          <p:cNvSpPr/>
          <p:nvPr/>
        </p:nvSpPr>
        <p:spPr>
          <a:xfrm>
            <a:off x="5450205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16" name="Text 108"/>
          <p:cNvSpPr/>
          <p:nvPr/>
        </p:nvSpPr>
        <p:spPr>
          <a:xfrm>
            <a:off x="5724525" y="4901184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117" name="Text 109"/>
          <p:cNvSpPr/>
          <p:nvPr/>
        </p:nvSpPr>
        <p:spPr>
          <a:xfrm>
            <a:off x="5486781" y="5308092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∑(литры × цена периода)</a:t>
            </a:r>
            <a:endParaRPr lang="en-US" sz="850" dirty="0"/>
          </a:p>
        </p:txBody>
      </p:sp>
      <p:sp>
        <p:nvSpPr>
          <p:cNvPr id="120" name="Text 111"/>
          <p:cNvSpPr/>
          <p:nvPr/>
        </p:nvSpPr>
        <p:spPr>
          <a:xfrm>
            <a:off x="6887794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1" name="Shape 112"/>
          <p:cNvSpPr/>
          <p:nvPr/>
        </p:nvSpPr>
        <p:spPr>
          <a:xfrm>
            <a:off x="7198690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2" name="Shape 113"/>
          <p:cNvSpPr/>
          <p:nvPr/>
        </p:nvSpPr>
        <p:spPr>
          <a:xfrm>
            <a:off x="7198690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14"/>
          <p:cNvSpPr/>
          <p:nvPr/>
        </p:nvSpPr>
        <p:spPr>
          <a:xfrm>
            <a:off x="7344994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15"/>
          <p:cNvSpPr/>
          <p:nvPr/>
        </p:nvSpPr>
        <p:spPr>
          <a:xfrm>
            <a:off x="7344994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125" name="Text 116"/>
          <p:cNvSpPr/>
          <p:nvPr/>
        </p:nvSpPr>
        <p:spPr>
          <a:xfrm>
            <a:off x="7619314" y="4901184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126" name="Text 117"/>
          <p:cNvSpPr/>
          <p:nvPr/>
        </p:nvSpPr>
        <p:spPr>
          <a:xfrm>
            <a:off x="7373446" y="5308092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Верификация «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r>
              <a:rPr lang="ru-RU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</a:t>
            </a: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и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отчета</a:t>
            </a:r>
          </a:p>
          <a:p>
            <a:pPr marL="0" indent="0">
              <a:lnSpc>
                <a:spcPct val="102000"/>
              </a:lnSpc>
              <a:buNone/>
            </a:pPr>
            <a:endParaRPr lang="en-US" sz="850" dirty="0"/>
          </a:p>
        </p:txBody>
      </p:sp>
      <p:sp>
        <p:nvSpPr>
          <p:cNvPr id="135" name="Shape 125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6" name="Image 8" descr="/Users/asetseksenali/Downloads/efes/assets/efes-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137" name="Text 126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38" name="Text 127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 · BPMN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Sq"/>
          <p:cNvSpPr/>
          <p:nvPr/>
        </p:nvSpPr>
        <p:spPr>
          <a:xfrm>
            <a:off x="566928" y="589788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Kicker"/>
          <p:cNvSpPr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ОХВАТ</a:t>
            </a:r>
            <a:endParaRPr lang="en-US" sz="1050" dirty="0"/>
          </a:p>
        </p:txBody>
      </p:sp>
      <p:sp>
        <p:nvSpPr>
          <p:cNvPr id="4" name="Title"/>
          <p:cNvSpPr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 системы – N+1, N+KZT</a:t>
            </a:r>
            <a:endParaRPr lang="en-US" sz="2900" dirty="0"/>
          </a:p>
        </p:txBody>
      </p:sp>
      <p:sp>
        <p:nvSpPr>
          <p:cNvPr id="5" name="Card Before"/>
          <p:cNvSpPr/>
          <p:nvPr/>
        </p:nvSpPr>
        <p:spPr>
          <a:xfrm>
            <a:off x="566928" y="1572768"/>
            <a:ext cx="5248656" cy="4315968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Card After"/>
          <p:cNvSpPr/>
          <p:nvPr/>
        </p:nvSpPr>
        <p:spPr>
          <a:xfrm>
            <a:off x="6376111" y="1572768"/>
            <a:ext cx="5248656" cy="4315968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Arrow Circle"/>
          <p:cNvSpPr/>
          <p:nvPr/>
        </p:nvSpPr>
        <p:spPr>
          <a:xfrm>
            <a:off x="5839816" y="3474720"/>
            <a:ext cx="512064" cy="512064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Arrow"/>
          <p:cNvSpPr/>
          <p:nvPr/>
        </p:nvSpPr>
        <p:spPr>
          <a:xfrm>
            <a:off x="5839816" y="3456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100" dirty="0"/>
          </a:p>
        </p:txBody>
      </p:sp>
      <p:sp>
        <p:nvSpPr>
          <p:cNvPr id="9" name="Lab BG"/>
          <p:cNvSpPr/>
          <p:nvPr/>
        </p:nvSpPr>
        <p:spPr>
          <a:xfrm>
            <a:off x="877824" y="1865376"/>
            <a:ext cx="1083564" cy="329184"/>
          </a:xfrm>
          <a:prstGeom prst="roundRect">
            <a:avLst>
              <a:gd name="adj" fmla="val 46000"/>
            </a:avLst>
          </a:prstGeom>
          <a:solidFill>
            <a:srgbClr val="FBE9E7"/>
          </a:solidFill>
          <a:ln w="12700">
            <a:solidFill>
              <a:srgbClr val="F0C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ab"/>
          <p:cNvSpPr/>
          <p:nvPr/>
        </p:nvSpPr>
        <p:spPr>
          <a:xfrm>
            <a:off x="877824" y="1865376"/>
            <a:ext cx="1083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dirty="0">
                <a:solidFill>
                  <a:srgbClr val="C3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было:</a:t>
            </a:r>
            <a:endParaRPr lang="en-US" sz="1250" dirty="0"/>
          </a:p>
        </p:txBody>
      </p:sp>
      <p:sp>
        <p:nvSpPr>
          <p:cNvPr id="11" name="Item"/>
          <p:cNvSpPr/>
          <p:nvPr/>
        </p:nvSpPr>
        <p:spPr>
          <a:xfrm>
            <a:off x="877824" y="2468880"/>
            <a:ext cx="4626864" cy="87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Разрозненные Excel-файлы и коммуникация через почту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(Отсутствие единого источника данных и ведение коммуникации в письмах → Специалист трейд маркетинга – SSC специалист – CRM специалист - SSC специалист – Партнеры)</a:t>
            </a:r>
          </a:p>
        </p:txBody>
      </p:sp>
      <p:sp>
        <p:nvSpPr>
          <p:cNvPr id="12" name="Div"/>
          <p:cNvSpPr/>
          <p:nvPr/>
        </p:nvSpPr>
        <p:spPr>
          <a:xfrm>
            <a:off x="877824" y="3276524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Item"/>
          <p:cNvSpPr/>
          <p:nvPr/>
        </p:nvSpPr>
        <p:spPr>
          <a:xfrm>
            <a:off x="877824" y="3438601"/>
            <a:ext cx="4626864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Отчеты Promo Status создаются вручную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(Существенные временные затраты сотрудника)</a:t>
            </a:r>
          </a:p>
        </p:txBody>
      </p:sp>
      <p:sp>
        <p:nvSpPr>
          <p:cNvPr id="14" name="Div"/>
          <p:cNvSpPr/>
          <p:nvPr/>
        </p:nvSpPr>
        <p:spPr>
          <a:xfrm>
            <a:off x="877824" y="3968267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Item"/>
          <p:cNvSpPr/>
          <p:nvPr/>
        </p:nvSpPr>
        <p:spPr>
          <a:xfrm>
            <a:off x="877824" y="4130345"/>
            <a:ext cx="4626864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Присвоение кодов, расчет компенсаций и верификация большого объема запросов в неавтоматизированном процессе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(Риск дублей, переплат и искажений в отчётах)</a:t>
            </a:r>
          </a:p>
        </p:txBody>
      </p:sp>
      <p:sp>
        <p:nvSpPr>
          <p:cNvPr id="16" name="Div"/>
          <p:cNvSpPr/>
          <p:nvPr/>
        </p:nvSpPr>
        <p:spPr>
          <a:xfrm>
            <a:off x="877824" y="4833747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Item"/>
          <p:cNvSpPr/>
          <p:nvPr/>
        </p:nvSpPr>
        <p:spPr>
          <a:xfrm>
            <a:off x="877824" y="4995824"/>
            <a:ext cx="4626864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 от человеческого фактора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(300+ промо в месяц)</a:t>
            </a:r>
          </a:p>
        </p:txBody>
      </p:sp>
      <p:sp>
        <p:nvSpPr>
          <p:cNvPr id="18" name="Lab BG"/>
          <p:cNvSpPr/>
          <p:nvPr/>
        </p:nvSpPr>
        <p:spPr>
          <a:xfrm>
            <a:off x="6687007" y="1865376"/>
            <a:ext cx="1161288" cy="329184"/>
          </a:xfrm>
          <a:prstGeom prst="roundRect">
            <a:avLst>
              <a:gd name="adj" fmla="val 46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Lab"/>
          <p:cNvSpPr/>
          <p:nvPr/>
        </p:nvSpPr>
        <p:spPr>
          <a:xfrm>
            <a:off x="6687007" y="1865376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будет:</a:t>
            </a:r>
            <a:endParaRPr lang="en-US" sz="1250" dirty="0"/>
          </a:p>
        </p:txBody>
      </p:sp>
      <p:sp>
        <p:nvSpPr>
          <p:cNvPr id="20" name="Item"/>
          <p:cNvSpPr/>
          <p:nvPr/>
        </p:nvSpPr>
        <p:spPr>
          <a:xfrm>
            <a:off x="6687007" y="2468880"/>
            <a:ext cx="4626864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система управления промо-процессами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(Единый реестр и вся коммуникация в одном пространстве → полная прозрачность, мгновенная синхронизация и отсутствие потерь информации)</a:t>
            </a:r>
          </a:p>
        </p:txBody>
      </p:sp>
      <p:sp>
        <p:nvSpPr>
          <p:cNvPr id="21" name="Div"/>
          <p:cNvSpPr/>
          <p:nvPr/>
        </p:nvSpPr>
        <p:spPr>
          <a:xfrm>
            <a:off x="6687007" y="3107131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Item"/>
          <p:cNvSpPr/>
          <p:nvPr/>
        </p:nvSpPr>
        <p:spPr>
          <a:xfrm>
            <a:off x="6687007" y="3238805"/>
            <a:ext cx="4626864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Автоматизированная отчётность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(Формирование и отправка отчетов за секунды → оперативная аналитика и быстрые решения)</a:t>
            </a:r>
          </a:p>
        </p:txBody>
      </p:sp>
      <p:sp>
        <p:nvSpPr>
          <p:cNvPr id="23" name="Div"/>
          <p:cNvSpPr/>
          <p:nvPr/>
        </p:nvSpPr>
        <p:spPr>
          <a:xfrm>
            <a:off x="6687007" y="3877056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Item"/>
          <p:cNvSpPr/>
          <p:nvPr/>
        </p:nvSpPr>
        <p:spPr>
          <a:xfrm>
            <a:off x="6687007" y="4008730"/>
            <a:ext cx="4626864" cy="87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Умные алгоритмы расчётов и кодирования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(Система сама присваивает код, проверяя при этом дубли, наличие продукта на складе дистрибьютора и осуществляет расчет компенсации, сверяя с запросами партнеров)</a:t>
            </a:r>
          </a:p>
        </p:txBody>
      </p:sp>
      <p:sp>
        <p:nvSpPr>
          <p:cNvPr id="25" name="Div"/>
          <p:cNvSpPr/>
          <p:nvPr/>
        </p:nvSpPr>
        <p:spPr>
          <a:xfrm>
            <a:off x="6687007" y="4785970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Item"/>
          <p:cNvSpPr/>
          <p:nvPr/>
        </p:nvSpPr>
        <p:spPr>
          <a:xfrm>
            <a:off x="6687007" y="4917643"/>
            <a:ext cx="4626864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Минимизация человеческого фактора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(Стандартизированный и прозрачный процесс → предсказуемый результат и снижение рисков)</a:t>
            </a:r>
          </a:p>
        </p:txBody>
      </p:sp>
      <p:sp>
        <p:nvSpPr>
          <p:cNvPr id="27" name="Foot Line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Badge" descr="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29" name="Foot L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30" name="Foot R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1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0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  <p:sp>
        <p:nvSpPr>
          <p:cNvPr id="37" name="Rectangle 36"/>
          <p:cNvSpPr/>
          <p:nvPr/>
        </p:nvSpPr>
        <p:spPr>
          <a:xfrm>
            <a:off x="566928" y="589788"/>
            <a:ext cx="155448" cy="29260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 i="0" spc="200">
                <a:solidFill>
                  <a:srgbClr val="1166A8"/>
                </a:solidFill>
                <a:latin typeface="Calibri"/>
              </a:rPr>
              <a:t>СИСТЕМА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900" b="1" i="0">
                <a:solidFill>
                  <a:srgbClr val="0C1726"/>
                </a:solidFill>
                <a:latin typeface="Calibri"/>
              </a:rPr>
              <a:t>Промо-дашборд</a:t>
            </a:r>
          </a:p>
        </p:txBody>
      </p:sp>
      <p:pic>
        <p:nvPicPr>
          <p:cNvPr id="40" name="Picture 39" descr="quo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1554480"/>
            <a:ext cx="219456" cy="21945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32688" y="1481328"/>
            <a:ext cx="10600639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1">
                <a:solidFill>
                  <a:srgbClr val="13203A"/>
                </a:solidFill>
                <a:latin typeface="Calibri"/>
              </a:rPr>
              <a:t>«Единое окно для всего жизненного цикла промо-активности — от заявки партнёра до расчёта компенсации.»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05729" y="2157984"/>
            <a:ext cx="6780236" cy="4059935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demo-video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815457" y="2267712"/>
            <a:ext cx="6560780" cy="349300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815457" y="5833872"/>
            <a:ext cx="6560780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56616F"/>
                </a:solidFill>
                <a:latin typeface="Calibri"/>
              </a:rPr>
              <a:t>Живая запись работы платформы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1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0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  <p:sp>
        <p:nvSpPr>
          <p:cNvPr id="57" name="Rectangle 56"/>
          <p:cNvSpPr/>
          <p:nvPr/>
        </p:nvSpPr>
        <p:spPr>
          <a:xfrm>
            <a:off x="566928" y="589788"/>
            <a:ext cx="155448" cy="29260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 i="0" spc="200">
                <a:solidFill>
                  <a:srgbClr val="1166A8"/>
                </a:solidFill>
                <a:latin typeface="Calibri"/>
              </a:rPr>
              <a:t>РЕЗУЛЬТАТ В ЦИФРАХ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900" b="1" i="0">
                <a:solidFill>
                  <a:srgbClr val="0C1726"/>
                </a:solidFill>
                <a:latin typeface="Calibri"/>
              </a:rPr>
              <a:t>Главный эффект — возвращённое время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1426464"/>
            <a:ext cx="1088136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6616F"/>
                </a:solidFill>
                <a:latin typeface="Calibri"/>
              </a:rPr>
              <a:t>Объём промо вырос почти в 5 раз при той же команде. Платформа возвращает специалистам рабочее время, забирая рутину на себя.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2121408"/>
            <a:ext cx="2627299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6928" y="2139696"/>
            <a:ext cx="45720" cy="1261872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7" y="2258568"/>
            <a:ext cx="2170099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 spc="80">
                <a:solidFill>
                  <a:srgbClr val="56616F"/>
                </a:solidFill>
                <a:latin typeface="Calibri"/>
              </a:rPr>
              <a:t>ПРОМО-АКТИВНОСТИ / ГОД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7" y="2523744"/>
            <a:ext cx="2170099" cy="4206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300" b="1" i="0">
                <a:solidFill>
                  <a:srgbClr val="004C8D"/>
                </a:solidFill>
                <a:latin typeface="Calibri"/>
              </a:rPr>
              <a:t>×4,6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7" y="3008376"/>
            <a:ext cx="2170099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6E7885"/>
                </a:solidFill>
                <a:latin typeface="Calibri"/>
              </a:rPr>
              <a:t>2 187 → 10 112  </a:t>
            </a:r>
            <a:r>
              <a:rPr sz="950" b="1" i="0">
                <a:solidFill>
                  <a:srgbClr val="15924F"/>
                </a:solidFill>
                <a:latin typeface="Calibri"/>
              </a:rPr>
              <a:t>+362 %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377107" y="2121408"/>
            <a:ext cx="2627299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377107" y="2139696"/>
            <a:ext cx="45720" cy="1261872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1427" y="2258568"/>
            <a:ext cx="2170099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 spc="80">
                <a:solidFill>
                  <a:srgbClr val="56616F"/>
                </a:solidFill>
                <a:latin typeface="Calibri"/>
              </a:rPr>
              <a:t>ПАРТНЁРЫ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1427" y="2523744"/>
            <a:ext cx="2170099" cy="4206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300" b="1" i="0">
                <a:solidFill>
                  <a:srgbClr val="004C8D"/>
                </a:solidFill>
                <a:latin typeface="Calibri"/>
              </a:rPr>
              <a:t>33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1427" y="3008376"/>
            <a:ext cx="2170099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6E7885"/>
                </a:solidFill>
                <a:latin typeface="Calibri"/>
              </a:rPr>
              <a:t>31 → 33 · за 6 мес  </a:t>
            </a:r>
            <a:r>
              <a:rPr sz="950" b="1" i="0">
                <a:solidFill>
                  <a:srgbClr val="15924F"/>
                </a:solidFill>
                <a:latin typeface="Calibri"/>
              </a:rPr>
              <a:t>+6,5 %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187287" y="2121408"/>
            <a:ext cx="2627299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87287" y="2139696"/>
            <a:ext cx="45720" cy="1261872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61607" y="2258568"/>
            <a:ext cx="2170099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 spc="80">
                <a:solidFill>
                  <a:srgbClr val="56616F"/>
                </a:solidFill>
                <a:latin typeface="Calibri"/>
              </a:rPr>
              <a:t>ПРОДУКТЫ · SKU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61607" y="2523744"/>
            <a:ext cx="2170099" cy="4206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300" b="1" i="0">
                <a:solidFill>
                  <a:srgbClr val="004C8D"/>
                </a:solidFill>
                <a:latin typeface="Calibri"/>
              </a:rPr>
              <a:t>105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61607" y="3008376"/>
            <a:ext cx="2170099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6E7885"/>
                </a:solidFill>
                <a:latin typeface="Calibri"/>
              </a:rPr>
              <a:t>78 → 105 · за 6 мес  </a:t>
            </a:r>
            <a:r>
              <a:rPr sz="950" b="1" i="0">
                <a:solidFill>
                  <a:srgbClr val="15924F"/>
                </a:solidFill>
                <a:latin typeface="Calibri"/>
              </a:rPr>
              <a:t>+35 %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997467" y="2121408"/>
            <a:ext cx="2627299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997467" y="2139696"/>
            <a:ext cx="45720" cy="1261872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71787" y="2258568"/>
            <a:ext cx="2170099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 spc="80">
                <a:solidFill>
                  <a:srgbClr val="56616F"/>
                </a:solidFill>
                <a:latin typeface="Calibri"/>
              </a:rPr>
              <a:t>СУММА ПРОМО / ГОД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71787" y="2523744"/>
            <a:ext cx="2170099" cy="4206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300" b="1" i="0">
                <a:solidFill>
                  <a:srgbClr val="004C8D"/>
                </a:solidFill>
                <a:latin typeface="Calibri"/>
              </a:rPr>
              <a:t>2,41 млрд 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71787" y="3008376"/>
            <a:ext cx="2170099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6E7885"/>
                </a:solidFill>
                <a:latin typeface="Calibri"/>
              </a:rPr>
              <a:t>1,00 → 2,41 · 2023–2025  </a:t>
            </a:r>
            <a:r>
              <a:rPr sz="950" b="1" i="0">
                <a:solidFill>
                  <a:srgbClr val="15924F"/>
                </a:solidFill>
                <a:latin typeface="Calibri"/>
              </a:rPr>
              <a:t>+140 %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66928" y="3657600"/>
            <a:ext cx="11057839" cy="2249424"/>
          </a:xfrm>
          <a:prstGeom prst="roundRect">
            <a:avLst>
              <a:gd name="adj" fmla="val 3658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85216" y="3657600"/>
            <a:ext cx="11021263" cy="45720"/>
          </a:xfrm>
          <a:prstGeom prst="rect">
            <a:avLst/>
          </a:prstGeom>
          <a:solidFill>
            <a:srgbClr val="159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1133856" y="4311396"/>
            <a:ext cx="749808" cy="749808"/>
          </a:xfrm>
          <a:prstGeom prst="roundRect">
            <a:avLst>
              <a:gd name="adj" fmla="val 26829"/>
            </a:avLst>
          </a:prstGeom>
          <a:solidFill>
            <a:srgbClr val="E7F5EC"/>
          </a:solidFill>
          <a:ln w="12700">
            <a:solidFill>
              <a:srgbClr val="BBE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clock_dk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736" y="4494276"/>
            <a:ext cx="384048" cy="38404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2157984" y="4160520"/>
            <a:ext cx="4297680" cy="10515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6200" b="1" i="0">
                <a:solidFill>
                  <a:srgbClr val="15924F"/>
                </a:solidFill>
                <a:latin typeface="Calibri"/>
              </a:rPr>
              <a:t>158 ч/мес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94560" y="5230368"/>
            <a:ext cx="429768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50" b="0" i="0">
                <a:solidFill>
                  <a:srgbClr val="56616F"/>
                </a:solidFill>
                <a:latin typeface="Calibri"/>
              </a:rPr>
              <a:t>возвращённого рабочего времени · Год 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20256" y="4096512"/>
            <a:ext cx="12801" cy="1371600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077456" y="4087368"/>
            <a:ext cx="2212848" cy="36576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077456" y="4087368"/>
            <a:ext cx="2212848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50" b="1" i="0">
                <a:solidFill>
                  <a:srgbClr val="15924F"/>
                </a:solidFill>
                <a:latin typeface="Calibri"/>
              </a:rPr>
              <a:t>28 % рутины — у системы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77456" y="4617720"/>
            <a:ext cx="4044391" cy="8595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16F"/>
                </a:solidFill>
                <a:latin typeface="Calibri"/>
              </a:rPr>
              <a:t>Платформа сама переносит данные между Excel, Panorama и письмами партнёрам. Это время специалисты возвращают в работу с партнёрами и в контроль расчётов.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ot Line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Badge" descr="x"/>
          <p:cNvPicPr>
            <a:picLocks noChangeAspect="1"/>
          </p:cNvPicPr>
          <p:nvPr/>
        </p:nvPicPr>
        <p:blipFill>
          <a:blip r:embed="rId5">
            <a:alphaModFix amt="65000"/>
          </a:blip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27" name="Foot L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28" name="Foot R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  <p:sp>
        <p:nvSpPr>
          <p:cNvPr id="29" name="Rectangle 28"/>
          <p:cNvSpPr/>
          <p:nvPr/>
        </p:nvSpPr>
        <p:spPr>
          <a:xfrm>
            <a:off x="566928" y="589788"/>
            <a:ext cx="155448" cy="29260"/>
          </a:xfrm>
          <a:prstGeom prst="rect">
            <a:avLst/>
          </a:prstGeom>
          <a:solidFill>
            <a:srgbClr val="5CA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 i="0" spc="200">
                <a:solidFill>
                  <a:srgbClr val="9CC6E8"/>
                </a:solidFill>
                <a:latin typeface="Calibri"/>
              </a:rPr>
              <a:t>РАЗВИТИЕ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900" b="1" i="0">
                <a:solidFill>
                  <a:srgbClr val="EEF2F7"/>
                </a:solidFill>
                <a:latin typeface="Calibri"/>
              </a:rPr>
              <a:t>Возможности дальнейшего развития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1426464"/>
            <a:ext cx="1088136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AA9BF"/>
                </a:solidFill>
                <a:latin typeface="Calibri"/>
              </a:rPr>
              <a:t>Платформа уже в работе — следующие шаги расширяют её возможности: от AI-поиска по истории акций до проверки накладных 1С и новых типов расчётов.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2212848"/>
            <a:ext cx="2572435" cy="3310128"/>
          </a:xfrm>
          <a:prstGeom prst="roundRect">
            <a:avLst>
              <a:gd name="adj" fmla="val 3199"/>
            </a:avLst>
          </a:prstGeom>
          <a:solidFill>
            <a:srgbClr val="16223B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0" y="2487168"/>
            <a:ext cx="530352" cy="530352"/>
          </a:xfrm>
          <a:prstGeom prst="roundRect">
            <a:avLst>
              <a:gd name="adj" fmla="val 27000"/>
            </a:avLst>
          </a:prstGeom>
          <a:solidFill>
            <a:srgbClr val="14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244" y="2614452"/>
            <a:ext cx="275783" cy="27578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2960" y="3145536"/>
            <a:ext cx="2060371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EEF2F7"/>
                </a:solidFill>
                <a:latin typeface="Calibri"/>
              </a:rPr>
              <a:t>AI Search &amp; Knowledge 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3840480"/>
            <a:ext cx="2060371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AA9BF"/>
                </a:solidFill>
                <a:latin typeface="Calibri"/>
              </a:rPr>
              <a:t>Поиск и ответы на вопросы по текущим и историческим промо-акциям.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" y="4608576"/>
            <a:ext cx="2170099" cy="804672"/>
          </a:xfrm>
          <a:prstGeom prst="roundRect">
            <a:avLst>
              <a:gd name="adj" fmla="val 7954"/>
            </a:avLst>
          </a:prstGeom>
          <a:solidFill>
            <a:srgbClr val="0E1726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700016"/>
            <a:ext cx="19140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1">
                <a:solidFill>
                  <a:srgbClr val="5CA3DB"/>
                </a:solidFill>
                <a:latin typeface="Calibri"/>
              </a:rPr>
              <a:t>Пример: </a:t>
            </a:r>
            <a:r>
              <a:rPr sz="950" b="0" i="1">
                <a:solidFill>
                  <a:srgbClr val="9AA9BF"/>
                </a:solidFill>
                <a:latin typeface="Calibri"/>
              </a:rPr>
              <a:t>«Какие акции были на Ульбу в июле 2024, 2025, 2026?»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95395" y="2212848"/>
            <a:ext cx="2572435" cy="3310128"/>
          </a:xfrm>
          <a:prstGeom prst="roundRect">
            <a:avLst>
              <a:gd name="adj" fmla="val 3199"/>
            </a:avLst>
          </a:prstGeom>
          <a:solidFill>
            <a:srgbClr val="16223B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651427" y="2487168"/>
            <a:ext cx="530352" cy="530352"/>
          </a:xfrm>
          <a:prstGeom prst="roundRect">
            <a:avLst>
              <a:gd name="adj" fmla="val 27000"/>
            </a:avLst>
          </a:prstGeom>
          <a:solidFill>
            <a:srgbClr val="2C2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nvo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8712" y="2614452"/>
            <a:ext cx="275783" cy="275783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651427" y="3145536"/>
            <a:ext cx="2060371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EEF2F7"/>
                </a:solidFill>
                <a:latin typeface="Calibri"/>
              </a:rPr>
              <a:t>1C Invoice Validation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1427" y="3840480"/>
            <a:ext cx="2060371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AA9BF"/>
                </a:solidFill>
                <a:latin typeface="Calibri"/>
              </a:rPr>
              <a:t>Автоматическая проверка выгрузок и накладных из 1С.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96563" y="4608576"/>
            <a:ext cx="2170099" cy="804672"/>
          </a:xfrm>
          <a:prstGeom prst="roundRect">
            <a:avLst>
              <a:gd name="adj" fmla="val 7954"/>
            </a:avLst>
          </a:prstGeom>
          <a:solidFill>
            <a:srgbClr val="0E1726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24579" y="4700016"/>
            <a:ext cx="19140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1">
                <a:solidFill>
                  <a:srgbClr val="5CA3DB"/>
                </a:solidFill>
                <a:latin typeface="Calibri"/>
              </a:rPr>
              <a:t>Эффект: </a:t>
            </a:r>
            <a:r>
              <a:rPr sz="950" b="0" i="1">
                <a:solidFill>
                  <a:srgbClr val="9AA9BF"/>
                </a:solidFill>
                <a:latin typeface="Calibri"/>
              </a:rPr>
              <a:t>−30 % времени трейд- и sales controlling-специалистов; проверка 1С каждой точки вручную — ∞ часов.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23863" y="2212848"/>
            <a:ext cx="2572435" cy="3310128"/>
          </a:xfrm>
          <a:prstGeom prst="roundRect">
            <a:avLst>
              <a:gd name="adj" fmla="val 3199"/>
            </a:avLst>
          </a:prstGeom>
          <a:solidFill>
            <a:srgbClr val="16223B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79895" y="2487168"/>
            <a:ext cx="530352" cy="530352"/>
          </a:xfrm>
          <a:prstGeom prst="roundRect">
            <a:avLst>
              <a:gd name="adj" fmla="val 27000"/>
            </a:avLst>
          </a:prstGeom>
          <a:solidFill>
            <a:srgbClr val="103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cal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7180" y="2614452"/>
            <a:ext cx="275783" cy="275783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479895" y="3145536"/>
            <a:ext cx="2060371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EEF2F7"/>
                </a:solidFill>
                <a:latin typeface="Calibri"/>
              </a:rPr>
              <a:t>Масштабирование расчётов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9895" y="3840480"/>
            <a:ext cx="2060371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AA9BF"/>
                </a:solidFill>
                <a:latin typeface="Calibri"/>
              </a:rPr>
              <a:t>Перенос расчётов на другие типы компенсаций — например, расчёт Kega Boom.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25031" y="4608576"/>
            <a:ext cx="2170099" cy="804672"/>
          </a:xfrm>
          <a:prstGeom prst="roundRect">
            <a:avLst>
              <a:gd name="adj" fmla="val 7954"/>
            </a:avLst>
          </a:prstGeom>
          <a:solidFill>
            <a:srgbClr val="0E1726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53047" y="4700016"/>
            <a:ext cx="19140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1">
                <a:solidFill>
                  <a:srgbClr val="5CA3DB"/>
                </a:solidFill>
                <a:latin typeface="Calibri"/>
              </a:rPr>
              <a:t>База готова: </a:t>
            </a:r>
            <a:r>
              <a:rPr sz="950" b="0" i="1">
                <a:solidFill>
                  <a:srgbClr val="9AA9BF"/>
                </a:solidFill>
                <a:latin typeface="Calibri"/>
              </a:rPr>
              <a:t>единая логика квот, цен и периодов уже в системе.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52331" y="2212848"/>
            <a:ext cx="2572435" cy="3310128"/>
          </a:xfrm>
          <a:prstGeom prst="roundRect">
            <a:avLst>
              <a:gd name="adj" fmla="val 3199"/>
            </a:avLst>
          </a:prstGeom>
          <a:solidFill>
            <a:srgbClr val="16223B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308363" y="2487168"/>
            <a:ext cx="530352" cy="530352"/>
          </a:xfrm>
          <a:prstGeom prst="roundRect">
            <a:avLst>
              <a:gd name="adj" fmla="val 27000"/>
            </a:avLst>
          </a:prstGeom>
          <a:solidFill>
            <a:srgbClr val="14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calend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35647" y="2614452"/>
            <a:ext cx="275783" cy="275783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308363" y="3145536"/>
            <a:ext cx="2060371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EEF2F7"/>
                </a:solidFill>
                <a:latin typeface="Calibri"/>
              </a:rPr>
              <a:t>Исторический календарь промо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08363" y="3840480"/>
            <a:ext cx="2060371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AA9BF"/>
                </a:solidFill>
                <a:latin typeface="Calibri"/>
              </a:rPr>
              <a:t>Календарь всех текущих и исторических промо-акций.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253499" y="4608576"/>
            <a:ext cx="2170099" cy="804672"/>
          </a:xfrm>
          <a:prstGeom prst="roundRect">
            <a:avLst>
              <a:gd name="adj" fmla="val 7954"/>
            </a:avLst>
          </a:prstGeom>
          <a:solidFill>
            <a:srgbClr val="0E1726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81515" y="4700016"/>
            <a:ext cx="19140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1">
                <a:solidFill>
                  <a:srgbClr val="5CA3DB"/>
                </a:solidFill>
                <a:latin typeface="Calibri"/>
              </a:rPr>
              <a:t>Как работает: </a:t>
            </a:r>
            <a:r>
              <a:rPr sz="950" b="0" i="1">
                <a:solidFill>
                  <a:srgbClr val="9AA9BF"/>
                </a:solidFill>
                <a:latin typeface="Calibri"/>
              </a:rPr>
              <a:t>клик по дате показывает активности, действовавшие в этот период.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5687568"/>
            <a:ext cx="11057839" cy="530352"/>
          </a:xfrm>
          <a:prstGeom prst="roundRect">
            <a:avLst>
              <a:gd name="adj" fmla="val 15517"/>
            </a:avLst>
          </a:prstGeom>
          <a:solidFill>
            <a:srgbClr val="0C3F77"/>
          </a:solidFill>
          <a:ln w="12700">
            <a:solidFill>
              <a:srgbClr val="2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bolt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536" y="5833872"/>
            <a:ext cx="237744" cy="237744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261872" y="5687568"/>
            <a:ext cx="10051999" cy="5303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Новые механики промо-акций легко интегрируются в платформу — партнёры мгновенно получают уведомления о запуске.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66928" y="534924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· ЧТО АВТОМАТИЗИРУЕТ СИСТЕМА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 промо-активности — с Nexus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316736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BPMN-диаграммы. </a:t>
            </a:r>
            <a:r>
              <a:rPr lang="en-US" sz="12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Синим</a:t>
            </a: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выделено то, что выполняет система; </a:t>
            </a:r>
            <a:r>
              <a:rPr lang="en-US" sz="1200" b="1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серым</a:t>
            </a: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действия и решения человека.</a:t>
            </a:r>
            <a:endParaRPr lang="en-US" sz="1200" dirty="0"/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b="1">
                <a:solidFill>
                  <a:srgbClr val="C3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Красным</a:t>
            </a: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новый шаг, которого сегодня нет.</a:t>
            </a:r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0704" y="1719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промо-активности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" y="2121408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157984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TRADE-МАРКЕТИНГ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49808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Канал, партнёр, продукты,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квот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58952" y="2779776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6968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50821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61717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BE9E7"/>
          </a:solidFill>
          <a:ln w="12700">
            <a:solidFill>
              <a:srgbClr val="F0C5C0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61717" y="2121408"/>
            <a:ext cx="50292" cy="731520"/>
          </a:xfrm>
          <a:prstGeom prst="rect">
            <a:avLst/>
          </a:prstGeom>
          <a:solidFill>
            <a:srgbClr val="C33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08021" y="2157984"/>
            <a:ext cx="228600" cy="228600"/>
          </a:xfrm>
          <a:prstGeom prst="ellipse">
            <a:avLst/>
          </a:prstGeom>
          <a:solidFill>
            <a:srgbClr val="C33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08021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00629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C3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63875" y="2432304"/>
            <a:ext cx="1391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наличия продукта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складе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дистрибьютора</a:t>
            </a:r>
          </a:p>
          <a:p>
            <a:pPr marL="0" indent="0">
              <a:lnSpc>
                <a:spcPct val="102000"/>
              </a:lnSpc>
              <a:buNone/>
            </a:pP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644597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3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шаг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045610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356506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356506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502810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502810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795418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539386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Присвоение кода PR-#####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проверка на дубли</a:t>
            </a:r>
            <a:endParaRPr lang="en-US" sz="85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386" y="2761488"/>
            <a:ext cx="109728" cy="10972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685690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5940400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6251296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251296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6397600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6397600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6690208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6434176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Составление Excel-файла промо</a:t>
            </a:r>
            <a:endParaRPr lang="en-US" sz="850" dirty="0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176" y="2761488"/>
            <a:ext cx="109728" cy="109728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580480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7835189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8146085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1"/>
          <p:cNvSpPr/>
          <p:nvPr/>
        </p:nvSpPr>
        <p:spPr>
          <a:xfrm>
            <a:off x="8146085" y="2121408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2"/>
          <p:cNvSpPr/>
          <p:nvPr/>
        </p:nvSpPr>
        <p:spPr>
          <a:xfrm>
            <a:off x="8292389" y="2157984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8292389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8584997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CRM-СПЕЦИАЛИСТ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8328965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промо-активности в Panorama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8338109" y="2779776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7"/>
          <p:cNvSpPr/>
          <p:nvPr/>
        </p:nvSpPr>
        <p:spPr>
          <a:xfrm>
            <a:off x="8466125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53" name="Text 48"/>
          <p:cNvSpPr/>
          <p:nvPr/>
        </p:nvSpPr>
        <p:spPr>
          <a:xfrm>
            <a:off x="9729978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4" name="Shape 49"/>
          <p:cNvSpPr/>
          <p:nvPr/>
        </p:nvSpPr>
        <p:spPr>
          <a:xfrm>
            <a:off x="10040874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0"/>
          <p:cNvSpPr/>
          <p:nvPr/>
        </p:nvSpPr>
        <p:spPr>
          <a:xfrm>
            <a:off x="10040874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1"/>
          <p:cNvSpPr/>
          <p:nvPr/>
        </p:nvSpPr>
        <p:spPr>
          <a:xfrm>
            <a:off x="10187178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2"/>
          <p:cNvSpPr/>
          <p:nvPr/>
        </p:nvSpPr>
        <p:spPr>
          <a:xfrm>
            <a:off x="10187178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Text 53"/>
          <p:cNvSpPr/>
          <p:nvPr/>
        </p:nvSpPr>
        <p:spPr>
          <a:xfrm>
            <a:off x="10479786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59" name="Text 54"/>
          <p:cNvSpPr/>
          <p:nvPr/>
        </p:nvSpPr>
        <p:spPr>
          <a:xfrm>
            <a:off x="10223754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Авто-уведомление партнёров письмом</a:t>
            </a:r>
            <a:endParaRPr lang="en-US" sz="850" dirty="0"/>
          </a:p>
        </p:txBody>
      </p:sp>
      <p:pic>
        <p:nvPicPr>
          <p:cNvPr id="60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754" y="2761488"/>
            <a:ext cx="109728" cy="109728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10370058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62" name="Shape 56"/>
          <p:cNvSpPr/>
          <p:nvPr/>
        </p:nvSpPr>
        <p:spPr>
          <a:xfrm>
            <a:off x="566928" y="3127248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7"/>
          <p:cNvSpPr/>
          <p:nvPr/>
        </p:nvSpPr>
        <p:spPr>
          <a:xfrm>
            <a:off x="566928" y="31272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64" name="Text 58"/>
          <p:cNvSpPr/>
          <p:nvPr/>
        </p:nvSpPr>
        <p:spPr>
          <a:xfrm>
            <a:off x="1060704" y="3108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промо-активности</a:t>
            </a:r>
            <a:endParaRPr lang="en-US" sz="1200" dirty="0"/>
          </a:p>
        </p:txBody>
      </p:sp>
      <p:sp>
        <p:nvSpPr>
          <p:cNvPr id="65" name="Shape 59"/>
          <p:cNvSpPr/>
          <p:nvPr/>
        </p:nvSpPr>
        <p:spPr>
          <a:xfrm>
            <a:off x="2461717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0"/>
          <p:cNvSpPr/>
          <p:nvPr/>
        </p:nvSpPr>
        <p:spPr>
          <a:xfrm>
            <a:off x="2461717" y="3511296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1"/>
          <p:cNvSpPr/>
          <p:nvPr/>
        </p:nvSpPr>
        <p:spPr>
          <a:xfrm>
            <a:off x="2608021" y="3547872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2"/>
          <p:cNvSpPr/>
          <p:nvPr/>
        </p:nvSpPr>
        <p:spPr>
          <a:xfrm>
            <a:off x="2608021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69" name="Text 63"/>
          <p:cNvSpPr/>
          <p:nvPr/>
        </p:nvSpPr>
        <p:spPr>
          <a:xfrm>
            <a:off x="2900629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/ ON-TRADE</a:t>
            </a:r>
            <a:endParaRPr lang="en-US" sz="850" dirty="0"/>
          </a:p>
        </p:txBody>
      </p:sp>
      <p:sp>
        <p:nvSpPr>
          <p:cNvPr id="70" name="Text 64"/>
          <p:cNvSpPr/>
          <p:nvPr/>
        </p:nvSpPr>
        <p:spPr>
          <a:xfrm>
            <a:off x="2644597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Запрос: квота, период или продукт</a:t>
            </a:r>
            <a:endParaRPr lang="en-US" sz="850" dirty="0"/>
          </a:p>
        </p:txBody>
      </p:sp>
      <p:sp>
        <p:nvSpPr>
          <p:cNvPr id="71" name="Shape 65"/>
          <p:cNvSpPr/>
          <p:nvPr/>
        </p:nvSpPr>
        <p:spPr>
          <a:xfrm>
            <a:off x="2653741" y="4169664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6"/>
          <p:cNvSpPr/>
          <p:nvPr/>
        </p:nvSpPr>
        <p:spPr>
          <a:xfrm>
            <a:off x="2781757" y="4114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73" name="Text 67"/>
          <p:cNvSpPr/>
          <p:nvPr/>
        </p:nvSpPr>
        <p:spPr>
          <a:xfrm>
            <a:off x="404561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4" name="Shape 68"/>
          <p:cNvSpPr/>
          <p:nvPr/>
        </p:nvSpPr>
        <p:spPr>
          <a:xfrm>
            <a:off x="435650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Shape 69"/>
          <p:cNvSpPr/>
          <p:nvPr/>
        </p:nvSpPr>
        <p:spPr>
          <a:xfrm>
            <a:off x="4356506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0"/>
          <p:cNvSpPr/>
          <p:nvPr/>
        </p:nvSpPr>
        <p:spPr>
          <a:xfrm>
            <a:off x="4502810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1"/>
          <p:cNvSpPr/>
          <p:nvPr/>
        </p:nvSpPr>
        <p:spPr>
          <a:xfrm>
            <a:off x="450281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78" name="Text 72"/>
          <p:cNvSpPr/>
          <p:nvPr/>
        </p:nvSpPr>
        <p:spPr>
          <a:xfrm>
            <a:off x="4795418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79" name="Text 73"/>
          <p:cNvSpPr/>
          <p:nvPr/>
        </p:nvSpPr>
        <p:spPr>
          <a:xfrm>
            <a:off x="4539386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Excel-файла с изменениями</a:t>
            </a:r>
            <a:endParaRPr lang="en-US" sz="850" dirty="0"/>
          </a:p>
        </p:txBody>
      </p:sp>
      <p:pic>
        <p:nvPicPr>
          <p:cNvPr id="80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386" y="4151376"/>
            <a:ext cx="109728" cy="109728"/>
          </a:xfrm>
          <a:prstGeom prst="rect">
            <a:avLst/>
          </a:prstGeom>
        </p:spPr>
      </p:pic>
      <p:sp>
        <p:nvSpPr>
          <p:cNvPr id="81" name="Text 74"/>
          <p:cNvSpPr/>
          <p:nvPr/>
        </p:nvSpPr>
        <p:spPr>
          <a:xfrm>
            <a:off x="4685690" y="4114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82" name="Text 75"/>
          <p:cNvSpPr/>
          <p:nvPr/>
        </p:nvSpPr>
        <p:spPr>
          <a:xfrm>
            <a:off x="594040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3" name="Shape 76"/>
          <p:cNvSpPr/>
          <p:nvPr/>
        </p:nvSpPr>
        <p:spPr>
          <a:xfrm>
            <a:off x="625129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77"/>
          <p:cNvSpPr/>
          <p:nvPr/>
        </p:nvSpPr>
        <p:spPr>
          <a:xfrm>
            <a:off x="6251296" y="3511296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78"/>
          <p:cNvSpPr/>
          <p:nvPr/>
        </p:nvSpPr>
        <p:spPr>
          <a:xfrm>
            <a:off x="6397600" y="3547872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79"/>
          <p:cNvSpPr/>
          <p:nvPr/>
        </p:nvSpPr>
        <p:spPr>
          <a:xfrm>
            <a:off x="639760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87" name="Text 80"/>
          <p:cNvSpPr/>
          <p:nvPr/>
        </p:nvSpPr>
        <p:spPr>
          <a:xfrm>
            <a:off x="6690208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CRM-СПЕЦИАЛИСТ</a:t>
            </a:r>
            <a:endParaRPr lang="en-US" sz="850" dirty="0"/>
          </a:p>
        </p:txBody>
      </p:sp>
      <p:sp>
        <p:nvSpPr>
          <p:cNvPr id="88" name="Text 81"/>
          <p:cNvSpPr/>
          <p:nvPr/>
        </p:nvSpPr>
        <p:spPr>
          <a:xfrm>
            <a:off x="6434176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Правка промо-активности в Panorama</a:t>
            </a:r>
            <a:endParaRPr lang="en-US" sz="850" dirty="0"/>
          </a:p>
        </p:txBody>
      </p:sp>
      <p:sp>
        <p:nvSpPr>
          <p:cNvPr id="89" name="Shape 82"/>
          <p:cNvSpPr/>
          <p:nvPr/>
        </p:nvSpPr>
        <p:spPr>
          <a:xfrm>
            <a:off x="6443320" y="4169664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3"/>
          <p:cNvSpPr/>
          <p:nvPr/>
        </p:nvSpPr>
        <p:spPr>
          <a:xfrm>
            <a:off x="6571336" y="4114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91" name="Text 84"/>
          <p:cNvSpPr/>
          <p:nvPr/>
        </p:nvSpPr>
        <p:spPr>
          <a:xfrm>
            <a:off x="7835189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2" name="Shape 85"/>
          <p:cNvSpPr/>
          <p:nvPr/>
        </p:nvSpPr>
        <p:spPr>
          <a:xfrm>
            <a:off x="8146085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Shape 86"/>
          <p:cNvSpPr/>
          <p:nvPr/>
        </p:nvSpPr>
        <p:spPr>
          <a:xfrm>
            <a:off x="8146085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87"/>
          <p:cNvSpPr/>
          <p:nvPr/>
        </p:nvSpPr>
        <p:spPr>
          <a:xfrm>
            <a:off x="8292389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88"/>
          <p:cNvSpPr/>
          <p:nvPr/>
        </p:nvSpPr>
        <p:spPr>
          <a:xfrm>
            <a:off x="8292389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96" name="Text 89"/>
          <p:cNvSpPr/>
          <p:nvPr/>
        </p:nvSpPr>
        <p:spPr>
          <a:xfrm>
            <a:off x="8584997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97" name="Text 90"/>
          <p:cNvSpPr/>
          <p:nvPr/>
        </p:nvSpPr>
        <p:spPr>
          <a:xfrm>
            <a:off x="8328965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и уведомление партнёров</a:t>
            </a:r>
            <a:endParaRPr lang="en-US" sz="850" dirty="0"/>
          </a:p>
        </p:txBody>
      </p:sp>
      <p:pic>
        <p:nvPicPr>
          <p:cNvPr id="98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965" y="4151376"/>
            <a:ext cx="109728" cy="109728"/>
          </a:xfrm>
          <a:prstGeom prst="rect">
            <a:avLst/>
          </a:prstGeom>
        </p:spPr>
      </p:pic>
      <p:sp>
        <p:nvSpPr>
          <p:cNvPr id="99" name="Text 91"/>
          <p:cNvSpPr/>
          <p:nvPr/>
        </p:nvSpPr>
        <p:spPr>
          <a:xfrm>
            <a:off x="8475269" y="4114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100" name="Shape 92"/>
          <p:cNvSpPr/>
          <p:nvPr/>
        </p:nvSpPr>
        <p:spPr>
          <a:xfrm>
            <a:off x="566928" y="4517136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3"/>
          <p:cNvSpPr/>
          <p:nvPr/>
        </p:nvSpPr>
        <p:spPr>
          <a:xfrm>
            <a:off x="566928" y="451713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02" name="Text 94"/>
          <p:cNvSpPr/>
          <p:nvPr/>
        </p:nvSpPr>
        <p:spPr>
          <a:xfrm>
            <a:off x="1060704" y="4498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месяца и расчёт</a:t>
            </a:r>
            <a:endParaRPr lang="en-US" sz="1200" dirty="0"/>
          </a:p>
        </p:txBody>
      </p:sp>
      <p:sp>
        <p:nvSpPr>
          <p:cNvPr id="103" name="Shape 95"/>
          <p:cNvSpPr/>
          <p:nvPr/>
        </p:nvSpPr>
        <p:spPr>
          <a:xfrm>
            <a:off x="3409112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Shape 96"/>
          <p:cNvSpPr/>
          <p:nvPr/>
        </p:nvSpPr>
        <p:spPr>
          <a:xfrm>
            <a:off x="3409112" y="4901184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97"/>
          <p:cNvSpPr/>
          <p:nvPr/>
        </p:nvSpPr>
        <p:spPr>
          <a:xfrm>
            <a:off x="3555416" y="4937760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98"/>
          <p:cNvSpPr/>
          <p:nvPr/>
        </p:nvSpPr>
        <p:spPr>
          <a:xfrm>
            <a:off x="3555416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07" name="Text 99"/>
          <p:cNvSpPr/>
          <p:nvPr/>
        </p:nvSpPr>
        <p:spPr>
          <a:xfrm>
            <a:off x="3848024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</a:t>
            </a:r>
            <a:endParaRPr lang="en-US" sz="850" dirty="0"/>
          </a:p>
        </p:txBody>
      </p:sp>
      <p:sp>
        <p:nvSpPr>
          <p:cNvPr id="108" name="Text 100"/>
          <p:cNvSpPr/>
          <p:nvPr/>
        </p:nvSpPr>
        <p:spPr>
          <a:xfrm>
            <a:off x="3591992" y="5175504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«Запрос»: проданные литры по промо</a:t>
            </a:r>
            <a:endParaRPr lang="en-US" sz="850" dirty="0"/>
          </a:p>
        </p:txBody>
      </p:sp>
      <p:sp>
        <p:nvSpPr>
          <p:cNvPr id="109" name="Shape 101"/>
          <p:cNvSpPr/>
          <p:nvPr/>
        </p:nvSpPr>
        <p:spPr>
          <a:xfrm>
            <a:off x="3601136" y="5559552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2"/>
          <p:cNvSpPr/>
          <p:nvPr/>
        </p:nvSpPr>
        <p:spPr>
          <a:xfrm>
            <a:off x="3729152" y="55046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111" name="Text 103"/>
          <p:cNvSpPr/>
          <p:nvPr/>
        </p:nvSpPr>
        <p:spPr>
          <a:xfrm>
            <a:off x="4993005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2" name="Shape 104"/>
          <p:cNvSpPr/>
          <p:nvPr/>
        </p:nvSpPr>
        <p:spPr>
          <a:xfrm>
            <a:off x="5303901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3" name="Shape 105"/>
          <p:cNvSpPr/>
          <p:nvPr/>
        </p:nvSpPr>
        <p:spPr>
          <a:xfrm>
            <a:off x="5303901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06"/>
          <p:cNvSpPr/>
          <p:nvPr/>
        </p:nvSpPr>
        <p:spPr>
          <a:xfrm>
            <a:off x="5450205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07"/>
          <p:cNvSpPr/>
          <p:nvPr/>
        </p:nvSpPr>
        <p:spPr>
          <a:xfrm>
            <a:off x="5450205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16" name="Text 108"/>
          <p:cNvSpPr/>
          <p:nvPr/>
        </p:nvSpPr>
        <p:spPr>
          <a:xfrm>
            <a:off x="5742813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117" name="Text 109"/>
          <p:cNvSpPr/>
          <p:nvPr/>
        </p:nvSpPr>
        <p:spPr>
          <a:xfrm>
            <a:off x="5486781" y="5175504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∑(литры × цена периода)</a:t>
            </a:r>
            <a:endParaRPr lang="en-US" sz="850" dirty="0"/>
          </a:p>
        </p:txBody>
      </p:sp>
      <p:pic>
        <p:nvPicPr>
          <p:cNvPr id="118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781" y="5541264"/>
            <a:ext cx="109728" cy="109728"/>
          </a:xfrm>
          <a:prstGeom prst="rect">
            <a:avLst/>
          </a:prstGeom>
        </p:spPr>
      </p:pic>
      <p:sp>
        <p:nvSpPr>
          <p:cNvPr id="119" name="Text 110"/>
          <p:cNvSpPr/>
          <p:nvPr/>
        </p:nvSpPr>
        <p:spPr>
          <a:xfrm>
            <a:off x="5633085" y="5504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120" name="Text 111"/>
          <p:cNvSpPr/>
          <p:nvPr/>
        </p:nvSpPr>
        <p:spPr>
          <a:xfrm>
            <a:off x="6887794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1" name="Shape 112"/>
          <p:cNvSpPr/>
          <p:nvPr/>
        </p:nvSpPr>
        <p:spPr>
          <a:xfrm>
            <a:off x="7198690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2" name="Shape 113"/>
          <p:cNvSpPr/>
          <p:nvPr/>
        </p:nvSpPr>
        <p:spPr>
          <a:xfrm>
            <a:off x="7198690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14"/>
          <p:cNvSpPr/>
          <p:nvPr/>
        </p:nvSpPr>
        <p:spPr>
          <a:xfrm>
            <a:off x="7344994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15"/>
          <p:cNvSpPr/>
          <p:nvPr/>
        </p:nvSpPr>
        <p:spPr>
          <a:xfrm>
            <a:off x="7344994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125" name="Text 116"/>
          <p:cNvSpPr/>
          <p:nvPr/>
        </p:nvSpPr>
        <p:spPr>
          <a:xfrm>
            <a:off x="7637602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126" name="Text 117"/>
          <p:cNvSpPr/>
          <p:nvPr/>
        </p:nvSpPr>
        <p:spPr>
          <a:xfrm>
            <a:off x="7373446" y="5212080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Верификация «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r>
              <a:rPr lang="ru-RU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</a:t>
            </a: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и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отчета</a:t>
            </a:r>
          </a:p>
          <a:p>
            <a:pPr marL="0" indent="0">
              <a:lnSpc>
                <a:spcPct val="102000"/>
              </a:lnSpc>
              <a:buNone/>
            </a:pPr>
            <a:endParaRPr lang="en-US" sz="850" dirty="0"/>
          </a:p>
        </p:txBody>
      </p:sp>
      <p:pic>
        <p:nvPicPr>
          <p:cNvPr id="127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570" y="5541264"/>
            <a:ext cx="109728" cy="109728"/>
          </a:xfrm>
          <a:prstGeom prst="rect">
            <a:avLst/>
          </a:prstGeom>
        </p:spPr>
      </p:pic>
      <p:sp>
        <p:nvSpPr>
          <p:cNvPr id="128" name="Text 118"/>
          <p:cNvSpPr/>
          <p:nvPr/>
        </p:nvSpPr>
        <p:spPr>
          <a:xfrm>
            <a:off x="7527874" y="5504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129" name="Shape 119"/>
          <p:cNvSpPr/>
          <p:nvPr/>
        </p:nvSpPr>
        <p:spPr>
          <a:xfrm>
            <a:off x="566928" y="5952744"/>
            <a:ext cx="201168" cy="146304"/>
          </a:xfrm>
          <a:prstGeom prst="rect">
            <a:avLst/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0"/>
          <p:cNvSpPr/>
          <p:nvPr/>
        </p:nvSpPr>
        <p:spPr>
          <a:xfrm>
            <a:off x="841248" y="59070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Автоматизировано системой</a:t>
            </a:r>
            <a:endParaRPr lang="en-US" sz="950" dirty="0"/>
          </a:p>
        </p:txBody>
      </p:sp>
      <p:sp>
        <p:nvSpPr>
          <p:cNvPr id="131" name="Shape 121"/>
          <p:cNvSpPr/>
          <p:nvPr/>
        </p:nvSpPr>
        <p:spPr>
          <a:xfrm>
            <a:off x="3218688" y="5952744"/>
            <a:ext cx="20116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22"/>
          <p:cNvSpPr/>
          <p:nvPr/>
        </p:nvSpPr>
        <p:spPr>
          <a:xfrm>
            <a:off x="3493008" y="59070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 / решение человека</a:t>
            </a:r>
            <a:endParaRPr lang="en-US" sz="950" dirty="0"/>
          </a:p>
        </p:txBody>
      </p:sp>
      <p:sp>
        <p:nvSpPr>
          <p:cNvPr id="133" name="Shape 123"/>
          <p:cNvSpPr/>
          <p:nvPr/>
        </p:nvSpPr>
        <p:spPr>
          <a:xfrm>
            <a:off x="6949440" y="5760720"/>
            <a:ext cx="4675327" cy="548640"/>
          </a:xfrm>
          <a:prstGeom prst="roundRect">
            <a:avLst>
              <a:gd name="adj" fmla="val 19048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24"/>
          <p:cNvSpPr/>
          <p:nvPr/>
        </p:nvSpPr>
        <p:spPr>
          <a:xfrm>
            <a:off x="7086600" y="5760720"/>
            <a:ext cx="44741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4C8D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Не просто автоматизация:</a:t>
            </a:r>
            <a:r>
              <a:rPr lang="en-US" sz="950" dirty="0">
                <a:solidFill>
                  <a:srgbClr val="00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добавляются новые шаги — проверка остатков на складе партнёра и предрасчёты промо, чтобы партнёры присылали корректные запросы.</a:t>
            </a:r>
            <a:endParaRPr lang="en-US" sz="950" dirty="0"/>
          </a:p>
        </p:txBody>
      </p:sp>
      <p:sp>
        <p:nvSpPr>
          <p:cNvPr id="135" name="Shape 125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6" name="Image 8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137" name="Text 126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38" name="Text 127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 · BPMN</a:t>
            </a:r>
            <a:endParaRPr lang="en-US" sz="850" dirty="0"/>
          </a:p>
        </p:txBody>
      </p:sp>
      <p:sp>
        <p:nvSpPr>
          <p:cNvPr id="129" name="Shape 119"/>
          <p:cNvSpPr/>
          <p:nvPr/>
        </p:nvSpPr>
        <p:spPr>
          <a:xfrm>
            <a:off x="5440680" y="5952744"/>
            <a:ext cx="201168" cy="146304"/>
          </a:xfrm>
          <a:prstGeom prst="rect">
            <a:avLst/>
          </a:prstGeom>
          <a:solidFill>
            <a:srgbClr val="FBE9E7"/>
          </a:solidFill>
          <a:ln w="12700">
            <a:solidFill>
              <a:srgbClr val="F0C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0"/>
          <p:cNvSpPr/>
          <p:nvPr/>
        </p:nvSpPr>
        <p:spPr>
          <a:xfrm>
            <a:off x="5715000" y="59070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шаг процесса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5" name="Shape 125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6" name="Image 8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137" name="Text 126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38" name="Text 127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  <p:sp>
        <p:nvSpPr>
          <p:cNvPr id="139" name="Rectangle 138"/>
          <p:cNvSpPr/>
          <p:nvPr/>
        </p:nvSpPr>
        <p:spPr>
          <a:xfrm>
            <a:off x="566928" y="589788"/>
            <a:ext cx="155448" cy="29260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 i="0" spc="200">
                <a:solidFill>
                  <a:srgbClr val="1166A8"/>
                </a:solidFill>
                <a:latin typeface="Calibri"/>
              </a:rPr>
              <a:t>ТЕКУЩИЙ ИНСТРУМЕНТ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900" b="1" i="0">
                <a:solidFill>
                  <a:srgbClr val="0C1726"/>
                </a:solidFill>
                <a:latin typeface="Calibri"/>
              </a:rPr>
              <a:t>Текущая система KZPromotion — и её ограничения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66928" y="1426464"/>
            <a:ext cx="1088136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6616F"/>
                </a:solidFill>
                <a:latin typeface="Calibri"/>
              </a:rPr>
              <a:t>Сегодня уведомления партнёрам по акциям N+1 рассылает KZPromotion. Система закрывает лишь малую часть процесса и требует постоянного ручного участия.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66928" y="2121408"/>
            <a:ext cx="6583680" cy="241813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4" name="Picture 143" descr="kzpromo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2304288"/>
            <a:ext cx="6144768" cy="1814626"/>
          </a:xfrm>
          <a:prstGeom prst="rect">
            <a:avLst/>
          </a:prstGeom>
          <a:ln w="9525">
            <a:solidFill>
              <a:srgbClr val="E2E7EE"/>
            </a:solidFill>
          </a:ln>
        </p:spPr>
      </p:pic>
      <p:sp>
        <p:nvSpPr>
          <p:cNvPr id="145" name="TextBox 144"/>
          <p:cNvSpPr txBox="1"/>
          <p:nvPr/>
        </p:nvSpPr>
        <p:spPr>
          <a:xfrm>
            <a:off x="786384" y="4155490"/>
            <a:ext cx="6144768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56616F"/>
                </a:solidFill>
                <a:latin typeface="Calibri"/>
              </a:rPr>
              <a:t>KZPromotion — рассылка уведомлений партнёрам об акциях N+1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66928" y="4704130"/>
            <a:ext cx="6583680" cy="1202893"/>
          </a:xfrm>
          <a:prstGeom prst="roundRect">
            <a:avLst>
              <a:gd name="adj" fmla="val 7601"/>
            </a:avLst>
          </a:prstGeom>
          <a:solidFill>
            <a:srgbClr val="FBE9E7"/>
          </a:solidFill>
          <a:ln w="12700">
            <a:solidFill>
              <a:srgbClr val="F0C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41247" y="4813858"/>
            <a:ext cx="603504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 i="0" spc="100">
                <a:solidFill>
                  <a:srgbClr val="C33A30"/>
                </a:solidFill>
                <a:latin typeface="Calibri"/>
              </a:rPr>
              <a:t>СБОИ В ЭКСПЛУАТАЦИИ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59536" y="5188762"/>
            <a:ext cx="64008" cy="64008"/>
          </a:xfrm>
          <a:prstGeom prst="rect">
            <a:avLst/>
          </a:prstGeom>
          <a:solidFill>
            <a:srgbClr val="C3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42416" y="5106466"/>
            <a:ext cx="5815584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0C1726"/>
                </a:solidFill>
                <a:latin typeface="Calibri"/>
              </a:rPr>
              <a:t>Microsoft изменил внутренние политики — письма перестали отправляться, уведомления пришлось рассылать вручную.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59536" y="5645962"/>
            <a:ext cx="64008" cy="64008"/>
          </a:xfrm>
          <a:prstGeom prst="rect">
            <a:avLst/>
          </a:prstGeom>
          <a:solidFill>
            <a:srgbClr val="C3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42416" y="5563666"/>
            <a:ext cx="5815584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0C1726"/>
                </a:solidFill>
                <a:latin typeface="Calibri"/>
              </a:rPr>
              <a:t>Мелкие сбои возникают регулярно.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7315200" y="2121408"/>
            <a:ext cx="4309567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315200" y="2139696"/>
            <a:ext cx="45720" cy="1133856"/>
          </a:xfrm>
          <a:prstGeom prst="rect">
            <a:avLst/>
          </a:prstGeom>
          <a:solidFill>
            <a:srgbClr val="BD7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552944" y="2231136"/>
            <a:ext cx="3852367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50" b="1" i="0">
                <a:solidFill>
                  <a:srgbClr val="0C1726"/>
                </a:solidFill>
                <a:latin typeface="Calibri"/>
              </a:rPr>
              <a:t>Только N+1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552944" y="2542032"/>
            <a:ext cx="38523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6616F"/>
                </a:solidFill>
                <a:latin typeface="Calibri"/>
              </a:rPr>
              <a:t>Остальные типы промо-активностей не поддерживаются.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315200" y="3429000"/>
            <a:ext cx="4309567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7315200" y="3447288"/>
            <a:ext cx="45720" cy="1133856"/>
          </a:xfrm>
          <a:prstGeom prst="rect">
            <a:avLst/>
          </a:prstGeom>
          <a:solidFill>
            <a:srgbClr val="BD7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552944" y="3538728"/>
            <a:ext cx="3852367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50" b="1" i="0">
                <a:solidFill>
                  <a:srgbClr val="0C1726"/>
                </a:solidFill>
                <a:latin typeface="Calibri"/>
              </a:rPr>
              <a:t>Ручной выбор акций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552944" y="3849624"/>
            <a:ext cx="38523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6616F"/>
                </a:solidFill>
                <a:latin typeface="Calibri"/>
              </a:rPr>
              <a:t>Специалист Sales Systems отбирает промо-активности для рассылки вручную.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7315200" y="4736592"/>
            <a:ext cx="4309567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7315200" y="4754879"/>
            <a:ext cx="45720" cy="1133856"/>
          </a:xfrm>
          <a:prstGeom prst="rect">
            <a:avLst/>
          </a:prstGeom>
          <a:solidFill>
            <a:srgbClr val="BD7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552944" y="4846320"/>
            <a:ext cx="3852367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50" b="1" i="0">
                <a:solidFill>
                  <a:srgbClr val="0C1726"/>
                </a:solidFill>
                <a:latin typeface="Calibri"/>
              </a:rPr>
              <a:t>Автоматически — только квота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552944" y="5157216"/>
            <a:ext cx="38523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6616F"/>
                </a:solidFill>
                <a:latin typeface="Calibri"/>
              </a:rPr>
              <a:t>Уведомления о смене периода или продукта приходится отправлять партнёрам вручную.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5" name="Shape 125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6" name="Image 8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137" name="Text 126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38" name="Text 127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  <p:sp>
        <p:nvSpPr>
          <p:cNvPr id="139" name="Rectangle 138"/>
          <p:cNvSpPr/>
          <p:nvPr/>
        </p:nvSpPr>
        <p:spPr>
          <a:xfrm>
            <a:off x="566928" y="589788"/>
            <a:ext cx="155448" cy="29260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 i="0" spc="200">
                <a:solidFill>
                  <a:srgbClr val="1166A8"/>
                </a:solidFill>
                <a:latin typeface="Calibri"/>
              </a:rPr>
              <a:t>КОМАНДА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900" b="1" i="0">
                <a:solidFill>
                  <a:srgbClr val="0C1726"/>
                </a:solidFill>
                <a:latin typeface="Calibri"/>
              </a:rPr>
              <a:t>Кто делает Efes Nexus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66928" y="1426464"/>
            <a:ext cx="1088136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6616F"/>
                </a:solidFill>
                <a:latin typeface="Calibri"/>
              </a:rPr>
              <a:t>Платформу разрабатывает команда из пяти инженеров под руководством основателя проекта.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66928" y="2121408"/>
            <a:ext cx="4114800" cy="3785616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85216" y="2121408"/>
            <a:ext cx="4078224" cy="45720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1847088" y="2505456"/>
            <a:ext cx="1554480" cy="155448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847088" y="2505456"/>
            <a:ext cx="1554480" cy="1554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4600" b="1" i="0">
                <a:solidFill>
                  <a:srgbClr val="004C8D"/>
                </a:solidFill>
                <a:latin typeface="Calibri"/>
              </a:rPr>
              <a:t>АС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86968" y="4315968"/>
            <a:ext cx="347472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2200" b="1" i="0">
                <a:solidFill>
                  <a:srgbClr val="0C1726"/>
                </a:solidFill>
                <a:latin typeface="Calibri"/>
              </a:rPr>
              <a:t>Асет Сексенали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86968" y="4727448"/>
            <a:ext cx="347472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1166A8"/>
                </a:solidFill>
                <a:latin typeface="Calibri"/>
              </a:rPr>
              <a:t>Founding engineer · тимлид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389888" y="5193792"/>
            <a:ext cx="2468880" cy="12801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86968" y="5303520"/>
            <a:ext cx="347472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0" i="0">
                <a:solidFill>
                  <a:srgbClr val="56616F"/>
                </a:solidFill>
                <a:latin typeface="Calibri"/>
              </a:rPr>
              <a:t>asetseksenali@gmail.com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901184" y="2121408"/>
            <a:ext cx="6723583" cy="1127760"/>
          </a:xfrm>
          <a:prstGeom prst="roundRect">
            <a:avLst>
              <a:gd name="adj" fmla="val 7297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901184" y="2139696"/>
            <a:ext cx="45720" cy="1091184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193792" y="2286000"/>
            <a:ext cx="6174943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 spc="80">
                <a:solidFill>
                  <a:srgbClr val="1166A8"/>
                </a:solidFill>
                <a:latin typeface="Calibri"/>
              </a:rPr>
              <a:t>РОЛЬ В ПРОЕКТЕ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193792" y="2560320"/>
            <a:ext cx="6156655" cy="5608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16F"/>
                </a:solidFill>
                <a:latin typeface="Calibri"/>
              </a:rPr>
              <a:t>Основатель и ведущий инженер Efes Nexus. Отвечает за архитектуру платформы, модель процессов и интеграции с Panorama и 1С.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901184" y="3450336"/>
            <a:ext cx="6723583" cy="1127760"/>
          </a:xfrm>
          <a:prstGeom prst="roundRect">
            <a:avLst>
              <a:gd name="adj" fmla="val 7297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901184" y="3468624"/>
            <a:ext cx="45720" cy="1091184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193792" y="3614928"/>
            <a:ext cx="6174943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 spc="80">
                <a:solidFill>
                  <a:srgbClr val="1166A8"/>
                </a:solidFill>
                <a:latin typeface="Calibri"/>
              </a:rPr>
              <a:t>КОМАНДА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193792" y="3889248"/>
            <a:ext cx="6156655" cy="5608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16F"/>
                </a:solidFill>
                <a:latin typeface="Calibri"/>
              </a:rPr>
              <a:t>Тимлид команды из четырёх разработчиков: фронтенд, бэкенд, интеграции и внедрение. Вся разработка ведётся внутри команды, без подрядчиков.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4901184" y="4779264"/>
            <a:ext cx="6723583" cy="1127760"/>
          </a:xfrm>
          <a:prstGeom prst="roundRect">
            <a:avLst>
              <a:gd name="adj" fmla="val 7297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4901184" y="4797551"/>
            <a:ext cx="45720" cy="1091184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193792" y="4943856"/>
            <a:ext cx="6174943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 spc="80">
                <a:solidFill>
                  <a:srgbClr val="1166A8"/>
                </a:solidFill>
                <a:latin typeface="Calibri"/>
              </a:rPr>
              <a:t>ЧТО УЖЕ СДЕЛАНО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193792" y="5218176"/>
            <a:ext cx="6156655" cy="5608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16F"/>
                </a:solidFill>
                <a:latin typeface="Calibri"/>
              </a:rPr>
              <a:t>Смоделированы три BPMN-процесса промо-активностей, разобраны ограничения KZPromotion, собрана и запущена работающая платформа.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5" name="Shape 125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6" name="Image 8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137" name="Text 126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38" name="Text 127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  <p:sp>
        <p:nvSpPr>
          <p:cNvPr id="139" name="Rectangle 138"/>
          <p:cNvSpPr/>
          <p:nvPr/>
        </p:nvSpPr>
        <p:spPr>
          <a:xfrm>
            <a:off x="566928" y="589788"/>
            <a:ext cx="155448" cy="29260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 i="0" spc="200">
                <a:solidFill>
                  <a:srgbClr val="1166A8"/>
                </a:solidFill>
                <a:latin typeface="Calibri"/>
              </a:rPr>
              <a:t>КОММЕРЧЕСКОЕ ПРЕДЛОЖЕНИЕ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900" b="1" i="0">
                <a:solidFill>
                  <a:srgbClr val="0C1726"/>
                </a:solidFill>
                <a:latin typeface="Calibri"/>
              </a:rPr>
              <a:t>Стоимость и этапы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66928" y="1389888"/>
            <a:ext cx="1088136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6616F"/>
                </a:solidFill>
                <a:latin typeface="Calibri"/>
              </a:rPr>
              <a:t>Платформа разворачивается на сервере Efes Kazakhstan — отдельная инфраструктура не нужна. Первый этап покрывает всё, что показано в презентации; второй подключается по решению заказчика.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66928" y="2121408"/>
            <a:ext cx="5419191" cy="3419856"/>
          </a:xfrm>
          <a:prstGeom prst="roundRect">
            <a:avLst>
              <a:gd name="adj" fmla="val 2406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85216" y="2121408"/>
            <a:ext cx="5382615" cy="45720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50976" y="2359152"/>
            <a:ext cx="4687671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1" i="0" spc="100">
                <a:solidFill>
                  <a:srgbClr val="1166A8"/>
                </a:solidFill>
                <a:latin typeface="Calibri"/>
              </a:rPr>
              <a:t>ЭТАП 1 · ВНЕДРЕНИЕ ПЛАТФОРМЫ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50976" y="2670048"/>
            <a:ext cx="468767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4000" b="1" i="0">
                <a:solidFill>
                  <a:srgbClr val="004C8D"/>
                </a:solidFill>
                <a:latin typeface="Calibri"/>
              </a:rPr>
              <a:t>5 000 000 ₸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69264" y="3419856"/>
            <a:ext cx="4687671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00" b="0" i="1">
                <a:solidFill>
                  <a:srgbClr val="8B94A2"/>
                </a:solidFill>
                <a:latin typeface="Calibri"/>
              </a:rPr>
              <a:t>всё, что работает в презентации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50976" y="3785615"/>
            <a:ext cx="4651095" cy="12801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969264" y="3995928"/>
            <a:ext cx="77724" cy="77724"/>
          </a:xfrm>
          <a:prstGeom prst="roundRect">
            <a:avLst>
              <a:gd name="adj" fmla="val 50000"/>
            </a:avLst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207007" y="3895344"/>
            <a:ext cx="4413351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0" i="0">
                <a:solidFill>
                  <a:srgbClr val="56616F"/>
                </a:solidFill>
                <a:latin typeface="Calibri"/>
              </a:rPr>
              <a:t>Создание, изменение и закрытие промо-активностей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69264" y="4311396"/>
            <a:ext cx="77724" cy="77724"/>
          </a:xfrm>
          <a:prstGeom prst="roundRect">
            <a:avLst>
              <a:gd name="adj" fmla="val 50000"/>
            </a:avLst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207007" y="4210812"/>
            <a:ext cx="4413351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0" i="0">
                <a:solidFill>
                  <a:srgbClr val="56616F"/>
                </a:solidFill>
                <a:latin typeface="Calibri"/>
              </a:rPr>
              <a:t>Уведомления партнёров и синхронизация с Panorama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969264" y="4626864"/>
            <a:ext cx="77724" cy="77724"/>
          </a:xfrm>
          <a:prstGeom prst="roundRect">
            <a:avLst>
              <a:gd name="adj" fmla="val 50000"/>
            </a:avLst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207007" y="4526279"/>
            <a:ext cx="4413351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0" i="0">
                <a:solidFill>
                  <a:srgbClr val="56616F"/>
                </a:solidFill>
                <a:latin typeface="Calibri"/>
              </a:rPr>
              <a:t>Расчёт компенсаций и выгрузка отчётов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969264" y="4942332"/>
            <a:ext cx="77724" cy="77724"/>
          </a:xfrm>
          <a:prstGeom prst="roundRect">
            <a:avLst>
              <a:gd name="adj" fmla="val 50000"/>
            </a:avLst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207007" y="4841748"/>
            <a:ext cx="4413351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0" i="0">
                <a:solidFill>
                  <a:srgbClr val="56616F"/>
                </a:solidFill>
                <a:latin typeface="Calibri"/>
              </a:rPr>
              <a:t>Проверка остатков на складе партнёра и предрасчёты промо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969264" y="5257800"/>
            <a:ext cx="77724" cy="77724"/>
          </a:xfrm>
          <a:prstGeom prst="roundRect">
            <a:avLst>
              <a:gd name="adj" fmla="val 50000"/>
            </a:avLst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207007" y="5157216"/>
            <a:ext cx="4413351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0" i="0">
                <a:solidFill>
                  <a:srgbClr val="56616F"/>
                </a:solidFill>
                <a:latin typeface="Calibri"/>
              </a:rPr>
              <a:t>Развёртывание на сервере Efes Kazakhstan, обучение команды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6205575" y="2121408"/>
            <a:ext cx="5419191" cy="3419856"/>
          </a:xfrm>
          <a:prstGeom prst="roundRect">
            <a:avLst>
              <a:gd name="adj" fmla="val 2406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223863" y="2121408"/>
            <a:ext cx="5382615" cy="45720"/>
          </a:xfrm>
          <a:prstGeom prst="rect">
            <a:avLst/>
          </a:prstGeom>
          <a:solidFill>
            <a:srgbClr val="9CC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589623" y="2359152"/>
            <a:ext cx="4687671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1" i="0" spc="100">
                <a:solidFill>
                  <a:srgbClr val="8B94A2"/>
                </a:solidFill>
                <a:latin typeface="Calibri"/>
              </a:rPr>
              <a:t>ЭТАП 2 · ОПЦИОНАЛЬНО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589623" y="2670048"/>
            <a:ext cx="468767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4000" b="1" i="0">
                <a:solidFill>
                  <a:srgbClr val="56616F"/>
                </a:solidFill>
                <a:latin typeface="Calibri"/>
              </a:rPr>
              <a:t>+ 5 000 000 ₸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607911" y="3419856"/>
            <a:ext cx="4687671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00" b="0" i="1">
                <a:solidFill>
                  <a:srgbClr val="8B94A2"/>
                </a:solidFill>
                <a:latin typeface="Calibri"/>
              </a:rPr>
              <a:t>возможности дальнейшего развития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589623" y="3785615"/>
            <a:ext cx="4651095" cy="12801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6607911" y="3995928"/>
            <a:ext cx="77724" cy="77724"/>
          </a:xfrm>
          <a:prstGeom prst="roundRect">
            <a:avLst>
              <a:gd name="adj" fmla="val 50000"/>
            </a:avLst>
          </a:prstGeom>
          <a:solidFill>
            <a:srgbClr val="9CC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845655" y="3895344"/>
            <a:ext cx="4413351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0" i="0">
                <a:solidFill>
                  <a:srgbClr val="56616F"/>
                </a:solidFill>
                <a:latin typeface="Calibri"/>
              </a:rPr>
              <a:t>AI Search &amp; Knowledge Base — поиск по истории акций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607911" y="4311396"/>
            <a:ext cx="77724" cy="77724"/>
          </a:xfrm>
          <a:prstGeom prst="roundRect">
            <a:avLst>
              <a:gd name="adj" fmla="val 50000"/>
            </a:avLst>
          </a:prstGeom>
          <a:solidFill>
            <a:srgbClr val="9CC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845655" y="4210812"/>
            <a:ext cx="4413351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0" i="0">
                <a:solidFill>
                  <a:srgbClr val="56616F"/>
                </a:solidFill>
                <a:latin typeface="Calibri"/>
              </a:rPr>
              <a:t>1C Invoice Validation — проверка выгрузок и накладных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607911" y="4626864"/>
            <a:ext cx="77724" cy="77724"/>
          </a:xfrm>
          <a:prstGeom prst="roundRect">
            <a:avLst>
              <a:gd name="adj" fmla="val 50000"/>
            </a:avLst>
          </a:prstGeom>
          <a:solidFill>
            <a:srgbClr val="9CC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845655" y="4526279"/>
            <a:ext cx="4413351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0" i="0">
                <a:solidFill>
                  <a:srgbClr val="56616F"/>
                </a:solidFill>
                <a:latin typeface="Calibri"/>
              </a:rPr>
              <a:t>Масштабирование расчётов на другие типы компенсаций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6607911" y="4942332"/>
            <a:ext cx="77724" cy="77724"/>
          </a:xfrm>
          <a:prstGeom prst="roundRect">
            <a:avLst>
              <a:gd name="adj" fmla="val 50000"/>
            </a:avLst>
          </a:prstGeom>
          <a:solidFill>
            <a:srgbClr val="9CC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845655" y="4841748"/>
            <a:ext cx="4413351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0" i="0">
                <a:solidFill>
                  <a:srgbClr val="56616F"/>
                </a:solidFill>
                <a:latin typeface="Calibri"/>
              </a:rPr>
              <a:t>Исторический календарь промо-активностей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607911" y="5138928"/>
            <a:ext cx="4596231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0" i="1">
                <a:solidFill>
                  <a:srgbClr val="8B94A2"/>
                </a:solidFill>
                <a:latin typeface="Calibri"/>
              </a:rPr>
              <a:t>Подключается отдельно, после запуска первого этапа.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566928" y="5687568"/>
            <a:ext cx="11057839" cy="475488"/>
          </a:xfrm>
          <a:prstGeom prst="roundRect">
            <a:avLst>
              <a:gd name="adj" fmla="val 19230"/>
            </a:avLst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5" name="Picture 174" descr="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824728"/>
            <a:ext cx="201168" cy="201168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1225295" y="5687568"/>
            <a:ext cx="10143439" cy="47548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Первый этап — 5 000 000 ₸ за работающую платформу на сервере заказчика. Второй этап не обязателен и оплачивается только если Efes решит его запускать.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950</Words>
  <Application>Microsoft Office PowerPoint</Application>
  <PresentationFormat>Широкоэкранный</PresentationFormat>
  <Paragraphs>202</Paragraphs>
  <Slides>7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Efes Nexus — бизнес-кейс</dc:title>
  <dc:subject>PptxGenJS Presentation</dc:subject>
  <dc:creator>Efes Kazakhstan</dc:creator>
  <cp:lastModifiedBy>Aset Seksenali</cp:lastModifiedBy>
  <cp:revision>5</cp:revision>
  <dcterms:created xsi:type="dcterms:W3CDTF">2026-05-31T08:54:41Z</dcterms:created>
  <dcterms:modified xsi:type="dcterms:W3CDTF">2026-06-12T13:52:26Z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6fda2e-cb39-40eb-9c23-082a57943f2a_Enabled">
    <vt:lpwstr>true</vt:lpwstr>
  </property>
  <property fmtid="{D5CDD505-2E9C-101B-9397-08002B2CF9AE}" pid="3" name="MSIP_Label_e86fda2e-cb39-40eb-9c23-082a57943f2a_SetDate">
    <vt:lpwstr>2026-06-03T05:47:32Z</vt:lpwstr>
  </property>
  <property fmtid="{D5CDD505-2E9C-101B-9397-08002B2CF9AE}" pid="4" name="MSIP_Label_e86fda2e-cb39-40eb-9c23-082a57943f2a_Method">
    <vt:lpwstr>Privileged</vt:lpwstr>
  </property>
  <property fmtid="{D5CDD505-2E9C-101B-9397-08002B2CF9AE}" pid="5" name="MSIP_Label_e86fda2e-cb39-40eb-9c23-082a57943f2a_Name">
    <vt:lpwstr>Публичные данные</vt:lpwstr>
  </property>
  <property fmtid="{D5CDD505-2E9C-101B-9397-08002B2CF9AE}" pid="6" name="MSIP_Label_e86fda2e-cb39-40eb-9c23-082a57943f2a_SiteId">
    <vt:lpwstr>e763b98e-4b7c-41f7-9105-0ab753568526</vt:lpwstr>
  </property>
  <property fmtid="{D5CDD505-2E9C-101B-9397-08002B2CF9AE}" pid="7" name="MSIP_Label_e86fda2e-cb39-40eb-9c23-082a57943f2a_ActionId">
    <vt:lpwstr>6609c51b-9195-442a-b398-3174045bb277</vt:lpwstr>
  </property>
  <property fmtid="{D5CDD505-2E9C-101B-9397-08002B2CF9AE}" pid="8" name="MSIP_Label_e86fda2e-cb39-40eb-9c23-082a57943f2a_ContentBits">
    <vt:lpwstr>0</vt:lpwstr>
  </property>
  <property fmtid="{D5CDD505-2E9C-101B-9397-08002B2CF9AE}" pid="9" name="MSIP_Label_e86fda2e-cb39-40eb-9c23-082a57943f2a_Tag">
    <vt:lpwstr>10, 0, 1, 1</vt:lpwstr>
  </property>
</Properties>
</file>